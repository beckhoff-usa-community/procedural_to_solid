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91"/>
  </p:notesMasterIdLst>
  <p:handoutMasterIdLst>
    <p:handoutMasterId r:id="rId92"/>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289" r:id="rId51"/>
    <p:sldId id="288" r:id="rId52"/>
    <p:sldId id="290" r:id="rId53"/>
    <p:sldId id="341" r:id="rId54"/>
    <p:sldId id="291" r:id="rId55"/>
    <p:sldId id="292" r:id="rId56"/>
    <p:sldId id="293" r:id="rId57"/>
    <p:sldId id="294" r:id="rId58"/>
    <p:sldId id="295" r:id="rId59"/>
    <p:sldId id="342" r:id="rId60"/>
    <p:sldId id="296" r:id="rId61"/>
    <p:sldId id="344" r:id="rId62"/>
    <p:sldId id="343" r:id="rId63"/>
    <p:sldId id="298" r:id="rId64"/>
    <p:sldId id="299" r:id="rId65"/>
    <p:sldId id="345" r:id="rId66"/>
    <p:sldId id="300" r:id="rId67"/>
    <p:sldId id="301" r:id="rId68"/>
    <p:sldId id="302" r:id="rId69"/>
    <p:sldId id="303" r:id="rId70"/>
    <p:sldId id="304" r:id="rId71"/>
    <p:sldId id="305" r:id="rId72"/>
    <p:sldId id="306" r:id="rId73"/>
    <p:sldId id="307" r:id="rId74"/>
    <p:sldId id="308" r:id="rId75"/>
    <p:sldId id="309" r:id="rId76"/>
    <p:sldId id="310" r:id="rId77"/>
    <p:sldId id="311" r:id="rId78"/>
    <p:sldId id="312" r:id="rId79"/>
    <p:sldId id="313" r:id="rId80"/>
    <p:sldId id="314" r:id="rId81"/>
    <p:sldId id="315" r:id="rId82"/>
    <p:sldId id="316" r:id="rId83"/>
    <p:sldId id="317" r:id="rId84"/>
    <p:sldId id="318" r:id="rId85"/>
    <p:sldId id="319" r:id="rId86"/>
    <p:sldId id="320" r:id="rId87"/>
    <p:sldId id="321" r:id="rId88"/>
    <p:sldId id="322" r:id="rId89"/>
    <p:sldId id="323" r:id="rId90"/>
  </p:sldIdLst>
  <p:sldSz cx="12192000" cy="6858000"/>
  <p:notesSz cx="6797675" cy="9926638"/>
  <p:custDataLst>
    <p:tags r:id="rId9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974"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viewProps" Target="viewProp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notesMaster" Target="notesMasters/notesMaster1.xml"/><Relationship Id="rId9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tableStyles" Target="tableStyle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handoutMaster" Target="handoutMasters/handoutMaster1.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"Both work. Neither is wrong. They diverge for no reason."</a:t>
            </a:r>
          </a:p>
          <a:p>
            <a:r>
              <a:rPr sz="1200" dirty="0">
                <a:latin typeface="Arial"/>
              </a:rPr>
              <a:t>[CONTEXT] Someone clearly copied Label from a different project where 100/200/300 was the convention, and never normalized it.</a:t>
            </a:r>
          </a:p>
          <a:p>
            <a:r>
              <a:rPr sz="1200" dirty="0">
                <a:latin typeface="Arial"/>
              </a:rPr>
              <a:t>[LESSON] The architecture has no opinion on naming. Conventions are tribal — they live in your head, not the compiler.</a:t>
            </a:r>
          </a:p>
          <a:p>
            <a:r>
              <a:rPr sz="1200" dirty="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Don't dwell — show it and move on.</a:t>
            </a:r>
          </a:p>
          <a:p>
            <a:r>
              <a:rPr sz="1200" dirty="0">
                <a:latin typeface="Arial"/>
              </a:rPr>
              <a:t>[LESSON] In procedural code, dead state lingers because removing it requires reading every reference everywhere. Nobody owns the cleanup.</a:t>
            </a:r>
          </a:p>
          <a:p>
            <a:r>
              <a:rPr sz="1200" dirty="0">
                <a:latin typeface="Arial"/>
              </a:rPr>
              <a:t>[FORESHADOW] In Stage 2 the base class won't carry </a:t>
            </a:r>
            <a:r>
              <a:rPr sz="1200" dirty="0" err="1">
                <a:latin typeface="Arial"/>
              </a:rPr>
              <a:t>ManualStep</a:t>
            </a:r>
            <a:r>
              <a:rPr sz="1200" dirty="0">
                <a:latin typeface="Arial"/>
              </a:rPr>
              <a:t>,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After attendees finish (or you call time): `git switch stage-1-cr1-applied` and `git diff stage-1-procedural --stat` on screen.</a:t>
            </a:r>
          </a:p>
          <a:p>
            <a:r>
              <a:rPr sz="1200" dirty="0">
                <a:latin typeface="Arial"/>
              </a:rPr>
              <a:t>[DO] Write the 5 / +50 / −13 number on the physical scoreboard whiteboard.</a:t>
            </a:r>
          </a:p>
          <a:p>
            <a:r>
              <a:rPr sz="1200" dirty="0">
                <a:latin typeface="Arial"/>
              </a:rPr>
              <a:t>[SAY] "This is what your codebase looks like after one CR."</a:t>
            </a:r>
          </a:p>
          <a:p>
            <a:r>
              <a:rPr sz="1200" dirty="0">
                <a:latin typeface="Arial"/>
              </a:rPr>
              <a:t>[ASK] "Show of hands — who got Fill's mid-cycle exception right on the first try?" Most won't.</a:t>
            </a:r>
          </a:p>
          <a:p>
            <a:r>
              <a:rPr sz="1200" dirty="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"This isn't just duplication of the base — it's duplication of NEW patterns each time they appear. Stage 2 will help with this. Stage 3 will help even more."</a:t>
            </a:r>
          </a:p>
          <a:p>
            <a:r>
              <a:rPr sz="1200" dirty="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"That looked small. Anyone want to defend it as 'fine'?" Some attendees will defend it. Let them — then sharpen.</a:t>
            </a:r>
          </a:p>
          <a:p>
            <a:r>
              <a:rPr sz="1200" dirty="0">
                <a:latin typeface="Arial"/>
              </a:rPr>
              <a:t>[FOLLOW-UP] "Now imagine the logging requirements change in six months — say we want to write to a file instead of an in-memory buffer. Where do you change the code?" (Two places.) "And if you forget one of them?" (Drift.)</a:t>
            </a:r>
          </a:p>
          <a:p>
            <a:r>
              <a:rPr sz="1200" dirty="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143E-2E61-C3AB-C91A-07C2EEBDEA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92402A-21A2-4462-0510-C433BD9CD3B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AE0A10A-B8AE-F4AF-175C-551FFF4ABA9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AC17935-A388-C745-3ED5-A3647ECE5EB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1367782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Read the requirement. 5-minute timer. The attempt: </a:t>
            </a:r>
            <a:r>
              <a:rPr sz="1200" dirty="0" err="1">
                <a:latin typeface="Arial"/>
              </a:rPr>
              <a:t>LogBuffer</a:t>
            </a:r>
            <a:r>
              <a:rPr sz="1200" dirty="0">
                <a:latin typeface="Arial"/>
              </a:rPr>
              <a:t> + </a:t>
            </a:r>
            <a:r>
              <a:rPr sz="1200" dirty="0" err="1">
                <a:latin typeface="Arial"/>
              </a:rPr>
              <a:t>LoggingEnabled</a:t>
            </a:r>
            <a:r>
              <a:rPr sz="1200" dirty="0">
                <a:latin typeface="Arial"/>
              </a:rPr>
              <a:t> virtual on the base; Fill and Inspect override to TRUE.</a:t>
            </a:r>
          </a:p>
          <a:p>
            <a:r>
              <a:rPr sz="1200" dirty="0">
                <a:latin typeface="Arial"/>
              </a:rPr>
              <a:t>[ASK] "Where does Cap's </a:t>
            </a:r>
            <a:r>
              <a:rPr sz="1200" dirty="0" err="1">
                <a:latin typeface="Arial"/>
              </a:rPr>
              <a:t>LogBuffer</a:t>
            </a:r>
            <a:r>
              <a:rPr sz="1200" dirty="0">
                <a:latin typeface="Arial"/>
              </a:rPr>
              <a:t> storage live in memory?" → in every Cap and Label instance, even though they never write to it. "Is that a problem?" → in 4 stations, no. In a 50-station factory, yes.</a:t>
            </a:r>
          </a:p>
          <a:p>
            <a:r>
              <a:rPr sz="1200" dirty="0">
                <a:latin typeface="Arial"/>
              </a:rPr>
              <a:t>[PUSHBACK if asked] "100 strings × 120 chars × 2 unused stations = 24KB. Why are we obsessing about this?" → "You're right — for this scale, the memory cost is academic. The bigger problem is COGNITIVE. Every reader of </a:t>
            </a:r>
            <a:r>
              <a:rPr sz="1200" dirty="0" err="1">
                <a:latin typeface="Arial"/>
              </a:rPr>
              <a:t>FB_StationBase</a:t>
            </a:r>
            <a:r>
              <a:rPr sz="1200" dirty="0">
                <a:latin typeface="Arial"/>
              </a:rPr>
              <a:t> has to understand why </a:t>
            </a:r>
            <a:r>
              <a:rPr sz="1200" dirty="0" err="1">
                <a:latin typeface="Arial"/>
              </a:rPr>
              <a:t>LogBuffer</a:t>
            </a:r>
            <a:r>
              <a:rPr sz="1200" dirty="0">
                <a:latin typeface="Arial"/>
              </a:rPr>
              <a:t> exists when half the children don't use it. As your codebase grows, that noise compounds."</a:t>
            </a:r>
          </a:p>
          <a:p>
            <a:r>
              <a:rPr sz="1200" dirty="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file tree, move on.</a:t>
            </a:r>
          </a:p>
          <a:p>
            <a:r>
              <a:rPr sz="1200" dirty="0">
                <a:latin typeface="Arial"/>
              </a:rPr>
              <a:t>[SEED] "Variation by injection." That's the seed of CR-2's swap demo. Plant it now — they'll see it in 30 minutes.</a:t>
            </a:r>
          </a:p>
          <a:p>
            <a:r>
              <a:rPr sz="1200" dirty="0">
                <a:latin typeface="Arial"/>
              </a:rPr>
              <a:t>[FRAMEWORK] Beckhoff USA's Core / </a:t>
            </a:r>
            <a:r>
              <a:rPr sz="1200" dirty="0" err="1">
                <a:latin typeface="Arial"/>
              </a:rPr>
              <a:t>CoreComponents</a:t>
            </a:r>
            <a:r>
              <a:rPr sz="1200" dirty="0">
                <a:latin typeface="Arial"/>
              </a:rPr>
              <a:t> / </a:t>
            </a:r>
            <a:r>
              <a:rPr sz="1200" dirty="0" err="1">
                <a:latin typeface="Arial"/>
              </a:rPr>
              <a:t>MechatronicsCore</a:t>
            </a:r>
            <a:r>
              <a:rPr sz="1200" dirty="0">
                <a:latin typeface="Arial"/>
              </a:rPr>
              <a:t> libraries. </a:t>
            </a:r>
            <a:r>
              <a:rPr sz="1200" dirty="0" err="1">
                <a:latin typeface="Arial"/>
              </a:rPr>
              <a:t>I_Cyclic</a:t>
            </a:r>
            <a:r>
              <a:rPr sz="1200" dirty="0">
                <a:latin typeface="Arial"/>
              </a:rPr>
              <a:t>, </a:t>
            </a:r>
            <a:r>
              <a:rPr sz="1200" dirty="0" err="1">
                <a:latin typeface="Arial"/>
              </a:rPr>
              <a:t>I_Diagnostic</a:t>
            </a:r>
            <a:r>
              <a:rPr sz="1200" dirty="0">
                <a:latin typeface="Arial"/>
              </a:rPr>
              <a:t> component pattern. Production code.</a:t>
            </a:r>
          </a:p>
          <a:p>
            <a:r>
              <a:rPr sz="1200" dirty="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05C4-F7F8-69AF-AF83-8DB0677843C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18DC45-C4FF-430C-316E-D6B0814E7E04}"/>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4E540FB-D46B-8FC5-FB31-5270EE426EB4}"/>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ED93285F-DC5B-9547-AFD2-17691E4EEAC7}"/>
              </a:ext>
            </a:extLst>
          </p:cNvPr>
          <p:cNvSpPr>
            <a:spLocks noGrp="1"/>
          </p:cNvSpPr>
          <p:nvPr>
            <p:ph type="body" sz="quarter" idx="3"/>
          </p:nvPr>
        </p:nvSpPr>
        <p:spPr/>
        <p:txBody>
          <a:bodyPr/>
          <a:lstStyle/>
          <a:p>
            <a:r>
              <a:rPr sz="1200" dirty="0">
                <a:latin typeface="Arial"/>
              </a:rPr>
              <a:t>[DO] Open </a:t>
            </a:r>
            <a:r>
              <a:rPr sz="1200" dirty="0" err="1">
                <a:latin typeface="Arial"/>
              </a:rPr>
              <a:t>I_AlarmHandler.TcPOU</a:t>
            </a:r>
            <a:r>
              <a:rPr sz="1200" dirty="0">
                <a:latin typeface="Arial"/>
              </a:rPr>
              <a:t> on the projector. Walk the four members.</a:t>
            </a:r>
          </a:p>
          <a:p>
            <a:r>
              <a:rPr sz="1200" dirty="0">
                <a:latin typeface="Arial"/>
              </a:rPr>
              <a:t>[KEY LINE] "Stations depend on </a:t>
            </a:r>
            <a:r>
              <a:rPr sz="1200" dirty="0" err="1">
                <a:latin typeface="Arial"/>
              </a:rPr>
              <a:t>I_AlarmHandler</a:t>
            </a:r>
            <a:r>
              <a:rPr sz="1200" dirty="0">
                <a:latin typeface="Arial"/>
              </a:rPr>
              <a:t> — they never know which implementation they have. That's the seam where CR-2's swap will happen."</a:t>
            </a:r>
          </a:p>
          <a:p>
            <a:r>
              <a:rPr sz="1200" dirty="0">
                <a:latin typeface="Arial"/>
              </a:rPr>
              <a:t>[FORESHADOW] Don't explain the swap yet. Just plant the seam. Reveal in 25 minutes.</a:t>
            </a:r>
            <a:endParaRPr lang="en-US" sz="1200" dirty="0">
              <a:latin typeface="Arial"/>
            </a:endParaRPr>
          </a:p>
          <a:p>
            <a:r>
              <a:rPr lang="en-US" sz="1200" dirty="0">
                <a:latin typeface="Arial"/>
              </a:rPr>
              <a:t>Here’s some background for </a:t>
            </a:r>
            <a:endParaRPr sz="1200" dirty="0">
              <a:latin typeface="Arial"/>
            </a:endParaRPr>
          </a:p>
        </p:txBody>
      </p:sp>
    </p:spTree>
    <p:extLst>
      <p:ext uri="{BB962C8B-B14F-4D97-AF65-F5344CB8AC3E}">
        <p14:creationId xmlns:p14="http://schemas.microsoft.com/office/powerpoint/2010/main" val="40086884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3AC31-C093-4A13-8D45-D5DA17DA693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70B207-FA7C-4AEE-ED9B-1A687C891D1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8FB86D6-EFFF-8420-8525-A20E33CC892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64FB24A5-5609-6944-0DDA-A52C74A64648}"/>
              </a:ext>
            </a:extLst>
          </p:cNvPr>
          <p:cNvSpPr>
            <a:spLocks noGrp="1"/>
          </p:cNvSpPr>
          <p:nvPr>
            <p:ph type="body" sz="quarter" idx="3"/>
          </p:nvPr>
        </p:nvSpPr>
        <p:spPr/>
        <p:txBody>
          <a:bodyPr/>
          <a:lstStyle/>
          <a:p>
            <a:pPr marL="0" indent="0">
              <a:buNone/>
            </a:pPr>
            <a:endParaRPr sz="1200" dirty="0">
              <a:latin typeface="Arial"/>
            </a:endParaRPr>
          </a:p>
        </p:txBody>
      </p:sp>
    </p:spTree>
    <p:extLst>
      <p:ext uri="{BB962C8B-B14F-4D97-AF65-F5344CB8AC3E}">
        <p14:creationId xmlns:p14="http://schemas.microsoft.com/office/powerpoint/2010/main" val="411567553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Open </a:t>
            </a:r>
            <a:r>
              <a:rPr sz="1200" dirty="0" err="1">
                <a:latin typeface="Arial"/>
              </a:rPr>
              <a:t>FB_StationFill</a:t>
            </a:r>
            <a:r>
              <a:rPr sz="1200" dirty="0">
                <a:latin typeface="Arial"/>
              </a:rPr>
              <a:t> on the projector. Walk the VAR block first — point at </a:t>
            </a:r>
            <a:r>
              <a:rPr sz="1200" dirty="0" err="1">
                <a:latin typeface="Arial"/>
              </a:rPr>
              <a:t>I_AlarmHandler</a:t>
            </a:r>
            <a:r>
              <a:rPr sz="1200" dirty="0">
                <a:latin typeface="Arial"/>
              </a:rPr>
              <a:t> / </a:t>
            </a:r>
            <a:r>
              <a:rPr sz="1200" dirty="0" err="1">
                <a:latin typeface="Arial"/>
              </a:rPr>
              <a:t>I_DataLogger</a:t>
            </a:r>
            <a:r>
              <a:rPr sz="1200" dirty="0">
                <a:latin typeface="Arial"/>
              </a:rPr>
              <a:t> fields. Then walk </a:t>
            </a:r>
            <a:r>
              <a:rPr sz="1200" dirty="0" err="1">
                <a:latin typeface="Arial"/>
              </a:rPr>
              <a:t>FB_init</a:t>
            </a:r>
            <a:r>
              <a:rPr sz="1200" dirty="0">
                <a:latin typeface="Arial"/>
              </a:rPr>
              <a:t> — point at </a:t>
            </a:r>
            <a:r>
              <a:rPr sz="1200" dirty="0" err="1">
                <a:latin typeface="Arial"/>
              </a:rPr>
              <a:t>AlarmHandler</a:t>
            </a:r>
            <a:r>
              <a:rPr sz="1200" dirty="0">
                <a:latin typeface="Arial"/>
              </a:rPr>
              <a:t> / </a:t>
            </a:r>
            <a:r>
              <a:rPr sz="1200" dirty="0" err="1">
                <a:latin typeface="Arial"/>
              </a:rPr>
              <a:t>DataLogger</a:t>
            </a:r>
            <a:r>
              <a:rPr sz="1200" dirty="0">
                <a:latin typeface="Arial"/>
              </a:rPr>
              <a:t> parameters.</a:t>
            </a:r>
          </a:p>
          <a:p>
            <a:r>
              <a:rPr sz="1200" dirty="0">
                <a:latin typeface="Arial"/>
              </a:rPr>
              <a:t>[KEY LINE] "The station never constructs its dependencies. It receives them. That's dependency injection — the seam that makes CR-2 trivial."</a:t>
            </a:r>
          </a:p>
          <a:p>
            <a:r>
              <a:rPr sz="1200" dirty="0">
                <a:latin typeface="Arial"/>
              </a:rPr>
              <a:t>[IF ASKED] "What's REFERENCE TO?" → "</a:t>
            </a:r>
            <a:r>
              <a:rPr sz="1200" dirty="0" err="1">
                <a:latin typeface="Arial"/>
              </a:rPr>
              <a:t>TwinCAT's</a:t>
            </a:r>
            <a:r>
              <a:rPr sz="1200" dirty="0">
                <a:latin typeface="Arial"/>
              </a:rPr>
              <a:t> pointer-with-syntax-sugar. Use REF= to bind, then dereference with .field syntax. We use it for </a:t>
            </a:r>
            <a:r>
              <a:rPr sz="1200" dirty="0" err="1">
                <a:latin typeface="Arial"/>
              </a:rPr>
              <a:t>FB_ModeManager</a:t>
            </a:r>
            <a:r>
              <a:rPr sz="1200" dirty="0">
                <a:latin typeface="Arial"/>
              </a:rPr>
              <a:t> because there's exactly one shared instance."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61</a:t>
            </a:fld>
            <a:endParaRPr lang="de-DE" dirty="0"/>
          </a:p>
        </p:txBody>
      </p:sp>
      <p:sp>
        <p:nvSpPr>
          <p:cNvPr id="5" name="Date Placeholder 4"/>
          <p:cNvSpPr>
            <a:spLocks noGrp="1"/>
          </p:cNvSpPr>
          <p:nvPr>
            <p:ph type="dt" idx="1"/>
          </p:nvPr>
        </p:nvSpPr>
        <p:spPr/>
        <p:txBody>
          <a:bodyPr/>
          <a:lstStyle/>
          <a:p>
            <a:fld id="{0A2346E5-778D-4A7C-BA30-768202CBF653}" type="datetime1">
              <a:rPr lang="de-DE" smtClean="0"/>
              <a:t>22.05.2026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412677848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5943597" cy="3328801"/>
          </a:xfrm>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45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90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10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b="1" dirty="0">
                <a:solidFill>
                  <a:srgbClr val="770000"/>
                </a:solidFill>
                <a:latin typeface="Arial"/>
              </a:rPr>
              <a:t>45</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release project </a:t>
            </a:r>
            <a:r>
              <a:rPr lang="en-US" dirty="0" err="1">
                <a:solidFill>
                  <a:srgbClr val="242A33"/>
                </a:solidFill>
                <a:latin typeface="Arial"/>
              </a:rPr>
              <a:t>FillingLine_Inheritance</a:t>
            </a:r>
            <a:endParaRPr lang="en-US" dirty="0">
              <a:solidFill>
                <a:srgbClr val="242A33"/>
              </a:solidFill>
              <a:latin typeface="Arial"/>
            </a:endParaRP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a:t>
            </a:r>
            <a:r>
              <a:rPr lang="en-US" sz="6400" b="1" i="0" dirty="0">
                <a:solidFill>
                  <a:srgbClr val="770000"/>
                </a:solidFill>
                <a:latin typeface="Arial"/>
              </a:rPr>
              <a:t>54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repetitiveness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1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graphicFrame>
        <p:nvGraphicFramePr>
          <p:cNvPr id="5" name="Table 4">
            <a:extLst>
              <a:ext uri="{FF2B5EF4-FFF2-40B4-BE49-F238E27FC236}">
                <a16:creationId xmlns:a16="http://schemas.microsoft.com/office/drawing/2014/main" id="{EDD6627A-8765-3D93-B45D-AA15DF280B2A}"/>
              </a:ext>
            </a:extLst>
          </p:cNvPr>
          <p:cNvGraphicFramePr>
            <a:graphicFrameLocks noGrp="1"/>
          </p:cNvGraphicFramePr>
          <p:nvPr>
            <p:extLst>
              <p:ext uri="{D42A27DB-BD31-4B8C-83A1-F6EECF244321}">
                <p14:modId xmlns:p14="http://schemas.microsoft.com/office/powerpoint/2010/main" val="4432416"/>
              </p:ext>
            </p:extLst>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656841972"/>
                    </a:ext>
                  </a:extLst>
                </a:gridCol>
                <a:gridCol w="5524500">
                  <a:extLst>
                    <a:ext uri="{9D8B030D-6E8A-4147-A177-3AD203B41FA5}">
                      <a16:colId xmlns:a16="http://schemas.microsoft.com/office/drawing/2014/main" val="2497394446"/>
                    </a:ext>
                  </a:extLst>
                </a:gridCol>
              </a:tblGrid>
              <a:tr h="813869">
                <a:tc>
                  <a:txBody>
                    <a:bodyPr/>
                    <a:lstStyle/>
                    <a:p>
                      <a:pPr algn="ctr"/>
                      <a:r>
                        <a:rPr lang="en-US" sz="2800" dirty="0"/>
                        <a:t>Pros</a:t>
                      </a:r>
                    </a:p>
                  </a:txBody>
                  <a:tcPr anchor="ctr"/>
                </a:tc>
                <a:tc>
                  <a:txBody>
                    <a:bodyPr/>
                    <a:lstStyle/>
                    <a:p>
                      <a:pPr algn="ctr"/>
                      <a:r>
                        <a:rPr lang="en-US" sz="2800" dirty="0"/>
                        <a:t>Cons</a:t>
                      </a:r>
                      <a:endParaRPr lang="en-US" dirty="0"/>
                    </a:p>
                  </a:txBody>
                  <a:tcPr anchor="ctr"/>
                </a:tc>
                <a:extLst>
                  <a:ext uri="{0D108BD9-81ED-4DB2-BD59-A6C34878D82A}">
                    <a16:rowId xmlns:a16="http://schemas.microsoft.com/office/drawing/2014/main" val="3668914003"/>
                  </a:ext>
                </a:extLst>
              </a:tr>
              <a:tr h="813869">
                <a:tc>
                  <a:txBody>
                    <a:bodyPr/>
                    <a:lstStyle/>
                    <a:p>
                      <a:r>
                        <a:rPr lang="en-US" b="1" dirty="0"/>
                        <a:t>Simple and familiar</a:t>
                      </a:r>
                    </a:p>
                    <a:p>
                      <a:r>
                        <a:rPr lang="en-US" dirty="0"/>
                        <a:t>Every controls engineer knows this structure</a:t>
                      </a:r>
                    </a:p>
                  </a:txBody>
                  <a:tcPr/>
                </a:tc>
                <a:tc>
                  <a:txBody>
                    <a:bodyPr/>
                    <a:lstStyle/>
                    <a:p>
                      <a:r>
                        <a:rPr lang="en-US" b="1" dirty="0"/>
                        <a:t>Same change made in every station file</a:t>
                      </a:r>
                    </a:p>
                    <a:p>
                      <a:r>
                        <a:rPr lang="en-US" dirty="0"/>
                        <a:t>No mechanism to enforce consistency</a:t>
                      </a:r>
                    </a:p>
                    <a:p>
                      <a:endParaRPr lang="en-US" dirty="0"/>
                    </a:p>
                  </a:txBody>
                  <a:tcPr/>
                </a:tc>
                <a:extLst>
                  <a:ext uri="{0D108BD9-81ED-4DB2-BD59-A6C34878D82A}">
                    <a16:rowId xmlns:a16="http://schemas.microsoft.com/office/drawing/2014/main" val="2220351396"/>
                  </a:ext>
                </a:extLst>
              </a:tr>
              <a:tr h="813869">
                <a:tc>
                  <a:txBody>
                    <a:bodyPr/>
                    <a:lstStyle/>
                    <a:p>
                      <a:r>
                        <a:rPr lang="en-US" b="1" dirty="0"/>
                        <a:t>Easy to read</a:t>
                      </a:r>
                    </a:p>
                    <a:p>
                      <a:r>
                        <a:rPr lang="en-US" dirty="0"/>
                        <a:t>Entire station behavior is visible in one file</a:t>
                      </a:r>
                    </a:p>
                  </a:txBody>
                  <a:tcPr/>
                </a:tc>
                <a:tc>
                  <a:txBody>
                    <a:bodyPr/>
                    <a:lstStyle/>
                    <a:p>
                      <a:r>
                        <a:rPr lang="en-US" b="1" dirty="0"/>
                        <a:t>Copy-paste is the only tool for sharing logic</a:t>
                      </a:r>
                      <a:r>
                        <a:rPr lang="en-US" dirty="0"/>
                        <a:t> </a:t>
                      </a:r>
                    </a:p>
                    <a:p>
                      <a:r>
                        <a:rPr lang="en-US" dirty="0"/>
                        <a:t>Drift is inevitable</a:t>
                      </a:r>
                    </a:p>
                  </a:txBody>
                  <a:tcPr/>
                </a:tc>
                <a:extLst>
                  <a:ext uri="{0D108BD9-81ED-4DB2-BD59-A6C34878D82A}">
                    <a16:rowId xmlns:a16="http://schemas.microsoft.com/office/drawing/2014/main" val="1916241326"/>
                  </a:ext>
                </a:extLst>
              </a:tr>
              <a:tr h="813869">
                <a:tc>
                  <a:txBody>
                    <a:bodyPr/>
                    <a:lstStyle/>
                    <a:p>
                      <a:r>
                        <a:rPr lang="en-US" b="1" dirty="0"/>
                        <a:t>No framework knowledge required</a:t>
                      </a:r>
                    </a:p>
                  </a:txBody>
                  <a:tcPr/>
                </a:tc>
                <a:tc>
                  <a:txBody>
                    <a:bodyPr/>
                    <a:lstStyle/>
                    <a:p>
                      <a:r>
                        <a:rPr lang="en-US" b="1" dirty="0"/>
                        <a:t>Discipline is the only defense against inconsistency</a:t>
                      </a:r>
                    </a:p>
                    <a:p>
                      <a:r>
                        <a:rPr lang="en-US" dirty="0"/>
                        <a:t>And discipline is bounded</a:t>
                      </a:r>
                    </a:p>
                  </a:txBody>
                  <a:tcPr/>
                </a:tc>
                <a:extLst>
                  <a:ext uri="{0D108BD9-81ED-4DB2-BD59-A6C34878D82A}">
                    <a16:rowId xmlns:a16="http://schemas.microsoft.com/office/drawing/2014/main" val="384516137"/>
                  </a:ext>
                </a:extLst>
              </a:tr>
              <a:tr h="813869">
                <a:tc>
                  <a:txBody>
                    <a:bodyPr/>
                    <a:lstStyle/>
                    <a:p>
                      <a:r>
                        <a:rPr lang="en-US" b="1" dirty="0"/>
                        <a:t>Fast to write for first implementation</a:t>
                      </a:r>
                    </a:p>
                    <a:p>
                      <a:endParaRPr lang="en-US" dirty="0"/>
                    </a:p>
                  </a:txBody>
                  <a:tcPr/>
                </a:tc>
                <a:tc>
                  <a:txBody>
                    <a:bodyPr/>
                    <a:lstStyle/>
                    <a:p>
                      <a:r>
                        <a:rPr lang="en-US" b="1" dirty="0"/>
                        <a:t>Cross-cutting changes ripple across every station file</a:t>
                      </a:r>
                    </a:p>
                  </a:txBody>
                  <a:tcPr/>
                </a:tc>
                <a:extLst>
                  <a:ext uri="{0D108BD9-81ED-4DB2-BD59-A6C34878D82A}">
                    <a16:rowId xmlns:a16="http://schemas.microsoft.com/office/drawing/2014/main" val="3349749003"/>
                  </a:ext>
                </a:extLst>
              </a:tr>
              <a:tr h="813869">
                <a:tc>
                  <a:txBody>
                    <a:bodyPr/>
                    <a:lstStyle/>
                    <a:p>
                      <a:r>
                        <a:rPr lang="en-US" b="1" dirty="0"/>
                        <a:t>Easy to debug</a:t>
                      </a:r>
                      <a:r>
                        <a:rPr lang="en-US" dirty="0"/>
                        <a:t> </a:t>
                      </a:r>
                    </a:p>
                    <a:p>
                      <a:r>
                        <a:rPr lang="en-US" dirty="0"/>
                        <a:t>No inheritance chain to trace</a:t>
                      </a:r>
                    </a:p>
                  </a:txBody>
                  <a:tcPr/>
                </a:tc>
                <a:tc>
                  <a:txBody>
                    <a:bodyPr/>
                    <a:lstStyle/>
                    <a:p>
                      <a:r>
                        <a:rPr lang="en-US" b="1" dirty="0"/>
                        <a:t>One requirement, five files to touch – and counting</a:t>
                      </a:r>
                    </a:p>
                  </a:txBody>
                  <a:tcPr/>
                </a:tc>
                <a:extLst>
                  <a:ext uri="{0D108BD9-81ED-4DB2-BD59-A6C34878D82A}">
                    <a16:rowId xmlns:a16="http://schemas.microsoft.com/office/drawing/2014/main" val="113401309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381579"/>
          </a:xfrm>
          <a:prstGeom prst="rect">
            <a:avLst/>
          </a:prstGeom>
          <a:noFill/>
        </p:spPr>
        <p:txBody>
          <a:bodyPr wrap="square" lIns="0" tIns="0" rIns="0" bIns="0" anchor="t">
            <a:spAutoFit/>
          </a:bodyPr>
          <a:lstStyle/>
          <a:p>
            <a:pPr algn="l">
              <a:lnSpc>
                <a:spcPct val="140000"/>
              </a:lnSpc>
            </a:pPr>
            <a:r>
              <a:rPr sz="2000" b="0" i="1" dirty="0">
                <a:solidFill>
                  <a:srgbClr val="E5E8EC"/>
                </a:solidFill>
                <a:latin typeface="Arial"/>
              </a:rPr>
              <a:t>Coffee, bathroom, social conversation.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b="1" dirty="0">
                <a:solidFill>
                  <a:srgbClr val="627186"/>
                </a:solidFill>
                <a:latin typeface="Arial"/>
              </a:rPr>
              <a:t>60</a:t>
            </a:r>
            <a:r>
              <a:rPr sz="1800" b="1" i="0" dirty="0">
                <a:solidFill>
                  <a:srgbClr val="627186"/>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release branch in </a:t>
            </a:r>
            <a:r>
              <a:rPr lang="en-US" dirty="0" err="1">
                <a:solidFill>
                  <a:srgbClr val="242A33"/>
                </a:solidFill>
                <a:latin typeface="Arial"/>
              </a:rPr>
              <a:t>FillingLine_Inheritance</a:t>
            </a:r>
            <a:r>
              <a:rPr lang="en-US" dirty="0">
                <a:solidFill>
                  <a:srgbClr val="242A33"/>
                </a:solidFill>
                <a:latin typeface="Arial"/>
              </a:rPr>
              <a:t> Project</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r>
              <a:rPr lang="en-US" dirty="0"/>
              <a:t>Spend 5-10 minutes writing code</a:t>
            </a:r>
            <a:endParaRPr lang="en-US" dirty="0">
              <a:solidFill>
                <a:srgbClr val="242A33"/>
              </a:solidFill>
              <a:latin typeface="Arial"/>
            </a:endParaRPr>
          </a:p>
          <a:p>
            <a:pPr marL="0" indent="0">
              <a:lnSpc>
                <a:spcPct val="130000"/>
              </a:lnSpc>
              <a:spcBef>
                <a:spcPts val="400"/>
              </a:spcBef>
              <a:buNone/>
            </a:pPr>
            <a:endParaRPr lang="en-US" dirty="0">
              <a:solidFill>
                <a:srgbClr val="242A33"/>
              </a:solidFill>
              <a:latin typeface="Arial"/>
            </a:endParaRP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lang="en-US" sz="6400" b="1" dirty="0">
                <a:solidFill>
                  <a:srgbClr val="627186"/>
                </a:solidFill>
                <a:latin typeface="Arial"/>
              </a:rPr>
              <a:t>3</a:t>
            </a:r>
            <a:r>
              <a:rPr sz="6400" b="1" i="0" dirty="0">
                <a:solidFill>
                  <a:srgbClr val="627186"/>
                </a:solidFill>
                <a:latin typeface="Arial"/>
              </a:rPr>
              <a:t> files  ·  +</a:t>
            </a:r>
            <a:r>
              <a:rPr lang="en-US" sz="6400" b="1" dirty="0">
                <a:solidFill>
                  <a:srgbClr val="627186"/>
                </a:solidFill>
                <a:latin typeface="Arial"/>
              </a:rPr>
              <a:t>?</a:t>
            </a:r>
            <a:r>
              <a:rPr sz="6400" b="1" i="0" dirty="0">
                <a:solidFill>
                  <a:srgbClr val="627186"/>
                </a:solidFill>
                <a:latin typeface="Arial"/>
              </a:rPr>
              <a:t>  −</a:t>
            </a:r>
            <a:r>
              <a:rPr lang="en-US" sz="6400" b="1" i="0" dirty="0">
                <a:solidFill>
                  <a:srgbClr val="627186"/>
                </a:solidFill>
                <a:latin typeface="Arial"/>
              </a:rPr>
              <a:t>?</a:t>
            </a:r>
            <a:endParaRPr sz="6400" b="1" i="0" dirty="0">
              <a:solidFill>
                <a:srgbClr val="627186"/>
              </a:solidFill>
              <a:latin typeface="Arial"/>
            </a:endParaRP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3202415"/>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a:t>
            </a:r>
            <a:endParaRPr lang="en-US" sz="1800" dirty="0">
              <a:solidFill>
                <a:srgbClr val="242A33"/>
              </a:solidFill>
              <a:latin typeface="Arial"/>
            </a:endParaRP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Majority of code changes reside in base class  </a:t>
            </a: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Cap, Inspect, Label unchanged!</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435008"/>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CR-2 — breaking </a:t>
            </a:r>
            <a:r>
              <a:rPr lang="en-US" sz="4600" b="1" i="0" dirty="0">
                <a:solidFill>
                  <a:srgbClr val="414D5C"/>
                </a:solidFill>
                <a:latin typeface="Arial"/>
              </a:rPr>
              <a:t>the inheritance chain</a:t>
            </a:r>
            <a:endParaRPr sz="4600" b="1" i="0" dirty="0">
              <a:solidFill>
                <a:srgbClr val="414D5C"/>
              </a:solidFill>
              <a:latin typeface="Arial"/>
            </a:endParaRP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sz="1800" b="1" i="0" dirty="0">
                <a:solidFill>
                  <a:srgbClr val="627186"/>
                </a:solidFill>
                <a:latin typeface="Arial"/>
              </a:rPr>
              <a:t>25 min  ·</a:t>
            </a:r>
            <a:r>
              <a:rPr lang="en-US" sz="1800" b="1" i="0" dirty="0">
                <a:solidFill>
                  <a:srgbClr val="627186"/>
                </a:solidFill>
                <a:latin typeface="Arial"/>
              </a:rPr>
              <a:t> </a:t>
            </a:r>
            <a:r>
              <a:rPr sz="1800" b="1" i="0" dirty="0">
                <a:solidFill>
                  <a:srgbClr val="627186"/>
                </a:solidFill>
                <a:latin typeface="Arial"/>
              </a:rPr>
              <a:t>  </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a:p>
            <a:pPr lvl="1">
              <a:lnSpc>
                <a:spcPct val="130000"/>
              </a:lnSpc>
            </a:pPr>
            <a:r>
              <a:rPr lang="en-US" sz="2000" dirty="0">
                <a:solidFill>
                  <a:srgbClr val="242A33"/>
                </a:solidFill>
              </a:rPr>
              <a:t>Monitoring() overrides the base class – </a:t>
            </a:r>
            <a:r>
              <a:rPr lang="en-US" sz="2000" dirty="0" err="1">
                <a:solidFill>
                  <a:srgbClr val="242A33"/>
                </a:solidFill>
              </a:rPr>
              <a:t>SUPER^.Monitoring</a:t>
            </a:r>
            <a:r>
              <a:rPr lang="en-US" sz="2000" dirty="0">
                <a:solidFill>
                  <a:srgbClr val="242A33"/>
                </a:solidFill>
              </a:rPr>
              <a:t>() is </a:t>
            </a:r>
            <a:r>
              <a:rPr lang="en-US" sz="2000" u="sng" dirty="0">
                <a:solidFill>
                  <a:srgbClr val="242A33"/>
                </a:solidFill>
              </a:rPr>
              <a:t>not</a:t>
            </a:r>
            <a:r>
              <a:rPr lang="en-US" sz="2000" dirty="0">
                <a:solidFill>
                  <a:srgbClr val="242A33"/>
                </a:solidFill>
              </a:rPr>
              <a:t> called, instead programmer copied contents of base method. </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4952997" cy="5331600"/>
          </a:xfrm>
        </p:spPr>
        <p:txBody>
          <a:bodyPr wrap="square"/>
          <a:lstStyle/>
          <a:p>
            <a:pPr algn="l">
              <a:lnSpc>
                <a:spcPct val="130000"/>
              </a:lnSpc>
            </a:pPr>
            <a:r>
              <a:rPr sz="2000" dirty="0">
                <a:latin typeface="Arial"/>
              </a:rPr>
              <a:t>Skipping SUPER^ severs the inheritance chain silently </a:t>
            </a:r>
            <a:r>
              <a:rPr lang="en-US" sz="2000" dirty="0">
                <a:latin typeface="Arial"/>
              </a:rPr>
              <a:t>–</a:t>
            </a:r>
            <a:r>
              <a:rPr sz="2000" dirty="0">
                <a:latin typeface="Arial"/>
              </a:rPr>
              <a:t> no compiler warning</a:t>
            </a:r>
          </a:p>
          <a:p>
            <a:pPr algn="l">
              <a:lnSpc>
                <a:spcPct val="130000"/>
              </a:lnSpc>
            </a:pPr>
            <a:r>
              <a:rPr lang="en-US" sz="2000" dirty="0">
                <a:solidFill>
                  <a:srgbClr val="242A33"/>
                </a:solidFill>
                <a:latin typeface="Arial"/>
              </a:rPr>
              <a:t>Base and root class improvements no longer flow to the derived class </a:t>
            </a:r>
          </a:p>
          <a:p>
            <a:pPr algn="l">
              <a:lnSpc>
                <a:spcPct val="130000"/>
              </a:lnSpc>
            </a:pPr>
            <a:r>
              <a:rPr lang="en-US" sz="2000" dirty="0">
                <a:solidFill>
                  <a:srgbClr val="242A33"/>
                </a:solidFill>
                <a:latin typeface="Arial"/>
              </a:rPr>
              <a:t>Duplicated logic must be maintained in two places indefinitely</a:t>
            </a:r>
          </a:p>
          <a:p>
            <a:pPr algn="l">
              <a:lnSpc>
                <a:spcPct val="130000"/>
              </a:lnSpc>
            </a:pPr>
            <a:r>
              <a:rPr lang="en-US" sz="2000" dirty="0">
                <a:solidFill>
                  <a:srgbClr val="242A33"/>
                </a:solidFill>
                <a:latin typeface="Arial"/>
              </a:rPr>
              <a:t>A single missed update creates subtle, hard-to-find bugs</a:t>
            </a:r>
          </a:p>
          <a:p>
            <a:pPr algn="l">
              <a:lnSpc>
                <a:spcPct val="130000"/>
              </a:lnSpc>
            </a:pPr>
            <a:r>
              <a:rPr lang="en-US" sz="2000" b="1" dirty="0">
                <a:solidFill>
                  <a:srgbClr val="242A33"/>
                </a:solidFill>
                <a:latin typeface="Arial"/>
              </a:rPr>
              <a:t>Inheritance only saves work if the chain stays intact</a:t>
            </a:r>
          </a:p>
        </p:txBody>
      </p:sp>
      <p:sp>
        <p:nvSpPr>
          <p:cNvPr id="3" name="Title 2"/>
          <p:cNvSpPr>
            <a:spLocks noGrp="1"/>
          </p:cNvSpPr>
          <p:nvPr>
            <p:ph type="title"/>
          </p:nvPr>
        </p:nvSpPr>
        <p:spPr/>
        <p:txBody>
          <a:bodyPr/>
          <a:lstStyle/>
          <a:p>
            <a:r>
              <a:rPr lang="en-US" dirty="0"/>
              <a:t>Peril of Breaking the Inheritance Chain </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15" name="Group 14">
            <a:extLst>
              <a:ext uri="{FF2B5EF4-FFF2-40B4-BE49-F238E27FC236}">
                <a16:creationId xmlns:a16="http://schemas.microsoft.com/office/drawing/2014/main" id="{51211A76-EC7D-0127-4507-F21AF996F5F0}"/>
              </a:ext>
            </a:extLst>
          </p:cNvPr>
          <p:cNvGrpSpPr/>
          <p:nvPr/>
        </p:nvGrpSpPr>
        <p:grpSpPr>
          <a:xfrm>
            <a:off x="5068799" y="2005004"/>
            <a:ext cx="6858000" cy="3328996"/>
            <a:chOff x="2362200" y="2778617"/>
            <a:chExt cx="7772400" cy="3914791"/>
          </a:xfrm>
        </p:grpSpPr>
        <p:pic>
          <p:nvPicPr>
            <p:cNvPr id="16" name="Picture 1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7" name="Multiplication Sign 16">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03761-E5E2-FF10-ED25-CD1CF9D27D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33113E-E571-F659-360B-EFAF4E4CA370}"/>
              </a:ext>
            </a:extLst>
          </p:cNvPr>
          <p:cNvSpPr>
            <a:spLocks noGrp="1"/>
          </p:cNvSpPr>
          <p:nvPr>
            <p:ph type="title"/>
          </p:nvPr>
        </p:nvSpPr>
        <p:spPr/>
        <p:txBody>
          <a:bodyPr/>
          <a:lstStyle/>
          <a:p>
            <a:r>
              <a:rPr dirty="0"/>
              <a:t>Lab 2D: CR-3  ·  Selective cycle logging</a:t>
            </a:r>
          </a:p>
        </p:txBody>
      </p:sp>
      <p:sp>
        <p:nvSpPr>
          <p:cNvPr id="4" name="TextBox 3">
            <a:extLst>
              <a:ext uri="{FF2B5EF4-FFF2-40B4-BE49-F238E27FC236}">
                <a16:creationId xmlns:a16="http://schemas.microsoft.com/office/drawing/2014/main" id="{3839243B-250B-0D63-EEE7-E2C54F991DB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7C3F900D-A256-411C-1C86-2CEA372FE60C}"/>
              </a:ext>
            </a:extLst>
          </p:cNvPr>
          <p:cNvSpPr txBox="1">
            <a:spLocks/>
          </p:cNvSpPr>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Instructions:</a:t>
            </a:r>
            <a:endParaRPr lang="en-US" sz="2000" b="1" dirty="0">
              <a:solidFill>
                <a:srgbClr val="770000"/>
              </a:solidFill>
              <a:latin typeface="Arial"/>
            </a:endParaRPr>
          </a:p>
          <a:p>
            <a:pPr>
              <a:lnSpc>
                <a:spcPct val="130000"/>
              </a:lnSpc>
            </a:pPr>
            <a:r>
              <a:rPr lang="en-US" sz="2000" dirty="0">
                <a:solidFill>
                  <a:srgbClr val="242A33"/>
                </a:solidFill>
                <a:latin typeface="Arial"/>
              </a:rPr>
              <a:t>Open CR3-applied branch and go to </a:t>
            </a:r>
            <a:r>
              <a:rPr lang="en-US" sz="2000" dirty="0" err="1">
                <a:solidFill>
                  <a:srgbClr val="242A33"/>
                </a:solidFill>
                <a:latin typeface="Arial"/>
              </a:rPr>
              <a:t>FillingLine_Inheritance</a:t>
            </a:r>
            <a:endParaRPr lang="en-US" sz="2000" dirty="0">
              <a:solidFill>
                <a:srgbClr val="242A33"/>
              </a:solidFill>
              <a:latin typeface="Arial"/>
            </a:endParaRPr>
          </a:p>
          <a:p>
            <a:pPr>
              <a:lnSpc>
                <a:spcPct val="130000"/>
              </a:lnSpc>
              <a:spcBef>
                <a:spcPts val="400"/>
              </a:spcBef>
            </a:pPr>
            <a:r>
              <a:rPr lang="en-US" sz="2000" dirty="0">
                <a:latin typeface="Arial"/>
              </a:rPr>
              <a:t>Find buffer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added methods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overriding methods in derived FBs</a:t>
            </a:r>
          </a:p>
        </p:txBody>
      </p:sp>
      <p:sp>
        <p:nvSpPr>
          <p:cNvPr id="2" name="Text Placeholder 1">
            <a:extLst>
              <a:ext uri="{FF2B5EF4-FFF2-40B4-BE49-F238E27FC236}">
                <a16:creationId xmlns:a16="http://schemas.microsoft.com/office/drawing/2014/main" id="{6EB02E91-B9E1-2CB0-8ECA-1CF46174AD54}"/>
              </a:ext>
            </a:extLst>
          </p:cNvPr>
          <p:cNvSpPr txBox="1">
            <a:spLocks/>
          </p:cNvSpPr>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dirty="0">
                <a:solidFill>
                  <a:srgbClr val="242A33"/>
                </a:solidFill>
                <a:latin typeface="Arial"/>
              </a:rPr>
              <a:t>Log cycle data for Fill and Inspect. Cap and Label don't need it.</a:t>
            </a:r>
          </a:p>
          <a:p>
            <a:pPr>
              <a:lnSpc>
                <a:spcPct val="130000"/>
              </a:lnSpc>
              <a:spcBef>
                <a:spcPts val="400"/>
              </a:spcBef>
            </a:pPr>
            <a:endParaRPr lang="en-US" sz="2000" dirty="0">
              <a:solidFill>
                <a:srgbClr val="242A33"/>
              </a:solidFill>
              <a:latin typeface="Arial"/>
            </a:endParaRPr>
          </a:p>
        </p:txBody>
      </p:sp>
    </p:spTree>
    <p:extLst>
      <p:ext uri="{BB962C8B-B14F-4D97-AF65-F5344CB8AC3E}">
        <p14:creationId xmlns:p14="http://schemas.microsoft.com/office/powerpoint/2010/main" val="2693696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graphicFrame>
        <p:nvGraphicFramePr>
          <p:cNvPr id="7" name="Table 6">
            <a:extLst>
              <a:ext uri="{FF2B5EF4-FFF2-40B4-BE49-F238E27FC236}">
                <a16:creationId xmlns:a16="http://schemas.microsoft.com/office/drawing/2014/main" id="{C21F56CF-1D82-4B94-1AED-9B189D7D323E}"/>
              </a:ext>
            </a:extLst>
          </p:cNvPr>
          <p:cNvGraphicFramePr>
            <a:graphicFrameLocks noGrp="1"/>
          </p:cNvGraphicFramePr>
          <p:nvPr>
            <p:extLst>
              <p:ext uri="{D42A27DB-BD31-4B8C-83A1-F6EECF244321}">
                <p14:modId xmlns:p14="http://schemas.microsoft.com/office/powerpoint/2010/main" val="175209732"/>
              </p:ext>
            </p:extLst>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3442526194"/>
                    </a:ext>
                  </a:extLst>
                </a:gridCol>
                <a:gridCol w="5600700">
                  <a:extLst>
                    <a:ext uri="{9D8B030D-6E8A-4147-A177-3AD203B41FA5}">
                      <a16:colId xmlns:a16="http://schemas.microsoft.com/office/drawing/2014/main" val="2220569810"/>
                    </a:ext>
                  </a:extLst>
                </a:gridCol>
              </a:tblGrid>
              <a:tr h="991883">
                <a:tc>
                  <a:txBody>
                    <a:bodyPr/>
                    <a:lstStyle/>
                    <a:p>
                      <a:pPr algn="ctr"/>
                      <a:r>
                        <a:rPr lang="en-US" sz="2800" dirty="0"/>
                        <a:t>Pros</a:t>
                      </a:r>
                    </a:p>
                  </a:txBody>
                  <a:tcPr anchor="ctr"/>
                </a:tc>
                <a:tc>
                  <a:txBody>
                    <a:bodyPr/>
                    <a:lstStyle/>
                    <a:p>
                      <a:pPr algn="ctr"/>
                      <a:r>
                        <a:rPr lang="en-US" sz="2800" dirty="0"/>
                        <a:t>Cons</a:t>
                      </a:r>
                    </a:p>
                  </a:txBody>
                  <a:tcPr anchor="ctr"/>
                </a:tc>
                <a:extLst>
                  <a:ext uri="{0D108BD9-81ED-4DB2-BD59-A6C34878D82A}">
                    <a16:rowId xmlns:a16="http://schemas.microsoft.com/office/drawing/2014/main" val="422948761"/>
                  </a:ext>
                </a:extLst>
              </a:tr>
              <a:tr h="991883">
                <a:tc>
                  <a:txBody>
                    <a:bodyPr/>
                    <a:lstStyle/>
                    <a:p>
                      <a:r>
                        <a:rPr lang="en-US" dirty="0"/>
                        <a:t>Common code written once, inherited by all</a:t>
                      </a:r>
                    </a:p>
                  </a:txBody>
                  <a:tcPr/>
                </a:tc>
                <a:tc>
                  <a:txBody>
                    <a:bodyPr/>
                    <a:lstStyle/>
                    <a:p>
                      <a:r>
                        <a:rPr lang="en-US" dirty="0"/>
                        <a:t>Base accumulates features all children inherit whether they need them or not</a:t>
                      </a:r>
                    </a:p>
                  </a:txBody>
                  <a:tcPr/>
                </a:tc>
                <a:extLst>
                  <a:ext uri="{0D108BD9-81ED-4DB2-BD59-A6C34878D82A}">
                    <a16:rowId xmlns:a16="http://schemas.microsoft.com/office/drawing/2014/main" val="2572328462"/>
                  </a:ext>
                </a:extLst>
              </a:tr>
              <a:tr h="991883">
                <a:tc>
                  <a:txBody>
                    <a:bodyPr/>
                    <a:lstStyle/>
                    <a:p>
                      <a:r>
                        <a:rPr lang="en-US" dirty="0"/>
                        <a:t>Architecture enforces consistency – no discipline required</a:t>
                      </a:r>
                    </a:p>
                  </a:txBody>
                  <a:tcPr/>
                </a:tc>
                <a:tc>
                  <a:txBody>
                    <a:bodyPr/>
                    <a:lstStyle/>
                    <a:p>
                      <a:r>
                        <a:rPr lang="en-US" dirty="0"/>
                        <a:t>No way to modify a part of an inherited method – it’s all or nothing </a:t>
                      </a:r>
                    </a:p>
                  </a:txBody>
                  <a:tcPr/>
                </a:tc>
                <a:extLst>
                  <a:ext uri="{0D108BD9-81ED-4DB2-BD59-A6C34878D82A}">
                    <a16:rowId xmlns:a16="http://schemas.microsoft.com/office/drawing/2014/main" val="1871502459"/>
                  </a:ext>
                </a:extLst>
              </a:tr>
              <a:tr h="991883">
                <a:tc>
                  <a:txBody>
                    <a:bodyPr/>
                    <a:lstStyle/>
                    <a:p>
                      <a:r>
                        <a:rPr lang="en-US" dirty="0"/>
                        <a:t>Cross-cutting changes touch one file instead of four</a:t>
                      </a:r>
                    </a:p>
                  </a:txBody>
                  <a:tcPr/>
                </a:tc>
                <a:tc>
                  <a:txBody>
                    <a:bodyPr/>
                    <a:lstStyle/>
                    <a:p>
                      <a:r>
                        <a:rPr lang="en-US" dirty="0"/>
                        <a:t>Skipping SUPER^ severs the entire framework chain (consequence of above)</a:t>
                      </a:r>
                    </a:p>
                  </a:txBody>
                  <a:tcPr/>
                </a:tc>
                <a:extLst>
                  <a:ext uri="{0D108BD9-81ED-4DB2-BD59-A6C34878D82A}">
                    <a16:rowId xmlns:a16="http://schemas.microsoft.com/office/drawing/2014/main" val="26321134"/>
                  </a:ext>
                </a:extLst>
              </a:tr>
              <a:tr h="991883">
                <a:tc>
                  <a:txBody>
                    <a:bodyPr/>
                    <a:lstStyle/>
                    <a:p>
                      <a:r>
                        <a:rPr lang="en-US" dirty="0"/>
                        <a:t>Stage 1 drift eliminated</a:t>
                      </a:r>
                    </a:p>
                  </a:txBody>
                  <a:tcPr/>
                </a:tc>
                <a:tc>
                  <a:txBody>
                    <a:bodyPr/>
                    <a:lstStyle/>
                    <a:p>
                      <a:r>
                        <a:rPr lang="en-US" dirty="0"/>
                        <a:t>The base that helped in CR-1 becomes the constraint in CR-2</a:t>
                      </a:r>
                    </a:p>
                  </a:txBody>
                  <a:tcPr/>
                </a:tc>
                <a:extLst>
                  <a:ext uri="{0D108BD9-81ED-4DB2-BD59-A6C34878D82A}">
                    <a16:rowId xmlns:a16="http://schemas.microsoft.com/office/drawing/2014/main" val="73060348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2D76AD"/>
                </a:solidFill>
                <a:latin typeface="Arial"/>
              </a:rPr>
              <a:t>90</a:t>
            </a:r>
            <a:r>
              <a:rPr sz="1800" b="1" i="0" dirty="0">
                <a:solidFill>
                  <a:srgbClr val="2D76AD"/>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Build the line from interface-typed building blocks.</a:t>
            </a:r>
          </a:p>
          <a:p>
            <a:pPr algn="l">
              <a:lnSpc>
                <a:spcPct val="140000"/>
              </a:lnSpc>
            </a:pPr>
            <a:r>
              <a:rPr sz="2000" b="0" i="1" dirty="0">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2D76AD"/>
                </a:solidFill>
                <a:latin typeface="Arial"/>
              </a:rPr>
              <a:t>  </a:t>
            </a:r>
            <a:r>
              <a:rPr sz="2000" b="1" dirty="0">
                <a:solidFill>
                  <a:srgbClr val="242A33"/>
                </a:solidFill>
                <a:latin typeface="Arial"/>
              </a:rPr>
              <a:t>Origin </a:t>
            </a:r>
            <a:r>
              <a:rPr sz="2000" dirty="0">
                <a:solidFill>
                  <a:srgbClr val="242A33"/>
                </a:solidFill>
                <a:latin typeface="Arial"/>
              </a:rPr>
              <a:t>— Gang of Four 1994; SOLID 2000s.</a:t>
            </a:r>
          </a:p>
          <a:p>
            <a:pPr algn="l">
              <a:lnSpc>
                <a:spcPct val="130000"/>
              </a:lnSpc>
              <a:spcBef>
                <a:spcPts val="400"/>
              </a:spcBef>
            </a:pPr>
            <a:r>
              <a:rPr lang="en-US" sz="2000" b="1" dirty="0">
                <a:solidFill>
                  <a:srgbClr val="2D76AD"/>
                </a:solidFill>
                <a:latin typeface="Arial"/>
              </a:rPr>
              <a:t>  </a:t>
            </a:r>
            <a:r>
              <a:rPr sz="2000" b="1" dirty="0">
                <a:solidFill>
                  <a:srgbClr val="242A33"/>
                </a:solidFill>
                <a:latin typeface="Arial"/>
              </a:rPr>
              <a:t>Mental model </a:t>
            </a:r>
            <a:r>
              <a:rPr sz="2000" dirty="0">
                <a:solidFill>
                  <a:srgbClr val="242A33"/>
                </a:solidFill>
                <a:latin typeface="Arial"/>
              </a:rPr>
              <a:t>— small focused FBs talk through interfaces (stations see the interface, never the FB that implements it)</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IEC 61131-3 </a:t>
            </a:r>
            <a:r>
              <a:rPr sz="2000" dirty="0">
                <a:solidFill>
                  <a:srgbClr val="242A33"/>
                </a:solidFill>
                <a:latin typeface="Arial"/>
              </a:rPr>
              <a:t>— INTERFACE, IMPLEMENTS, FB references typed by interface, 	</a:t>
            </a:r>
            <a:r>
              <a:rPr sz="2000" dirty="0" err="1">
                <a:solidFill>
                  <a:srgbClr val="242A33"/>
                </a:solidFill>
                <a:latin typeface="Arial"/>
              </a:rPr>
              <a:t>FB_init</a:t>
            </a:r>
            <a:r>
              <a:rPr sz="2000" dirty="0">
                <a:solidFill>
                  <a:srgbClr val="242A33"/>
                </a:solidFill>
                <a:latin typeface="Arial"/>
              </a:rPr>
              <a:t> for dependency injection (DI)</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Promise </a:t>
            </a:r>
            <a:r>
              <a:rPr sz="2000" dirty="0">
                <a:solidFill>
                  <a:srgbClr val="242A33"/>
                </a:solidFill>
                <a:latin typeface="Arial"/>
              </a:rPr>
              <a:t>— variation by injection</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Catch </a:t>
            </a:r>
            <a:r>
              <a:rPr sz="2000" dirty="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60192-C8D4-8E74-05CF-6BC893E2FAA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9E971AB-2F1F-F4E7-BBC2-E39262DCFA7F}"/>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composition sample structure</a:t>
            </a:r>
          </a:p>
          <a:p>
            <a:r>
              <a:rPr lang="en-US" dirty="0"/>
              <a:t>Understand OOP terms INTERFACE, IMPLEMENTS, constructor </a:t>
            </a:r>
          </a:p>
          <a:p>
            <a:r>
              <a:rPr lang="en-US" dirty="0"/>
              <a:t>Understand dependency injection (DI) with </a:t>
            </a:r>
            <a:r>
              <a:rPr lang="en-US" dirty="0" err="1"/>
              <a:t>FB_Init</a:t>
            </a:r>
            <a:endParaRPr lang="en-US" dirty="0"/>
          </a:p>
          <a:p>
            <a:endParaRPr lang="en-US" dirty="0"/>
          </a:p>
        </p:txBody>
      </p:sp>
      <p:sp>
        <p:nvSpPr>
          <p:cNvPr id="3" name="Title 2">
            <a:extLst>
              <a:ext uri="{FF2B5EF4-FFF2-40B4-BE49-F238E27FC236}">
                <a16:creationId xmlns:a16="http://schemas.microsoft.com/office/drawing/2014/main" id="{7AFC95BB-7121-EC19-FAD7-E61E89FD1BE0}"/>
              </a:ext>
            </a:extLst>
          </p:cNvPr>
          <p:cNvSpPr>
            <a:spLocks noGrp="1"/>
          </p:cNvSpPr>
          <p:nvPr>
            <p:ph type="title"/>
          </p:nvPr>
        </p:nvSpPr>
        <p:spPr/>
        <p:txBody>
          <a:bodyPr/>
          <a:lstStyle/>
          <a:p>
            <a:r>
              <a:rPr lang="en-US" dirty="0"/>
              <a:t>Lab 3A: Composition Code Inspection</a:t>
            </a:r>
          </a:p>
        </p:txBody>
      </p:sp>
      <p:sp>
        <p:nvSpPr>
          <p:cNvPr id="4" name="Text Placeholder 1">
            <a:extLst>
              <a:ext uri="{FF2B5EF4-FFF2-40B4-BE49-F238E27FC236}">
                <a16:creationId xmlns:a16="http://schemas.microsoft.com/office/drawing/2014/main" id="{EB577CDB-CA16-FD07-5D10-9C41401DE853}"/>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FillingLine_Composition</a:t>
            </a:r>
            <a:r>
              <a:rPr lang="en-US" dirty="0"/>
              <a:t> Project</a:t>
            </a:r>
          </a:p>
          <a:p>
            <a:r>
              <a:rPr lang="en-US" dirty="0"/>
              <a:t>Open the POU folder and find the Interfaces, Building Blocks, and Stations</a:t>
            </a:r>
          </a:p>
          <a:p>
            <a:r>
              <a:rPr lang="en-US" dirty="0"/>
              <a:t>Note: </a:t>
            </a:r>
          </a:p>
          <a:p>
            <a:pPr lvl="1"/>
            <a:r>
              <a:rPr lang="en-US" dirty="0"/>
              <a:t>No base class! </a:t>
            </a:r>
          </a:p>
        </p:txBody>
      </p:sp>
    </p:spTree>
    <p:extLst>
      <p:ext uri="{BB962C8B-B14F-4D97-AF65-F5344CB8AC3E}">
        <p14:creationId xmlns:p14="http://schemas.microsoft.com/office/powerpoint/2010/main" val="35470407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242A33"/>
                </a:solidFill>
                <a:latin typeface="Arial"/>
              </a:rPr>
              <a:t>Interface</a:t>
            </a:r>
          </a:p>
          <a:p>
            <a:pPr lvl="1">
              <a:lnSpc>
                <a:spcPct val="130000"/>
              </a:lnSpc>
              <a:spcBef>
                <a:spcPts val="0"/>
              </a:spcBef>
            </a:pPr>
            <a:r>
              <a:rPr lang="en-US" sz="2000" dirty="0">
                <a:solidFill>
                  <a:srgbClr val="242A33"/>
                </a:solidFill>
                <a:latin typeface="Arial"/>
              </a:rPr>
              <a:t>A contract between a building block and everything that uses it</a:t>
            </a:r>
            <a:r>
              <a:rPr lang="en-US" sz="2000" b="1" dirty="0">
                <a:solidFill>
                  <a:srgbClr val="242A33"/>
                </a:solidFill>
                <a:latin typeface="Arial"/>
              </a:rPr>
              <a:t> </a:t>
            </a:r>
            <a:endParaRPr sz="2000" dirty="0">
              <a:solidFill>
                <a:srgbClr val="242A33"/>
              </a:solidFill>
              <a:latin typeface="Arial"/>
            </a:endParaRPr>
          </a:p>
          <a:p>
            <a:pPr lvl="1">
              <a:lnSpc>
                <a:spcPct val="130000"/>
              </a:lnSpc>
              <a:spcBef>
                <a:spcPts val="0"/>
              </a:spcBef>
            </a:pPr>
            <a:r>
              <a:rPr sz="2000" dirty="0">
                <a:solidFill>
                  <a:srgbClr val="242A33"/>
                </a:solidFill>
                <a:latin typeface="Arial"/>
              </a:rPr>
              <a:t>(x5) </a:t>
            </a:r>
            <a:r>
              <a:rPr sz="2000" dirty="0" err="1">
                <a:solidFill>
                  <a:srgbClr val="242A33"/>
                </a:solidFill>
                <a:latin typeface="Arial"/>
              </a:rPr>
              <a:t>I_AlarmHandler</a:t>
            </a:r>
            <a:r>
              <a:rPr sz="2000" dirty="0">
                <a:solidFill>
                  <a:srgbClr val="242A33"/>
                </a:solidFill>
                <a:latin typeface="Arial"/>
              </a:rPr>
              <a:t>, </a:t>
            </a:r>
            <a:r>
              <a:rPr sz="2000" dirty="0" err="1">
                <a:solidFill>
                  <a:srgbClr val="242A33"/>
                </a:solidFill>
                <a:latin typeface="Arial"/>
              </a:rPr>
              <a:t>I_DataLogger</a:t>
            </a:r>
            <a:r>
              <a:rPr sz="2000" dirty="0">
                <a:solidFill>
                  <a:srgbClr val="242A33"/>
                </a:solidFill>
                <a:latin typeface="Arial"/>
              </a:rPr>
              <a:t>, </a:t>
            </a:r>
            <a:r>
              <a:rPr sz="2000" dirty="0" err="1">
                <a:solidFill>
                  <a:srgbClr val="242A33"/>
                </a:solidFill>
                <a:latin typeface="Arial"/>
              </a:rPr>
              <a:t>I_HmiReportable</a:t>
            </a:r>
            <a:r>
              <a:rPr sz="2000" dirty="0">
                <a:solidFill>
                  <a:srgbClr val="242A33"/>
                </a:solidFill>
                <a:latin typeface="Arial"/>
              </a:rPr>
              <a:t>, </a:t>
            </a:r>
            <a:r>
              <a:rPr sz="2000" dirty="0" err="1">
                <a:solidFill>
                  <a:srgbClr val="242A33"/>
                </a:solidFill>
                <a:latin typeface="Arial"/>
              </a:rPr>
              <a:t>I_Sequenceable</a:t>
            </a:r>
            <a:r>
              <a:rPr sz="2000" dirty="0">
                <a:solidFill>
                  <a:srgbClr val="242A33"/>
                </a:solidFill>
                <a:latin typeface="Arial"/>
              </a:rPr>
              <a:t>, </a:t>
            </a:r>
            <a:r>
              <a:rPr sz="2000" dirty="0" err="1">
                <a:solidFill>
                  <a:srgbClr val="242A33"/>
                </a:solidFill>
                <a:latin typeface="Arial"/>
              </a:rPr>
              <a:t>I_StationCore</a:t>
            </a:r>
            <a:endParaRPr sz="2000" dirty="0">
              <a:solidFill>
                <a:srgbClr val="242A33"/>
              </a:solidFill>
              <a:latin typeface="Arial"/>
            </a:endParaRP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Building block</a:t>
            </a:r>
          </a:p>
          <a:p>
            <a:pPr lvl="1">
              <a:lnSpc>
                <a:spcPct val="130000"/>
              </a:lnSpc>
              <a:spcBef>
                <a:spcPts val="0"/>
              </a:spcBef>
            </a:pPr>
            <a:r>
              <a:rPr lang="en-US" sz="2000" dirty="0">
                <a:solidFill>
                  <a:srgbClr val="242A33"/>
                </a:solidFill>
                <a:latin typeface="Arial"/>
              </a:rPr>
              <a:t>Small, focused FB that serves only one purpose</a:t>
            </a:r>
            <a:endParaRPr sz="2000" dirty="0">
              <a:solidFill>
                <a:srgbClr val="242A33"/>
              </a:solidFill>
              <a:latin typeface="Arial"/>
            </a:endParaRPr>
          </a:p>
          <a:p>
            <a:pPr lvl="1">
              <a:lnSpc>
                <a:spcPct val="130000"/>
              </a:lnSpc>
              <a:spcBef>
                <a:spcPts val="0"/>
              </a:spcBef>
            </a:pPr>
            <a:r>
              <a:rPr lang="en-US" sz="2000" dirty="0">
                <a:solidFill>
                  <a:srgbClr val="242A33"/>
                </a:solidFill>
                <a:latin typeface="Arial"/>
              </a:rPr>
              <a:t>(x4) </a:t>
            </a:r>
            <a:r>
              <a:rPr sz="2000" dirty="0">
                <a:solidFill>
                  <a:srgbClr val="242A33"/>
                </a:solidFill>
                <a:latin typeface="Arial"/>
              </a:rPr>
              <a:t>alarm handlers, loggers, mode manager, sequencers</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Station</a:t>
            </a:r>
          </a:p>
          <a:p>
            <a:pPr lvl="1">
              <a:lnSpc>
                <a:spcPct val="130000"/>
              </a:lnSpc>
              <a:spcBef>
                <a:spcPts val="0"/>
              </a:spcBef>
            </a:pPr>
            <a:r>
              <a:rPr lang="en-US" sz="2000" dirty="0">
                <a:solidFill>
                  <a:srgbClr val="242A33"/>
                </a:solidFill>
                <a:latin typeface="Arial"/>
              </a:rPr>
              <a:t>Coordinates the building blocks</a:t>
            </a:r>
            <a:endParaRPr sz="2000" dirty="0">
              <a:solidFill>
                <a:srgbClr val="242A33"/>
              </a:solidFill>
              <a:latin typeface="Arial"/>
            </a:endParaRPr>
          </a:p>
          <a:p>
            <a:pPr lvl="1">
              <a:lnSpc>
                <a:spcPct val="130000"/>
              </a:lnSpc>
              <a:spcBef>
                <a:spcPts val="0"/>
              </a:spcBef>
            </a:pPr>
            <a:r>
              <a:rPr sz="2000" dirty="0">
                <a:solidFill>
                  <a:srgbClr val="242A33"/>
                </a:solidFill>
                <a:latin typeface="Arial"/>
              </a:rPr>
              <a:t>(x4) Fill, Cap, Label, Inspect</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MAIN</a:t>
            </a:r>
            <a:r>
              <a:rPr sz="2000" dirty="0">
                <a:solidFill>
                  <a:srgbClr val="242A33"/>
                </a:solidFill>
                <a:latin typeface="Arial"/>
              </a:rPr>
              <a:t> </a:t>
            </a:r>
            <a:r>
              <a:rPr lang="en-US" sz="2000" dirty="0">
                <a:solidFill>
                  <a:srgbClr val="242A33"/>
                </a:solidFill>
                <a:latin typeface="Arial"/>
              </a:rPr>
              <a:t>–</a:t>
            </a:r>
            <a:r>
              <a:rPr sz="2000" dirty="0">
                <a:solidFill>
                  <a:srgbClr val="242A33"/>
                </a:solidFill>
                <a:latin typeface="Arial"/>
              </a:rPr>
              <a:t> wires the dependency graph</a:t>
            </a:r>
          </a:p>
        </p:txBody>
      </p:sp>
      <p:sp>
        <p:nvSpPr>
          <p:cNvPr id="3" name="Title 2"/>
          <p:cNvSpPr>
            <a:spLocks noGrp="1"/>
          </p:cNvSpPr>
          <p:nvPr>
            <p:ph type="title"/>
          </p:nvPr>
        </p:nvSpPr>
        <p:spPr/>
        <p:txBody>
          <a:bodyPr/>
          <a:lstStyle/>
          <a:p>
            <a:r>
              <a:rPr lang="en-US" dirty="0"/>
              <a:t>Architecture – Interfaces, Building Blocks, Stations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2E66-A8C8-31FB-D958-262795E0FD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CEDF6-C908-489E-22CD-0BA0F8A9896B}"/>
              </a:ext>
            </a:extLst>
          </p:cNvPr>
          <p:cNvSpPr>
            <a:spLocks noGrp="1"/>
          </p:cNvSpPr>
          <p:nvPr>
            <p:ph type="title"/>
          </p:nvPr>
        </p:nvSpPr>
        <p:spPr/>
        <p:txBody>
          <a:bodyPr/>
          <a:lstStyle/>
          <a:p>
            <a:r>
              <a:rPr lang="en-US" dirty="0"/>
              <a:t>Interfaces – the contract</a:t>
            </a:r>
            <a:endParaRPr dirty="0"/>
          </a:p>
        </p:txBody>
      </p:sp>
      <p:sp>
        <p:nvSpPr>
          <p:cNvPr id="3" name="TextBox 2">
            <a:extLst>
              <a:ext uri="{FF2B5EF4-FFF2-40B4-BE49-F238E27FC236}">
                <a16:creationId xmlns:a16="http://schemas.microsoft.com/office/drawing/2014/main" id="{2403A486-6956-B79B-5754-F08B9FEB41C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a:extLst>
              <a:ext uri="{FF2B5EF4-FFF2-40B4-BE49-F238E27FC236}">
                <a16:creationId xmlns:a16="http://schemas.microsoft.com/office/drawing/2014/main" id="{49903207-3259-828D-EF7A-D6C9ED28377B}"/>
              </a:ext>
            </a:extLst>
          </p:cNvPr>
          <p:cNvSpPr/>
          <p:nvPr/>
        </p:nvSpPr>
        <p:spPr>
          <a:xfrm>
            <a:off x="0" y="1234440"/>
            <a:ext cx="83058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FD01600C-EF90-3E90-B69D-0F66D3390B01}"/>
              </a:ext>
            </a:extLst>
          </p:cNvPr>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a:extLst>
              <a:ext uri="{FF2B5EF4-FFF2-40B4-BE49-F238E27FC236}">
                <a16:creationId xmlns:a16="http://schemas.microsoft.com/office/drawing/2014/main" id="{B9BC9DD5-B165-39B6-684B-AA59F022526C}"/>
              </a:ext>
            </a:extLst>
          </p:cNvPr>
          <p:cNvSpPr txBox="1"/>
          <p:nvPr/>
        </p:nvSpPr>
        <p:spPr>
          <a:xfrm>
            <a:off x="274320" y="1691640"/>
            <a:ext cx="7726680" cy="4981748"/>
          </a:xfrm>
          <a:prstGeom prst="rect">
            <a:avLst/>
          </a:prstGeom>
          <a:noFill/>
        </p:spPr>
        <p:txBody>
          <a:bodyPr wrap="square" lIns="0" tIns="0" rIns="0" bIns="0" anchor="t">
            <a:spAutoFit/>
          </a:bodyPr>
          <a:lstStyle/>
          <a:p>
            <a:pPr algn="l">
              <a:lnSpc>
                <a:spcPct val="125000"/>
              </a:lnSpc>
            </a:pPr>
            <a:r>
              <a:rPr sz="1300" b="0" i="0" dirty="0">
                <a:solidFill>
                  <a:srgbClr val="E6E8EB"/>
                </a:solidFill>
                <a:latin typeface="Consolas"/>
              </a:rPr>
              <a:t>// </a:t>
            </a:r>
            <a:r>
              <a:rPr sz="1300" b="0" i="0" dirty="0" err="1">
                <a:solidFill>
                  <a:srgbClr val="E6E8EB"/>
                </a:solidFill>
                <a:latin typeface="Consolas"/>
              </a:rPr>
              <a:t>I_AlarmHandler.TcPOU</a:t>
            </a:r>
            <a:r>
              <a:rPr sz="1300" b="0" i="0" dirty="0">
                <a:solidFill>
                  <a:srgbClr val="E6E8EB"/>
                </a:solidFill>
                <a:latin typeface="Consolas"/>
              </a:rPr>
              <a:t> — a contract. No implementation.</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INTERFACE </a:t>
            </a:r>
            <a:r>
              <a:rPr sz="1300" b="0" i="0" dirty="0" err="1">
                <a:solidFill>
                  <a:srgbClr val="E6E8EB"/>
                </a:solidFill>
                <a:latin typeface="Consolas"/>
              </a:rPr>
              <a:t>I_AlarmHandler</a:t>
            </a:r>
            <a:endParaRPr sz="1300" b="0" i="0" dirty="0">
              <a:solidFill>
                <a:srgbClr val="E6E8EB"/>
              </a:solidFill>
              <a:latin typeface="Consolas"/>
            </a:endParaRP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PROPERTY </a:t>
            </a:r>
            <a:r>
              <a:rPr sz="1300" b="0" i="0" dirty="0" err="1">
                <a:solidFill>
                  <a:srgbClr val="E6E8EB"/>
                </a:solidFill>
                <a:latin typeface="Consolas"/>
              </a:rPr>
              <a:t>IsActive</a:t>
            </a:r>
            <a:r>
              <a:rPr sz="1300" b="0" i="0" dirty="0">
                <a:solidFill>
                  <a:srgbClr val="E6E8EB"/>
                </a:solidFill>
                <a:latin typeface="Consolas"/>
              </a:rPr>
              <a:t> : BOOL    // is an alarm currently latched?</a:t>
            </a:r>
          </a:p>
          <a:p>
            <a:pPr algn="l">
              <a:lnSpc>
                <a:spcPct val="125000"/>
              </a:lnSpc>
            </a:pPr>
            <a:r>
              <a:rPr sz="1300" b="0" i="0" dirty="0">
                <a:solidFill>
                  <a:srgbClr val="E6E8EB"/>
                </a:solidFill>
                <a:latin typeface="Consolas"/>
              </a:rPr>
              <a:t>PROPERTY </a:t>
            </a:r>
            <a:r>
              <a:rPr sz="1300" b="0" i="0" dirty="0" err="1">
                <a:solidFill>
                  <a:srgbClr val="E6E8EB"/>
                </a:solidFill>
                <a:latin typeface="Consolas"/>
              </a:rPr>
              <a:t>StopsLine</a:t>
            </a:r>
            <a:r>
              <a:rPr sz="1300" b="0" i="0" dirty="0">
                <a:solidFill>
                  <a:srgbClr val="E6E8EB"/>
                </a:solidFill>
                <a:latin typeface="Consolas"/>
              </a:rPr>
              <a:t> : BOOL   // should this alarm stop the line?</a:t>
            </a:r>
          </a:p>
          <a:p>
            <a:pPr algn="l">
              <a:lnSpc>
                <a:spcPct val="125000"/>
              </a:lnSpc>
            </a:pPr>
            <a:r>
              <a:rPr sz="1300" b="0" i="0" dirty="0">
                <a:solidFill>
                  <a:srgbClr val="E6E8EB"/>
                </a:solidFill>
                <a:latin typeface="Consolas"/>
              </a:rPr>
              <a:t>                            // (TRUE for line faults, FALSE for quality flags)</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METHOD Raise</a:t>
            </a:r>
          </a:p>
          <a:p>
            <a:pPr algn="l">
              <a:lnSpc>
                <a:spcPct val="125000"/>
              </a:lnSpc>
            </a:pPr>
            <a:r>
              <a:rPr sz="1300" b="0" i="0" dirty="0">
                <a:solidFill>
                  <a:srgbClr val="E6E8EB"/>
                </a:solidFill>
                <a:latin typeface="Consolas"/>
              </a:rPr>
              <a:t>VAR_INPUT</a:t>
            </a:r>
          </a:p>
          <a:p>
            <a:pPr algn="l">
              <a:lnSpc>
                <a:spcPct val="125000"/>
              </a:lnSpc>
            </a:pPr>
            <a:r>
              <a:rPr sz="1300" b="0" i="0" dirty="0">
                <a:solidFill>
                  <a:srgbClr val="E6E8EB"/>
                </a:solidFill>
                <a:latin typeface="Consolas"/>
              </a:rPr>
              <a:t>    Code   : INT;</a:t>
            </a:r>
          </a:p>
          <a:p>
            <a:pPr algn="l">
              <a:lnSpc>
                <a:spcPct val="125000"/>
              </a:lnSpc>
            </a:pPr>
            <a:r>
              <a:rPr sz="1300" b="0" i="0" dirty="0">
                <a:solidFill>
                  <a:srgbClr val="E6E8EB"/>
                </a:solidFill>
                <a:latin typeface="Consolas"/>
              </a:rPr>
              <a:t>    Text   : STRING(80);</a:t>
            </a:r>
          </a:p>
          <a:p>
            <a:pPr algn="l">
              <a:lnSpc>
                <a:spcPct val="125000"/>
              </a:lnSpc>
            </a:pPr>
            <a:r>
              <a:rPr sz="1300" b="0" i="0" dirty="0">
                <a:solidFill>
                  <a:srgbClr val="E6E8EB"/>
                </a:solidFill>
                <a:latin typeface="Consolas"/>
              </a:rPr>
              <a:t>END_VAR</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METHOD Acknowledge</a:t>
            </a:r>
          </a:p>
          <a:p>
            <a:pPr algn="l">
              <a:lnSpc>
                <a:spcPct val="125000"/>
              </a:lnSpc>
            </a:pPr>
            <a:r>
              <a:rPr sz="1300" b="0" i="0" dirty="0">
                <a:solidFill>
                  <a:srgbClr val="E6E8EB"/>
                </a:solidFill>
                <a:latin typeface="Consolas"/>
              </a:rPr>
              <a:t>END_METHOD</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 Anyone who implements this satisfies the contract.</a:t>
            </a:r>
          </a:p>
          <a:p>
            <a:pPr algn="l">
              <a:lnSpc>
                <a:spcPct val="125000"/>
              </a:lnSpc>
            </a:pPr>
            <a:r>
              <a:rPr sz="1300" b="0" i="0" dirty="0">
                <a:solidFill>
                  <a:srgbClr val="E6E8EB"/>
                </a:solidFill>
                <a:latin typeface="Consolas"/>
              </a:rPr>
              <a:t>// Stations depend on </a:t>
            </a:r>
            <a:r>
              <a:rPr sz="1300" b="0" i="0" dirty="0" err="1">
                <a:solidFill>
                  <a:srgbClr val="E6E8EB"/>
                </a:solidFill>
                <a:latin typeface="Consolas"/>
              </a:rPr>
              <a:t>I_AlarmHandler</a:t>
            </a:r>
            <a:r>
              <a:rPr sz="1300" b="0" i="0" dirty="0">
                <a:solidFill>
                  <a:srgbClr val="E6E8EB"/>
                </a:solidFill>
                <a:latin typeface="Consolas"/>
              </a:rPr>
              <a:t> — they never know which implementation</a:t>
            </a:r>
          </a:p>
          <a:p>
            <a:pPr algn="l">
              <a:lnSpc>
                <a:spcPct val="125000"/>
              </a:lnSpc>
            </a:pPr>
            <a:r>
              <a:rPr sz="1300" b="0" i="0" dirty="0">
                <a:solidFill>
                  <a:srgbClr val="E6E8EB"/>
                </a:solidFill>
                <a:latin typeface="Consolas"/>
              </a:rPr>
              <a:t>// they have. That's the seam where CR-2's swap will happen.</a:t>
            </a:r>
          </a:p>
        </p:txBody>
      </p:sp>
      <p:sp>
        <p:nvSpPr>
          <p:cNvPr id="7" name="TextBox 6">
            <a:extLst>
              <a:ext uri="{FF2B5EF4-FFF2-40B4-BE49-F238E27FC236}">
                <a16:creationId xmlns:a16="http://schemas.microsoft.com/office/drawing/2014/main" id="{A4478B55-8D35-6B46-A975-F926FF6B8C9E}"/>
              </a:ext>
            </a:extLst>
          </p:cNvPr>
          <p:cNvSpPr txBox="1"/>
          <p:nvPr/>
        </p:nvSpPr>
        <p:spPr>
          <a:xfrm>
            <a:off x="8610600" y="1600200"/>
            <a:ext cx="3223959" cy="646331"/>
          </a:xfrm>
          <a:prstGeom prst="rect">
            <a:avLst/>
          </a:prstGeom>
          <a:noFill/>
        </p:spPr>
        <p:txBody>
          <a:bodyPr wrap="none" rtlCol="0">
            <a:spAutoFit/>
          </a:bodyPr>
          <a:lstStyle/>
          <a:p>
            <a:r>
              <a:rPr lang="en-US" b="1" dirty="0">
                <a:solidFill>
                  <a:srgbClr val="C00000"/>
                </a:solidFill>
              </a:rPr>
              <a:t>Why use the term contract?</a:t>
            </a:r>
          </a:p>
          <a:p>
            <a:r>
              <a:rPr lang="en-US" b="1" dirty="0">
                <a:solidFill>
                  <a:srgbClr val="C00000"/>
                </a:solidFill>
              </a:rPr>
              <a:t>	</a:t>
            </a:r>
          </a:p>
        </p:txBody>
      </p:sp>
    </p:spTree>
    <p:extLst>
      <p:ext uri="{BB962C8B-B14F-4D97-AF65-F5344CB8AC3E}">
        <p14:creationId xmlns:p14="http://schemas.microsoft.com/office/powerpoint/2010/main" val="16156454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501BE-9B64-ED80-3493-B351155A7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83FE43-0B9E-DF2D-08EA-C31FD90ED045}"/>
              </a:ext>
            </a:extLst>
          </p:cNvPr>
          <p:cNvSpPr>
            <a:spLocks noGrp="1"/>
          </p:cNvSpPr>
          <p:nvPr>
            <p:ph type="title"/>
          </p:nvPr>
        </p:nvSpPr>
        <p:spPr/>
        <p:txBody>
          <a:bodyPr/>
          <a:lstStyle/>
          <a:p>
            <a:r>
              <a:rPr dirty="0"/>
              <a:t>Interfaces </a:t>
            </a:r>
            <a:r>
              <a:rPr lang="en-US" dirty="0"/>
              <a:t>–</a:t>
            </a:r>
            <a:r>
              <a:rPr dirty="0"/>
              <a:t> contract explanation </a:t>
            </a:r>
          </a:p>
        </p:txBody>
      </p:sp>
      <p:sp>
        <p:nvSpPr>
          <p:cNvPr id="3" name="TextBox 2">
            <a:extLst>
              <a:ext uri="{FF2B5EF4-FFF2-40B4-BE49-F238E27FC236}">
                <a16:creationId xmlns:a16="http://schemas.microsoft.com/office/drawing/2014/main" id="{515DFC00-E243-A490-68CC-FB09553B9E6D}"/>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7" name="TextBox 6">
            <a:extLst>
              <a:ext uri="{FF2B5EF4-FFF2-40B4-BE49-F238E27FC236}">
                <a16:creationId xmlns:a16="http://schemas.microsoft.com/office/drawing/2014/main" id="{31643C91-5C33-CFA3-7F09-1260F587C733}"/>
              </a:ext>
            </a:extLst>
          </p:cNvPr>
          <p:cNvSpPr txBox="1"/>
          <p:nvPr/>
        </p:nvSpPr>
        <p:spPr>
          <a:xfrm>
            <a:off x="403412" y="1302242"/>
            <a:ext cx="3558988" cy="677108"/>
          </a:xfrm>
          <a:prstGeom prst="rect">
            <a:avLst/>
          </a:prstGeom>
          <a:noFill/>
        </p:spPr>
        <p:txBody>
          <a:bodyPr wrap="none" rtlCol="0">
            <a:spAutoFit/>
          </a:bodyPr>
          <a:lstStyle/>
          <a:p>
            <a:r>
              <a:rPr lang="en-US" sz="2000" b="1" dirty="0">
                <a:solidFill>
                  <a:srgbClr val="C00000"/>
                </a:solidFill>
              </a:rPr>
              <a:t>Why use the term contract?</a:t>
            </a:r>
          </a:p>
          <a:p>
            <a:r>
              <a:rPr lang="en-US" b="1" dirty="0">
                <a:solidFill>
                  <a:srgbClr val="C00000"/>
                </a:solidFill>
              </a:rPr>
              <a:t>	</a:t>
            </a:r>
          </a:p>
        </p:txBody>
      </p:sp>
      <p:graphicFrame>
        <p:nvGraphicFramePr>
          <p:cNvPr id="8" name="Table 7">
            <a:extLst>
              <a:ext uri="{FF2B5EF4-FFF2-40B4-BE49-F238E27FC236}">
                <a16:creationId xmlns:a16="http://schemas.microsoft.com/office/drawing/2014/main" id="{5C02A1D5-C3A8-F193-091D-8CF7BE486DCC}"/>
              </a:ext>
            </a:extLst>
          </p:cNvPr>
          <p:cNvGraphicFramePr>
            <a:graphicFrameLocks noGrp="1"/>
          </p:cNvGraphicFramePr>
          <p:nvPr>
            <p:extLst>
              <p:ext uri="{D42A27DB-BD31-4B8C-83A1-F6EECF244321}">
                <p14:modId xmlns:p14="http://schemas.microsoft.com/office/powerpoint/2010/main" val="2668529760"/>
              </p:ext>
            </p:extLst>
          </p:nvPr>
        </p:nvGraphicFramePr>
        <p:xfrm>
          <a:off x="533400" y="1945640"/>
          <a:ext cx="11049000" cy="4150360"/>
        </p:xfrm>
        <a:graphic>
          <a:graphicData uri="http://schemas.openxmlformats.org/drawingml/2006/table">
            <a:tbl>
              <a:tblPr firstRow="1" bandRow="1">
                <a:tableStyleId>{0817EA92-75D0-4044-A80A-286907CE0DDC}</a:tableStyleId>
              </a:tblPr>
              <a:tblGrid>
                <a:gridCol w="3683000">
                  <a:extLst>
                    <a:ext uri="{9D8B030D-6E8A-4147-A177-3AD203B41FA5}">
                      <a16:colId xmlns:a16="http://schemas.microsoft.com/office/drawing/2014/main" val="2916138536"/>
                    </a:ext>
                  </a:extLst>
                </a:gridCol>
                <a:gridCol w="3683000">
                  <a:extLst>
                    <a:ext uri="{9D8B030D-6E8A-4147-A177-3AD203B41FA5}">
                      <a16:colId xmlns:a16="http://schemas.microsoft.com/office/drawing/2014/main" val="3053196286"/>
                    </a:ext>
                  </a:extLst>
                </a:gridCol>
                <a:gridCol w="3683000">
                  <a:extLst>
                    <a:ext uri="{9D8B030D-6E8A-4147-A177-3AD203B41FA5}">
                      <a16:colId xmlns:a16="http://schemas.microsoft.com/office/drawing/2014/main" val="4274378360"/>
                    </a:ext>
                  </a:extLst>
                </a:gridCol>
              </a:tblGrid>
              <a:tr h="1037590">
                <a:tc>
                  <a:txBody>
                    <a:bodyPr/>
                    <a:lstStyle/>
                    <a:p>
                      <a:endParaRPr lang="en-US" dirty="0"/>
                    </a:p>
                  </a:txBody>
                  <a:tcPr/>
                </a:tc>
                <a:tc>
                  <a:txBody>
                    <a:bodyPr/>
                    <a:lstStyle/>
                    <a:p>
                      <a:pPr algn="ctr"/>
                      <a:r>
                        <a:rPr lang="en-US" sz="2800" dirty="0"/>
                        <a:t>Points To</a:t>
                      </a:r>
                    </a:p>
                  </a:txBody>
                  <a:tcPr anchor="ctr"/>
                </a:tc>
                <a:tc>
                  <a:txBody>
                    <a:bodyPr/>
                    <a:lstStyle/>
                    <a:p>
                      <a:pPr algn="ctr"/>
                      <a:r>
                        <a:rPr lang="en-US" sz="2800" u="sng" dirty="0"/>
                        <a:t>Compiler Enforced</a:t>
                      </a:r>
                    </a:p>
                  </a:txBody>
                  <a:tcPr anchor="ctr"/>
                </a:tc>
                <a:extLst>
                  <a:ext uri="{0D108BD9-81ED-4DB2-BD59-A6C34878D82A}">
                    <a16:rowId xmlns:a16="http://schemas.microsoft.com/office/drawing/2014/main" val="1438774241"/>
                  </a:ext>
                </a:extLst>
              </a:tr>
              <a:tr h="1037590">
                <a:tc>
                  <a:txBody>
                    <a:bodyPr/>
                    <a:lstStyle/>
                    <a:p>
                      <a:r>
                        <a:rPr lang="en-US" dirty="0"/>
                        <a:t>POINTER TO BOOL</a:t>
                      </a:r>
                    </a:p>
                  </a:txBody>
                  <a:tcPr/>
                </a:tc>
                <a:tc>
                  <a:txBody>
                    <a:bodyPr/>
                    <a:lstStyle/>
                    <a:p>
                      <a:r>
                        <a:rPr lang="en-US" dirty="0"/>
                        <a:t>A memory address that may or may not contain a Boolean value</a:t>
                      </a:r>
                    </a:p>
                  </a:txBody>
                  <a:tcPr/>
                </a:tc>
                <a:tc>
                  <a:txBody>
                    <a:bodyPr/>
                    <a:lstStyle/>
                    <a:p>
                      <a:r>
                        <a:rPr lang="en-US" b="1" dirty="0"/>
                        <a:t>No</a:t>
                      </a:r>
                    </a:p>
                  </a:txBody>
                  <a:tcPr/>
                </a:tc>
                <a:extLst>
                  <a:ext uri="{0D108BD9-81ED-4DB2-BD59-A6C34878D82A}">
                    <a16:rowId xmlns:a16="http://schemas.microsoft.com/office/drawing/2014/main" val="1728023933"/>
                  </a:ext>
                </a:extLst>
              </a:tr>
              <a:tr h="1037590">
                <a:tc>
                  <a:txBody>
                    <a:bodyPr/>
                    <a:lstStyle/>
                    <a:p>
                      <a:r>
                        <a:rPr lang="en-US" dirty="0"/>
                        <a:t>REFERENCE TO </a:t>
                      </a:r>
                      <a:r>
                        <a:rPr lang="en-US" dirty="0" err="1"/>
                        <a:t>FB_myFunctionBlock</a:t>
                      </a:r>
                      <a:endParaRPr lang="en-US" dirty="0"/>
                    </a:p>
                  </a:txBody>
                  <a:tcPr/>
                </a:tc>
                <a:tc>
                  <a:txBody>
                    <a:bodyPr/>
                    <a:lstStyle/>
                    <a:p>
                      <a:r>
                        <a:rPr lang="en-US" dirty="0"/>
                        <a:t>A specific FB type (</a:t>
                      </a:r>
                      <a:r>
                        <a:rPr lang="en-US" dirty="0" err="1"/>
                        <a:t>FB_myFunctionBlock</a:t>
                      </a:r>
                      <a:r>
                        <a:rPr lang="en-US" dirty="0"/>
                        <a:t>)</a:t>
                      </a:r>
                    </a:p>
                  </a:txBody>
                  <a:tcPr/>
                </a:tc>
                <a:tc>
                  <a:txBody>
                    <a:bodyPr/>
                    <a:lstStyle/>
                    <a:p>
                      <a:r>
                        <a:rPr lang="en-US" b="1" dirty="0"/>
                        <a:t>Yes – but locked to that type</a:t>
                      </a:r>
                    </a:p>
                  </a:txBody>
                  <a:tcPr/>
                </a:tc>
                <a:extLst>
                  <a:ext uri="{0D108BD9-81ED-4DB2-BD59-A6C34878D82A}">
                    <a16:rowId xmlns:a16="http://schemas.microsoft.com/office/drawing/2014/main" val="3277877868"/>
                  </a:ext>
                </a:extLst>
              </a:tr>
              <a:tr h="1037590">
                <a:tc>
                  <a:txBody>
                    <a:bodyPr/>
                    <a:lstStyle/>
                    <a:p>
                      <a:r>
                        <a:rPr lang="en-US" dirty="0" err="1"/>
                        <a:t>I_myInterface</a:t>
                      </a:r>
                      <a:endParaRPr lang="en-US" dirty="0"/>
                    </a:p>
                  </a:txBody>
                  <a:tcPr/>
                </a:tc>
                <a:tc>
                  <a:txBody>
                    <a:bodyPr/>
                    <a:lstStyle/>
                    <a:p>
                      <a:r>
                        <a:rPr lang="en-US" dirty="0"/>
                        <a:t>Anything (e.g. FB, ITF) that honors the contract (e.g. contains methods, properties, </a:t>
                      </a:r>
                      <a:r>
                        <a:rPr lang="en-US" dirty="0" err="1"/>
                        <a:t>etc</a:t>
                      </a:r>
                      <a:r>
                        <a:rPr lang="en-US" dirty="0"/>
                        <a:t>)</a:t>
                      </a:r>
                    </a:p>
                  </a:txBody>
                  <a:tcPr/>
                </a:tc>
                <a:tc>
                  <a:txBody>
                    <a:bodyPr/>
                    <a:lstStyle/>
                    <a:p>
                      <a:r>
                        <a:rPr lang="en-US" b="1" dirty="0"/>
                        <a:t>Yes – and flexible</a:t>
                      </a:r>
                    </a:p>
                  </a:txBody>
                  <a:tcPr/>
                </a:tc>
                <a:extLst>
                  <a:ext uri="{0D108BD9-81ED-4DB2-BD59-A6C34878D82A}">
                    <a16:rowId xmlns:a16="http://schemas.microsoft.com/office/drawing/2014/main" val="587624605"/>
                  </a:ext>
                </a:extLst>
              </a:tr>
            </a:tbl>
          </a:graphicData>
        </a:graphic>
      </p:graphicFrame>
    </p:spTree>
    <p:extLst>
      <p:ext uri="{BB962C8B-B14F-4D97-AF65-F5344CB8AC3E}">
        <p14:creationId xmlns:p14="http://schemas.microsoft.com/office/powerpoint/2010/main" val="31294457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450787"/>
            <a:ext cx="10137600" cy="629367"/>
          </a:xfrm>
        </p:spPr>
        <p:txBody>
          <a:bodyPr/>
          <a:lstStyle/>
          <a:p>
            <a:r>
              <a:rPr dirty="0"/>
              <a:t>Building Blocks - Two implementations of </a:t>
            </a:r>
            <a:r>
              <a:rPr dirty="0" err="1"/>
              <a:t>I_AlarmHandler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876800" y="1600200"/>
            <a:ext cx="45719" cy="2073481"/>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1818959"/>
          </a:xfrm>
          <a:prstGeom prst="rect">
            <a:avLst/>
          </a:prstGeom>
          <a:noFill/>
        </p:spPr>
        <p:txBody>
          <a:bodyPr wrap="square" lIns="0" tIns="0" rIns="0" bIns="0">
            <a:spAutoFit/>
          </a:bodyPr>
          <a:lstStyle/>
          <a:p>
            <a:pPr algn="l">
              <a:lnSpc>
                <a:spcPct val="130000"/>
              </a:lnSpc>
            </a:pPr>
            <a:r>
              <a:rPr sz="1700" b="1" dirty="0">
                <a:solidFill>
                  <a:srgbClr val="2D76AD"/>
                </a:solidFill>
                <a:latin typeface="Arial"/>
              </a:rPr>
              <a:t>▸  </a:t>
            </a:r>
            <a:r>
              <a:rPr sz="1700" b="1" dirty="0" err="1">
                <a:solidFill>
                  <a:srgbClr val="242A33"/>
                </a:solidFill>
                <a:latin typeface="Arial"/>
              </a:rPr>
              <a:t>StopsLine</a:t>
            </a:r>
            <a:r>
              <a:rPr sz="1700" b="1" dirty="0">
                <a:solidFill>
                  <a:srgbClr val="242A33"/>
                </a:solidFill>
                <a:latin typeface="Arial"/>
              </a:rPr>
              <a:t> </a:t>
            </a:r>
            <a:r>
              <a:rPr sz="1700" dirty="0">
                <a:solidFill>
                  <a:srgbClr val="242A33"/>
                </a:solidFill>
                <a:latin typeface="Arial"/>
              </a:rPr>
              <a:t>— FALSE.</a:t>
            </a:r>
          </a:p>
          <a:p>
            <a:pPr algn="l">
              <a:lnSpc>
                <a:spcPct val="130000"/>
              </a:lnSpc>
              <a:spcBef>
                <a:spcPts val="400"/>
              </a:spcBef>
            </a:pPr>
            <a:r>
              <a:rPr sz="1700" b="1" dirty="0">
                <a:solidFill>
                  <a:srgbClr val="2D76AD"/>
                </a:solidFill>
                <a:latin typeface="Arial"/>
              </a:rPr>
              <a:t>▸  </a:t>
            </a:r>
            <a:r>
              <a:rPr sz="1700" b="1" dirty="0">
                <a:solidFill>
                  <a:srgbClr val="242A33"/>
                </a:solidFill>
                <a:latin typeface="Arial"/>
              </a:rPr>
              <a:t>Raise() </a:t>
            </a:r>
            <a:r>
              <a:rPr sz="1700" dirty="0">
                <a:solidFill>
                  <a:srgbClr val="242A33"/>
                </a:solidFill>
                <a:latin typeface="Arial"/>
              </a:rPr>
              <a:t>— sets Code/Text, does NOT latch.</a:t>
            </a:r>
          </a:p>
          <a:p>
            <a:pPr algn="l">
              <a:lnSpc>
                <a:spcPct val="130000"/>
              </a:lnSpc>
              <a:spcBef>
                <a:spcPts val="400"/>
              </a:spcBef>
            </a:pPr>
            <a:r>
              <a:rPr sz="1700" b="1" dirty="0">
                <a:solidFill>
                  <a:srgbClr val="2D76AD"/>
                </a:solidFill>
                <a:latin typeface="Arial"/>
              </a:rPr>
              <a:t>▸  </a:t>
            </a:r>
            <a:r>
              <a:rPr sz="1700" b="1" dirty="0">
                <a:solidFill>
                  <a:srgbClr val="242A33"/>
                </a:solidFill>
                <a:latin typeface="Arial"/>
              </a:rPr>
              <a:t>Use for </a:t>
            </a:r>
            <a:r>
              <a:rPr sz="1700" dirty="0">
                <a:solidFill>
                  <a:srgbClr val="242A33"/>
                </a:solidFill>
                <a:latin typeface="Arial"/>
              </a:rPr>
              <a:t>— quality defects that feed sortation.</a:t>
            </a:r>
          </a:p>
          <a:p>
            <a:pPr algn="l">
              <a:lnSpc>
                <a:spcPct val="130000"/>
              </a:lnSpc>
              <a:spcBef>
                <a:spcPts val="400"/>
              </a:spcBef>
            </a:pPr>
            <a:r>
              <a:rPr sz="1700" b="1" dirty="0">
                <a:solidFill>
                  <a:srgbClr val="2D76AD"/>
                </a:solidFill>
                <a:latin typeface="Arial"/>
              </a:rPr>
              <a:t>▸  </a:t>
            </a:r>
            <a:r>
              <a:rPr sz="1700" b="1" dirty="0">
                <a:solidFill>
                  <a:srgbClr val="242A33"/>
                </a:solidFill>
                <a:latin typeface="Arial"/>
              </a:rPr>
              <a:t>Tells the station </a:t>
            </a:r>
            <a:r>
              <a:rPr sz="1700" dirty="0">
                <a:solidFill>
                  <a:srgbClr val="242A33"/>
                </a:solidFill>
                <a:latin typeface="Arial"/>
              </a:rPr>
              <a:t>— "note this part; keep </a:t>
            </a:r>
            <a:r>
              <a:rPr lang="en-US" sz="1700" dirty="0">
                <a:solidFill>
                  <a:srgbClr val="242A33"/>
                </a:solidFill>
                <a:latin typeface="Arial"/>
              </a:rPr>
              <a:t>	</a:t>
            </a:r>
            <a:r>
              <a:rPr sz="1700" dirty="0">
                <a:solidFill>
                  <a:srgbClr val="242A33"/>
                </a:solidFill>
                <a:latin typeface="Arial"/>
              </a:rPr>
              <a:t>running."</a:t>
            </a:r>
          </a:p>
        </p:txBody>
      </p:sp>
      <p:sp>
        <p:nvSpPr>
          <p:cNvPr id="9" name="TextBox 8">
            <a:extLst>
              <a:ext uri="{FF2B5EF4-FFF2-40B4-BE49-F238E27FC236}">
                <a16:creationId xmlns:a16="http://schemas.microsoft.com/office/drawing/2014/main" id="{D45D2B99-53FD-1B5B-491E-FBC2501FC04D}"/>
              </a:ext>
            </a:extLst>
          </p:cNvPr>
          <p:cNvSpPr txBox="1"/>
          <p:nvPr/>
        </p:nvSpPr>
        <p:spPr>
          <a:xfrm>
            <a:off x="2698158" y="4193727"/>
            <a:ext cx="4357283" cy="400110"/>
          </a:xfrm>
          <a:prstGeom prst="rect">
            <a:avLst/>
          </a:prstGeom>
          <a:noFill/>
        </p:spPr>
        <p:txBody>
          <a:bodyPr wrap="none" rtlCol="0">
            <a:spAutoFit/>
          </a:bodyPr>
          <a:lstStyle/>
          <a:p>
            <a:r>
              <a:rPr lang="en-US" sz="2000" b="1" dirty="0">
                <a:solidFill>
                  <a:srgbClr val="C00000"/>
                </a:solidFill>
              </a:rPr>
              <a:t>Same Contract, Different Behavior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Stations — composition of smaller pieces</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72390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7117080" cy="529100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
        <p:nvSpPr>
          <p:cNvPr id="7" name="TextBox 6">
            <a:extLst>
              <a:ext uri="{FF2B5EF4-FFF2-40B4-BE49-F238E27FC236}">
                <a16:creationId xmlns:a16="http://schemas.microsoft.com/office/drawing/2014/main" id="{EAAF105F-F4F4-2B2A-B3DA-A3EF1489A916}"/>
              </a:ext>
            </a:extLst>
          </p:cNvPr>
          <p:cNvSpPr txBox="1"/>
          <p:nvPr/>
        </p:nvSpPr>
        <p:spPr>
          <a:xfrm>
            <a:off x="7408460" y="2667000"/>
            <a:ext cx="4526280" cy="2246769"/>
          </a:xfrm>
          <a:prstGeom prst="rect">
            <a:avLst/>
          </a:prstGeom>
          <a:noFill/>
        </p:spPr>
        <p:txBody>
          <a:bodyPr wrap="square" rtlCol="0">
            <a:spAutoFit/>
          </a:bodyPr>
          <a:lstStyle/>
          <a:p>
            <a:pPr marL="285750" indent="-285750">
              <a:spcAft>
                <a:spcPts val="1200"/>
              </a:spcAft>
              <a:buFont typeface="Arial" panose="020B0604020202020204" pitchFamily="34" charset="0"/>
              <a:buChar char="•"/>
            </a:pPr>
            <a:r>
              <a:rPr lang="en-US" sz="2400" b="1" dirty="0">
                <a:solidFill>
                  <a:srgbClr val="C00000"/>
                </a:solidFill>
              </a:rPr>
              <a:t>Variables typed by interface</a:t>
            </a:r>
          </a:p>
          <a:p>
            <a:pPr marL="285750" indent="-285750">
              <a:spcAft>
                <a:spcPts val="1200"/>
              </a:spcAft>
              <a:buFont typeface="Arial" panose="020B0604020202020204" pitchFamily="34" charset="0"/>
              <a:buChar char="•"/>
            </a:pPr>
            <a:r>
              <a:rPr lang="en-US" sz="2400" b="1" dirty="0">
                <a:solidFill>
                  <a:srgbClr val="C00000"/>
                </a:solidFill>
              </a:rPr>
              <a:t>Dependencies injected at construction via </a:t>
            </a:r>
            <a:r>
              <a:rPr lang="en-US" sz="2400" b="1" dirty="0" err="1">
                <a:solidFill>
                  <a:srgbClr val="C00000"/>
                </a:solidFill>
              </a:rPr>
              <a:t>FB_Init</a:t>
            </a:r>
            <a:endParaRPr lang="en-US" sz="2400" b="1" dirty="0">
              <a:solidFill>
                <a:srgbClr val="C00000"/>
              </a:solidFill>
            </a:endParaRPr>
          </a:p>
          <a:p>
            <a:pPr marL="285750" indent="-285750">
              <a:buFont typeface="Arial" panose="020B0604020202020204" pitchFamily="34" charset="0"/>
              <a:buChar char="•"/>
            </a:pPr>
            <a:r>
              <a:rPr lang="en-US" sz="2400" b="1" dirty="0">
                <a:solidFill>
                  <a:srgbClr val="C00000"/>
                </a:solidFill>
              </a:rPr>
              <a:t>MAIN decides what the station gets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C19D4-FAA5-7ED7-BDEF-B25171793F86}"/>
              </a:ext>
            </a:extLst>
          </p:cNvPr>
          <p:cNvSpPr>
            <a:spLocks noGrp="1"/>
          </p:cNvSpPr>
          <p:nvPr>
            <p:ph type="title"/>
          </p:nvPr>
        </p:nvSpPr>
        <p:spPr/>
        <p:txBody>
          <a:bodyPr/>
          <a:lstStyle/>
          <a:p>
            <a:r>
              <a:rPr lang="en-US" dirty="0"/>
              <a:t>Stations – Inheritance vs Composition</a:t>
            </a:r>
          </a:p>
        </p:txBody>
      </p:sp>
      <p:graphicFrame>
        <p:nvGraphicFramePr>
          <p:cNvPr id="3" name="Table 2">
            <a:extLst>
              <a:ext uri="{FF2B5EF4-FFF2-40B4-BE49-F238E27FC236}">
                <a16:creationId xmlns:a16="http://schemas.microsoft.com/office/drawing/2014/main" id="{2EA7A61B-2B64-5009-49CF-64D58C27B740}"/>
              </a:ext>
            </a:extLst>
          </p:cNvPr>
          <p:cNvGraphicFramePr>
            <a:graphicFrameLocks noGrp="1"/>
          </p:cNvGraphicFramePr>
          <p:nvPr>
            <p:extLst>
              <p:ext uri="{D42A27DB-BD31-4B8C-83A1-F6EECF244321}">
                <p14:modId xmlns:p14="http://schemas.microsoft.com/office/powerpoint/2010/main" val="1728202038"/>
              </p:ext>
            </p:extLst>
          </p:nvPr>
        </p:nvGraphicFramePr>
        <p:xfrm>
          <a:off x="457200" y="1371600"/>
          <a:ext cx="11049000" cy="3657600"/>
        </p:xfrm>
        <a:graphic>
          <a:graphicData uri="http://schemas.openxmlformats.org/drawingml/2006/table">
            <a:tbl>
              <a:tblPr firstRow="1" bandRow="1">
                <a:tableStyleId>{0817EA92-75D0-4044-A80A-286907CE0DDC}</a:tableStyleId>
              </a:tblPr>
              <a:tblGrid>
                <a:gridCol w="5524500">
                  <a:extLst>
                    <a:ext uri="{9D8B030D-6E8A-4147-A177-3AD203B41FA5}">
                      <a16:colId xmlns:a16="http://schemas.microsoft.com/office/drawing/2014/main" val="2523797585"/>
                    </a:ext>
                  </a:extLst>
                </a:gridCol>
                <a:gridCol w="5524500">
                  <a:extLst>
                    <a:ext uri="{9D8B030D-6E8A-4147-A177-3AD203B41FA5}">
                      <a16:colId xmlns:a16="http://schemas.microsoft.com/office/drawing/2014/main" val="2709802496"/>
                    </a:ext>
                  </a:extLst>
                </a:gridCol>
              </a:tblGrid>
              <a:tr h="731520">
                <a:tc>
                  <a:txBody>
                    <a:bodyPr/>
                    <a:lstStyle/>
                    <a:p>
                      <a:pPr algn="ctr"/>
                      <a:r>
                        <a:rPr lang="en-US" sz="2200" dirty="0"/>
                        <a:t>Inheritance</a:t>
                      </a:r>
                    </a:p>
                  </a:txBody>
                  <a:tcPr anchor="ctr"/>
                </a:tc>
                <a:tc>
                  <a:txBody>
                    <a:bodyPr/>
                    <a:lstStyle/>
                    <a:p>
                      <a:pPr algn="ctr"/>
                      <a:r>
                        <a:rPr lang="en-US" sz="2200" dirty="0"/>
                        <a:t>Composition</a:t>
                      </a:r>
                    </a:p>
                  </a:txBody>
                  <a:tcPr anchor="ctr"/>
                </a:tc>
                <a:extLst>
                  <a:ext uri="{0D108BD9-81ED-4DB2-BD59-A6C34878D82A}">
                    <a16:rowId xmlns:a16="http://schemas.microsoft.com/office/drawing/2014/main" val="1616476220"/>
                  </a:ext>
                </a:extLst>
              </a:tr>
              <a:tr h="731520">
                <a:tc>
                  <a:txBody>
                    <a:bodyPr/>
                    <a:lstStyle/>
                    <a:p>
                      <a:r>
                        <a:rPr lang="en-US" sz="2000" dirty="0"/>
                        <a:t>Station is a base class</a:t>
                      </a:r>
                    </a:p>
                  </a:txBody>
                  <a:tcPr/>
                </a:tc>
                <a:tc>
                  <a:txBody>
                    <a:bodyPr/>
                    <a:lstStyle/>
                    <a:p>
                      <a:r>
                        <a:rPr lang="en-US" sz="2000" dirty="0"/>
                        <a:t>Station has building blocks</a:t>
                      </a:r>
                    </a:p>
                  </a:txBody>
                  <a:tcPr/>
                </a:tc>
                <a:extLst>
                  <a:ext uri="{0D108BD9-81ED-4DB2-BD59-A6C34878D82A}">
                    <a16:rowId xmlns:a16="http://schemas.microsoft.com/office/drawing/2014/main" val="3481764555"/>
                  </a:ext>
                </a:extLst>
              </a:tr>
              <a:tr h="731520">
                <a:tc>
                  <a:txBody>
                    <a:bodyPr/>
                    <a:lstStyle/>
                    <a:p>
                      <a:r>
                        <a:rPr lang="en-US" sz="2000" dirty="0"/>
                        <a:t>Behavior comes from the parent</a:t>
                      </a:r>
                    </a:p>
                  </a:txBody>
                  <a:tcPr/>
                </a:tc>
                <a:tc>
                  <a:txBody>
                    <a:bodyPr/>
                    <a:lstStyle/>
                    <a:p>
                      <a:r>
                        <a:rPr lang="en-US" sz="2000" dirty="0"/>
                        <a:t>Behavior comes from the pieces</a:t>
                      </a:r>
                    </a:p>
                  </a:txBody>
                  <a:tcPr/>
                </a:tc>
                <a:extLst>
                  <a:ext uri="{0D108BD9-81ED-4DB2-BD59-A6C34878D82A}">
                    <a16:rowId xmlns:a16="http://schemas.microsoft.com/office/drawing/2014/main" val="3892829392"/>
                  </a:ext>
                </a:extLst>
              </a:tr>
              <a:tr h="731520">
                <a:tc>
                  <a:txBody>
                    <a:bodyPr/>
                    <a:lstStyle/>
                    <a:p>
                      <a:r>
                        <a:rPr lang="en-US" sz="2000" dirty="0"/>
                        <a:t>EXTENDS</a:t>
                      </a:r>
                    </a:p>
                  </a:txBody>
                  <a:tcPr/>
                </a:tc>
                <a:tc>
                  <a:txBody>
                    <a:bodyPr/>
                    <a:lstStyle/>
                    <a:p>
                      <a:r>
                        <a:rPr lang="en-US" sz="2000" dirty="0" err="1"/>
                        <a:t>FB_Init</a:t>
                      </a:r>
                      <a:r>
                        <a:rPr lang="en-US" sz="2000" dirty="0"/>
                        <a:t> parameters</a:t>
                      </a:r>
                    </a:p>
                  </a:txBody>
                  <a:tcPr/>
                </a:tc>
                <a:extLst>
                  <a:ext uri="{0D108BD9-81ED-4DB2-BD59-A6C34878D82A}">
                    <a16:rowId xmlns:a16="http://schemas.microsoft.com/office/drawing/2014/main" val="3695749791"/>
                  </a:ext>
                </a:extLst>
              </a:tr>
              <a:tr h="731520">
                <a:tc>
                  <a:txBody>
                    <a:bodyPr/>
                    <a:lstStyle/>
                    <a:p>
                      <a:r>
                        <a:rPr lang="en-US" sz="2000" dirty="0"/>
                        <a:t>One rigid hierarchy</a:t>
                      </a:r>
                    </a:p>
                  </a:txBody>
                  <a:tcPr/>
                </a:tc>
                <a:tc>
                  <a:txBody>
                    <a:bodyPr/>
                    <a:lstStyle/>
                    <a:p>
                      <a:r>
                        <a:rPr lang="en-US" sz="2000" dirty="0"/>
                        <a:t>Freely assembled combinations</a:t>
                      </a:r>
                    </a:p>
                  </a:txBody>
                  <a:tcPr/>
                </a:tc>
                <a:extLst>
                  <a:ext uri="{0D108BD9-81ED-4DB2-BD59-A6C34878D82A}">
                    <a16:rowId xmlns:a16="http://schemas.microsoft.com/office/drawing/2014/main" val="2773655921"/>
                  </a:ext>
                </a:extLst>
              </a:tr>
            </a:tbl>
          </a:graphicData>
        </a:graphic>
      </p:graphicFrame>
      <p:sp>
        <p:nvSpPr>
          <p:cNvPr id="4" name="TextBox 3">
            <a:extLst>
              <a:ext uri="{FF2B5EF4-FFF2-40B4-BE49-F238E27FC236}">
                <a16:creationId xmlns:a16="http://schemas.microsoft.com/office/drawing/2014/main" id="{1A953496-C312-D860-2533-4C85FC345F7E}"/>
              </a:ext>
            </a:extLst>
          </p:cNvPr>
          <p:cNvSpPr txBox="1"/>
          <p:nvPr/>
        </p:nvSpPr>
        <p:spPr>
          <a:xfrm>
            <a:off x="5243042" y="5560367"/>
            <a:ext cx="1705916" cy="461665"/>
          </a:xfrm>
          <a:prstGeom prst="rect">
            <a:avLst/>
          </a:prstGeom>
          <a:noFill/>
        </p:spPr>
        <p:txBody>
          <a:bodyPr wrap="none" rtlCol="0">
            <a:spAutoFit/>
          </a:bodyPr>
          <a:lstStyle/>
          <a:p>
            <a:r>
              <a:rPr lang="en-US" sz="2400" b="1" dirty="0">
                <a:solidFill>
                  <a:srgbClr val="C00000"/>
                </a:solidFill>
              </a:rPr>
              <a:t>IS VS HAS</a:t>
            </a:r>
          </a:p>
        </p:txBody>
      </p:sp>
    </p:spTree>
    <p:extLst>
      <p:ext uri="{BB962C8B-B14F-4D97-AF65-F5344CB8AC3E}">
        <p14:creationId xmlns:p14="http://schemas.microsoft.com/office/powerpoint/2010/main" val="20165167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14054</Words>
  <Application>Microsoft Office PowerPoint</Application>
  <PresentationFormat>Widescreen</PresentationFormat>
  <Paragraphs>1012</Paragraphs>
  <Slides>85</Slides>
  <Notes>79</Notes>
  <HiddenSlides>8</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85</vt:i4>
      </vt:variant>
    </vt:vector>
  </HeadingPairs>
  <TitlesOfParts>
    <vt:vector size="93"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Lab 3A: Composition Code Inspection</vt:lpstr>
      <vt:lpstr>Architecture – Interfaces, Building Blocks, Stations</vt:lpstr>
      <vt:lpstr>Interfaces – the contract</vt:lpstr>
      <vt:lpstr>Interfaces – contract explanation </vt:lpstr>
      <vt:lpstr>Building Blocks - Two implementations of I_AlarmHandler</vt:lpstr>
      <vt:lpstr>Stations — composition of smaller pieces</vt:lpstr>
      <vt:lpstr>Stations – Inheritance vs Composition</vt:lpstr>
      <vt:lpstr>MAIN — the construction is the architecture</vt:lpstr>
      <vt:lpstr>SOLID — concretely, in this codebase</vt:lpstr>
      <vt:lpstr>Anticipated Customer Feedback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61</cp:revision>
  <cp:lastPrinted>2016-06-28T12:26:43Z</cp:lastPrinted>
  <dcterms:created xsi:type="dcterms:W3CDTF">2023-02-27T12:44:26Z</dcterms:created>
  <dcterms:modified xsi:type="dcterms:W3CDTF">2026-05-22T17:31:32Z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