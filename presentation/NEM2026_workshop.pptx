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pPr>
              <a:defRPr/>
            </a:pPr>
            <a:r>
              <a:rPr sz="1200">
                <a:latin typeface="Arial"/>
              </a:rPr>
              <a:t>[SHOW] Live diff vs Stage 1 (5 files / +50 / −13) → Stage 2 (3 files / +65 / −48).</a:t>
            </a:r>
            <a:endParaRPr/>
          </a:p>
          <a:p>
            <a:pPr>
              <a:defRPr/>
            </a:pPr>
            <a:r>
              <a:rPr sz="1200">
                <a:latin typeface="Arial"/>
              </a:rPr>
              <a:t>[ASK — discussion] "Which is worse — scattered pollution paid by 4 stations, or centralized pollution paid by every reader of the base?"</a:t>
            </a:r>
            <a:endParaRPr/>
          </a:p>
          <a:p>
            <a:pPr>
              <a:defRPr/>
            </a:pPr>
            <a:r>
              <a:rPr sz="1200">
                <a:latin typeface="Arial"/>
              </a:rPr>
              <a:t>[POINT] There's no right answer. That's the point. Inheritance didn't eliminate the cost; it relocated it.</a:t>
            </a:r>
            <a:endParaRPr/>
          </a:p>
          <a:p>
            <a:pPr>
              <a:defRPr/>
            </a:pPr>
            <a:r>
              <a:rPr sz="1200">
                <a:latin typeface="Arial"/>
              </a:rPr>
              <a:t>[BRIDGE] This sets up CR-2, where the relocation becomes a trap.</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 MechatronicsCore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pPr>
              <a:defRPr/>
            </a:pPr>
            <a:r>
              <a:rPr sz="1200">
                <a:latin typeface="Arial"/>
              </a:rPr>
              <a:t>[DO] Read the body slowly.</a:t>
            </a:r>
            <a:endParaRPr/>
          </a:p>
          <a:p>
            <a:pPr>
              <a:defRPr/>
            </a:pPr>
            <a:r>
              <a:rPr sz="1200">
                <a:latin typeface="Arial"/>
              </a:rPr>
              <a:t>[BOOKEND] The "recognize themselves in Stage 1's drift" line is the emotional bookend to the CR-1 reveal in Block 1. Pull the thread explicitly:</a:t>
            </a:r>
            <a:endParaRPr/>
          </a:p>
          <a:p>
            <a:pPr>
              <a:defRPr/>
            </a:pPr>
            <a:r>
              <a:rPr sz="1200">
                <a:latin typeface="Arial"/>
              </a:rPr>
              <a:t>"Remember the silence in the room when half of you realized you'd copied from a station with one ack style? When you teach this, your attendees will have that same silence. That's the workshop working."</a:t>
            </a:r>
            <a:endParaRPr/>
          </a:p>
          <a:p>
            <a:pPr>
              <a:defRPr/>
            </a:pPr>
            <a:r>
              <a:rPr sz="1200">
                <a:latin typeface="Arial"/>
              </a:rPr>
              <a:t>[Q&amp;A] Immediately after. The workshop is technically over but the discussion is half the value — let it run.</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They look identical. They behave differently the moment AlarmAck is wired</a:t>
            </a:r>
            <a:endParaRPr/>
          </a:p>
          <a:p>
            <a:pPr algn="l">
              <a:lnSpc>
                <a:spcPct val="125000"/>
              </a:lnSpc>
              <a:defRPr/>
            </a:pPr>
            <a:r>
              <a:rPr sz="1300" b="0" i="0">
                <a:solidFill>
                  <a:srgbClr val="E6E8EB"/>
                </a:solidFill>
                <a:latin typeface="Consolas"/>
              </a:rPr>
              <a:t>// to a maintained switch instead of a pushbutton.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copy-pasted from a different machine years ago</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a:p>
            <a:pPr algn="l">
              <a:lnSpc>
                <a:spcPct val="125000"/>
              </a:lnSpc>
              <a:defRPr/>
            </a:pPr>
            <a:endParaRPr sz="1600" b="0" i="0">
              <a:solidFill>
                <a:srgbClr val="E6E8EB"/>
              </a:solidFill>
              <a:latin typeface="Consolas"/>
            </a:endParaRPr>
          </a:p>
          <a:p>
            <a:pPr algn="l">
              <a:lnSpc>
                <a:spcPct val="125000"/>
              </a:lnSpc>
              <a:defRPr/>
            </a:pPr>
            <a:r>
              <a:rPr sz="1600" b="0" i="0">
                <a:solidFill>
                  <a:srgbClr val="E6E8EB"/>
                </a:solidFill>
                <a:latin typeface="Consolas"/>
              </a:rPr>
              <a:t>// Probably copied from a different station's draft 18 months ago.</a:t>
            </a:r>
            <a:endParaRPr/>
          </a:p>
          <a:p>
            <a:pPr algn="l">
              <a:lnSpc>
                <a:spcPct val="125000"/>
              </a:lnSpc>
              <a:defRPr/>
            </a:pPr>
            <a:r>
              <a:rPr sz="1600" b="0" i="0">
                <a:solidFill>
                  <a:srgbClr val="E6E8EB"/>
                </a:solidFill>
                <a:latin typeface="Consolas"/>
              </a:rPr>
              <a:t>// Nobody removed it because nobody knew it was safe to remove.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but defend it as fine?</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marL="742950" lvl="1" indent="-285750">
              <a:lnSpc>
                <a:spcPct val="130000"/>
              </a:lnSpc>
              <a:spcBef>
                <a:spcPts val="400"/>
              </a:spcBef>
              <a:buFont typeface="Arial"/>
              <a:buChar char="•"/>
              <a:defRPr/>
            </a:pPr>
            <a:r>
              <a:rPr lang="en-US">
                <a:solidFill>
                  <a:srgbClr val="242A33"/>
                </a:solidFill>
              </a:rPr>
              <a:t>AllowPause</a:t>
            </a:r>
            <a:r>
              <a:rPr lang="en-US">
                <a:solidFill>
                  <a:srgbClr val="242A33"/>
                </a:solidFill>
              </a:rPr>
              <a:t>() is included in every derived FB just to accommodate one exception for Fill.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marL="742950" lvl="1" indent="-285750" algn="just">
              <a:lnSpc>
                <a:spcPct val="130000"/>
              </a:lnSpc>
              <a:spcBef>
                <a:spcPts val="400"/>
              </a:spcBef>
              <a:buFont typeface="Arial"/>
              <a:buChar char="•"/>
              <a:defRPr/>
            </a:pPr>
            <a:r>
              <a:rPr lang="en-US">
                <a:solidFill>
                  <a:srgbClr val="242A33"/>
                </a:solidFill>
              </a:rPr>
              <a:t>overriding Monitoring() requires keeping track of duplicate code in multiple locations</a:t>
            </a:r>
            <a:endParaRPr>
              <a:solidFill>
                <a:srgbClr val="242A33"/>
              </a:solidFill>
              <a:latin typeface="Arial"/>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