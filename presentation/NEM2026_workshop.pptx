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88"/>
  </p:notesMasterIdLst>
  <p:handoutMasterIdLst>
    <p:handoutMasterId r:id="rId89"/>
  </p:handoutMasterIdLst>
  <p:sldIdLst>
    <p:sldId id="256" r:id="rId6"/>
    <p:sldId id="257" r:id="rId7"/>
    <p:sldId id="258" r:id="rId8"/>
    <p:sldId id="259" r:id="rId9"/>
    <p:sldId id="260" r:id="rId10"/>
    <p:sldId id="261" r:id="rId11"/>
    <p:sldId id="332" r:id="rId12"/>
    <p:sldId id="328" r:id="rId13"/>
    <p:sldId id="262" r:id="rId14"/>
    <p:sldId id="326" r:id="rId15"/>
    <p:sldId id="327" r:id="rId16"/>
    <p:sldId id="330" r:id="rId17"/>
    <p:sldId id="329" r:id="rId18"/>
    <p:sldId id="263" r:id="rId19"/>
    <p:sldId id="333" r:id="rId20"/>
    <p:sldId id="264" r:id="rId21"/>
    <p:sldId id="265" r:id="rId22"/>
    <p:sldId id="266" r:id="rId23"/>
    <p:sldId id="267" r:id="rId24"/>
    <p:sldId id="268" r:id="rId25"/>
    <p:sldId id="269" r:id="rId26"/>
    <p:sldId id="271" r:id="rId27"/>
    <p:sldId id="270" r:id="rId28"/>
    <p:sldId id="272" r:id="rId29"/>
    <p:sldId id="273" r:id="rId30"/>
    <p:sldId id="274" r:id="rId31"/>
    <p:sldId id="275" r:id="rId32"/>
    <p:sldId id="276" r:id="rId33"/>
    <p:sldId id="277" r:id="rId34"/>
    <p:sldId id="278" r:id="rId35"/>
    <p:sldId id="279" r:id="rId36"/>
    <p:sldId id="280" r:id="rId37"/>
    <p:sldId id="334" r:id="rId38"/>
    <p:sldId id="335" r:id="rId39"/>
    <p:sldId id="337" r:id="rId40"/>
    <p:sldId id="338" r:id="rId41"/>
    <p:sldId id="282" r:id="rId42"/>
    <p:sldId id="281" r:id="rId43"/>
    <p:sldId id="336" r:id="rId44"/>
    <p:sldId id="283" r:id="rId45"/>
    <p:sldId id="339" r:id="rId46"/>
    <p:sldId id="285" r:id="rId47"/>
    <p:sldId id="286" r:id="rId48"/>
    <p:sldId id="340" r:id="rId49"/>
    <p:sldId id="287" r:id="rId50"/>
    <p:sldId id="289" r:id="rId51"/>
    <p:sldId id="288" r:id="rId52"/>
    <p:sldId id="290" r:id="rId53"/>
    <p:sldId id="341"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 id="315" r:id="rId79"/>
    <p:sldId id="316" r:id="rId80"/>
    <p:sldId id="317" r:id="rId81"/>
    <p:sldId id="318" r:id="rId82"/>
    <p:sldId id="319" r:id="rId83"/>
    <p:sldId id="320" r:id="rId84"/>
    <p:sldId id="321" r:id="rId85"/>
    <p:sldId id="322" r:id="rId86"/>
    <p:sldId id="323" r:id="rId87"/>
  </p:sldIdLst>
  <p:sldSz cx="12192000" cy="6858000"/>
  <p:notesSz cx="6797675" cy="9926638"/>
  <p:custDataLst>
    <p:tags r:id="rId9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8758" autoAdjust="0"/>
  </p:normalViewPr>
  <p:slideViewPr>
    <p:cSldViewPr snapToObjects="1" showGuides="1">
      <p:cViewPr varScale="1">
        <p:scale>
          <a:sx n="56" d="100"/>
          <a:sy n="56" d="100"/>
        </p:scale>
        <p:origin x="974" y="5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notesMaster" Target="notesMasters/notesMaster1.xml"/><Relationship Id="rId89" Type="http://schemas.openxmlformats.org/officeDocument/2006/relationships/handoutMaster" Target="handoutMasters/handoutMaster1.xml"/><Relationship Id="rId90" Type="http://schemas.openxmlformats.org/officeDocument/2006/relationships/tags" Target="tags/tag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21.05.2026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21.05.2026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The question. Wait for hands. You should see most of the room.</a:t>
            </a:r>
          </a:p>
          <a:p>
            <a:r>
              <a:rPr sz="1200" dirty="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dirty="0">
                <a:latin typeface="Arial"/>
              </a:rPr>
              <a:t>[REPEAT EXPECTATIONS] "We move at FAE pace. But I want lots of discussion. If something feels wrong or you've seen it work differently, say so."</a:t>
            </a:r>
            <a:r>
              <a:rPr lang="en-US" sz="1200" dirty="0">
                <a:latin typeface="Arial"/>
              </a:rPr>
              <a:t> What is FAE?</a:t>
            </a:r>
            <a:endParaRPr sz="1200" dirty="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`stage-1-procedural`. Open all four station FBs side by side: </a:t>
            </a:r>
            <a:r>
              <a:rPr sz="1200" dirty="0" err="1">
                <a:latin typeface="Arial"/>
              </a:rPr>
              <a:t>FB_StationFill</a:t>
            </a:r>
            <a:r>
              <a:rPr sz="1200" dirty="0">
                <a:latin typeface="Arial"/>
              </a:rPr>
              <a:t>, </a:t>
            </a:r>
            <a:r>
              <a:rPr sz="1200" dirty="0" err="1">
                <a:latin typeface="Arial"/>
              </a:rPr>
              <a:t>FB_StationCap</a:t>
            </a:r>
            <a:r>
              <a:rPr sz="1200" dirty="0">
                <a:latin typeface="Arial"/>
              </a:rPr>
              <a:t>, </a:t>
            </a:r>
            <a:r>
              <a:rPr sz="1200" dirty="0" err="1">
                <a:latin typeface="Arial"/>
              </a:rPr>
              <a:t>FB_StationLabel</a:t>
            </a:r>
            <a:r>
              <a:rPr sz="1200" dirty="0">
                <a:latin typeface="Arial"/>
              </a:rPr>
              <a:t>, </a:t>
            </a:r>
            <a:r>
              <a:rPr sz="1200" dirty="0" err="1">
                <a:latin typeface="Arial"/>
              </a:rPr>
              <a:t>FB_StationInspect</a:t>
            </a:r>
            <a:r>
              <a:rPr sz="1200" dirty="0">
                <a:latin typeface="Arial"/>
              </a:rPr>
              <a:t>.</a:t>
            </a:r>
          </a:p>
          <a:p>
            <a:r>
              <a:rPr sz="1200" dirty="0">
                <a:latin typeface="Arial"/>
              </a:rPr>
              <a:t>[SAY — when you click forward]
"This is the architecture you've been writing for 20 years. IEC 61131-3 was designed for it. There's nothing wrong with it. Today we feel where it stops scaling."</a:t>
            </a:r>
          </a:p>
          <a:p>
            <a:r>
              <a:rPr sz="1200" dirty="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6F31-9137-8B36-BFEA-084EBB1ED9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2B9EA2-5951-B444-026C-1BE847739D9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7D3CBDEB-1315-EF8B-57EC-8AD9D64F9B0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F8EA6340-A0F5-BB6F-C180-654B64F7D84C}"/>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833129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130AB-3C86-1D3C-5C07-B7CAFE2F92F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915579-9556-133E-09D8-61F1A7820B7E}"/>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36B8D81-1DF2-F0B1-9AB0-C822A4A0B5D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A9FC0823-7B1C-FE3F-1351-25FB44857CA8}"/>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289845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5615A-3541-8ED9-7BE3-4A8FC1833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07CBD6-76C0-3F02-8DFB-137AB04B9841}"/>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4F67DDB5-1750-E17D-BB83-364D0D0BDE7F}"/>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C9450F1-5802-D24E-E1E5-5F566875FC2F}"/>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72424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D8B49-EEBC-4C1C-DC82-2FB1AC6D3CA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BAF5C4F-678A-2BA2-CF5F-28C00D71CF0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67BF6ACC-DAFF-CCB1-61CD-F70E2818A3AD}"/>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D7CCBE64-8FBF-5EFF-BDCF-B1022EA81BB0}"/>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980567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9609-8ED3-B1B5-A965-A1B20D1C2F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0CE45D-3155-8E37-44B3-519C5FF40A28}"/>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50BF5F1-4769-6020-CB31-88FB78793FD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B7A35715-6883-F333-EC8E-7C0F4ABF1A31}"/>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2949456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AB8FA-4674-8B86-4666-7532109738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C5D4D57-A6E9-AEEE-842F-7C3F892F221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9D184599-65E7-7E29-0D2D-C26BC405227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7E05AC9-E1D7-4F02-2886-BEB12737DCB1}"/>
              </a:ext>
            </a:extLst>
          </p:cNvPr>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extLst>
      <p:ext uri="{BB962C8B-B14F-4D97-AF65-F5344CB8AC3E}">
        <p14:creationId xmlns:p14="http://schemas.microsoft.com/office/powerpoint/2010/main" val="705918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"Both work. Neither is wrong. They diverge for no reason."</a:t>
            </a:r>
          </a:p>
          <a:p>
            <a:r>
              <a:rPr sz="1200" dirty="0">
                <a:latin typeface="Arial"/>
              </a:rPr>
              <a:t>[CONTEXT] Someone clearly copied Label from a different project where 100/200/300 was the convention, and never normalized it.</a:t>
            </a:r>
          </a:p>
          <a:p>
            <a:r>
              <a:rPr sz="1200" dirty="0">
                <a:latin typeface="Arial"/>
              </a:rPr>
              <a:t>[LESSON] The architecture has no opinion on naming. Conventions are tribal — they live in your head, not the compiler.</a:t>
            </a:r>
          </a:p>
          <a:p>
            <a:r>
              <a:rPr sz="1200" dirty="0">
                <a:latin typeface="Arial"/>
              </a:rPr>
              <a:t>[FORESHADOW] Stage 2's base class will normalize this for free. You'll see it in Block 2.</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Don't dwell — show it and move on.</a:t>
            </a:r>
          </a:p>
          <a:p>
            <a:r>
              <a:rPr sz="1200" dirty="0">
                <a:latin typeface="Arial"/>
              </a:rPr>
              <a:t>[LESSON] In procedural code, dead state lingers because removing it requires reading every reference everywhere. Nobody owns the cleanup.</a:t>
            </a:r>
          </a:p>
          <a:p>
            <a:r>
              <a:rPr sz="1200" dirty="0">
                <a:latin typeface="Arial"/>
              </a:rPr>
              <a:t>[FORESHADOW] In Stage 2 the base class won't carry </a:t>
            </a:r>
            <a:r>
              <a:rPr sz="1200" dirty="0" err="1">
                <a:latin typeface="Arial"/>
              </a:rPr>
              <a:t>ManualStep</a:t>
            </a:r>
            <a:r>
              <a:rPr sz="1200" dirty="0">
                <a:latin typeface="Arial"/>
              </a:rPr>
              <a:t>, so it can't propagate. In Stage 3 the FB has explicit dependencies; an unused field is loud.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CR-1 verbatim]
"Add a global Pause input. When </a:t>
            </a:r>
            <a:r>
              <a:rPr sz="1200" dirty="0" err="1">
                <a:latin typeface="Arial"/>
              </a:rPr>
              <a:t>ModePause</a:t>
            </a:r>
            <a:r>
              <a:rPr sz="1200" dirty="0">
                <a:latin typeface="Arial"/>
              </a:rPr>
              <a:t> is TRUE, every station should hold. Exception: the Fill station must ignore Pause mid-cycle — pausing a half-filled bottle ruins the product."</a:t>
            </a:r>
          </a:p>
          <a:p>
            <a:r>
              <a:rPr sz="1200" dirty="0">
                <a:latin typeface="Arial"/>
              </a:rPr>
              <a:t>[THE TRAP] Most attendees miss the Fill exception on first read and write a uniform Pause guard.</a:t>
            </a:r>
          </a:p>
          <a:p>
            <a:r>
              <a:rPr sz="1200" dirty="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After attendees finish (or you call time): `git switch stage-1-cr1-applied` and `git diff stage-1-procedural --stat` on screen.</a:t>
            </a:r>
          </a:p>
          <a:p>
            <a:r>
              <a:rPr sz="1200" dirty="0">
                <a:latin typeface="Arial"/>
              </a:rPr>
              <a:t>[DO] Write the 5 / +50 / −13 number on the physical scoreboard whiteboard.</a:t>
            </a:r>
          </a:p>
          <a:p>
            <a:r>
              <a:rPr sz="1200" dirty="0">
                <a:latin typeface="Arial"/>
              </a:rPr>
              <a:t>[SAY] "This is what your codebase looks like after one CR."</a:t>
            </a:r>
          </a:p>
          <a:p>
            <a:r>
              <a:rPr sz="1200" dirty="0">
                <a:latin typeface="Arial"/>
              </a:rPr>
              <a:t>[ASK] "Show of hands — who got Fill's mid-cycle exception right on the first try?" Most won't.</a:t>
            </a:r>
          </a:p>
          <a:p>
            <a:r>
              <a:rPr sz="1200" dirty="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[WHEN] After ~10 minutes, when most attendees are mid-fix. INTERRUPT.</a:t>
            </a:r>
          </a:p>
          <a:p>
            <a:r>
              <a:rPr sz="1200" dirty="0">
                <a:latin typeface="Arial"/>
              </a:rPr>
              <a:t>[ASK — two questions, in sequence]
1. "How many of you copied your Pause logic into Label from Cap? From Fill? From Inspect?" → mixed hands.
2. "Now: who has a level-based </a:t>
            </a:r>
            <a:r>
              <a:rPr sz="1200" dirty="0" err="1">
                <a:latin typeface="Arial"/>
              </a:rPr>
              <a:t>AlarmAck</a:t>
            </a:r>
            <a:r>
              <a:rPr sz="1200" dirty="0">
                <a:latin typeface="Arial"/>
              </a:rPr>
              <a:t> and who has an R_TRIG?" → the room goes quiet because some attendees realize they copied from a station with one ack style and pasted into one with the other.</a:t>
            </a:r>
            <a:r>
              <a:rPr lang="en-US" sz="1200" dirty="0">
                <a:latin typeface="Arial"/>
              </a:rPr>
              <a:t>  </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latin typeface="+mn-lt"/>
              </a:rPr>
              <a:t>3. In concentrating on Pause, you may have missed the alarm ack behavior differences.</a:t>
            </a:r>
            <a:endParaRPr sz="1200" dirty="0">
              <a:latin typeface="Arial"/>
            </a:endParaRPr>
          </a:p>
          <a:p>
            <a:r>
              <a:rPr sz="1200" dirty="0">
                <a:latin typeface="Arial"/>
              </a:rPr>
              <a:t>[DELIVER THE LESSON]
"That's the procedural maintenance trap. Drift you didn't know was there. The system itself failed to enforce consistency. You weren't writing buggy code — the architecture failed to help you."</a:t>
            </a:r>
          </a:p>
          <a:p>
            <a:r>
              <a:rPr sz="1200" dirty="0">
                <a:latin typeface="Arial"/>
              </a:rPr>
              <a:t>[DO] Let the silence sit for 5 seconds before moving on. The realization IS the lesson; don't trample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[FRAME] Acknowledge that process catches some drift — then sharpen the point: process catches drift you notice; architecture catches the drift you don’t.</a:t>
            </a:r>
            <a:endParaRPr lang="en-US" sz="1200" dirty="0">
              <a:latin typeface="Arial"/>
            </a:endParaRPr>
          </a:p>
          <a:p>
            <a:r>
              <a:rPr sz="1200" dirty="0">
                <a:latin typeface="Arial"/>
              </a:rPr>
              <a:t>[CALLBACK] Pair this with the line "Discipline is bounded; architecture is unbounded." You'll use it again in Block 2.</a:t>
            </a:r>
            <a:endParaRPr lang="en-US" sz="1200" dirty="0">
              <a:latin typeface="Arial"/>
            </a:endParaRPr>
          </a:p>
          <a:p>
            <a:r>
              <a:rPr lang="en-US" sz="1200" dirty="0">
                <a:latin typeface="Arial"/>
              </a:rPr>
              <a:t>Bounded means limited.  There is a limit to how effective team discipline is, the limit being human error.  </a:t>
            </a:r>
            <a:endParaRPr sz="1200" dirty="0">
              <a:latin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CR-2 aloud, emphasize the phrase]
"Two axes of variation at once. Alarm policy AND sequencer topology. Only one station, but the patterns have to coexist with the others."</a:t>
            </a:r>
          </a:p>
          <a:p>
            <a:r>
              <a:rPr sz="1200" dirty="0">
                <a:latin typeface="Arial"/>
              </a:rPr>
              <a:t>[DO] Set 15-minute timer. Walk the room.</a:t>
            </a:r>
          </a:p>
          <a:p>
            <a:r>
              <a:rPr sz="1200" dirty="0">
                <a:latin typeface="Arial"/>
              </a:rPr>
              <a:t>[WATCH FOR] The attempt: rewriting </a:t>
            </a:r>
            <a:r>
              <a:rPr sz="1200" dirty="0" err="1">
                <a:latin typeface="Arial"/>
              </a:rPr>
              <a:t>Inspect's</a:t>
            </a:r>
            <a:r>
              <a:rPr sz="1200" dirty="0">
                <a:latin typeface="Arial"/>
              </a:rPr>
              <a:t> CASE machine end-to-end with </a:t>
            </a:r>
            <a:r>
              <a:rPr sz="1200" dirty="0" err="1">
                <a:latin typeface="Arial"/>
              </a:rPr>
              <a:t>QualityFlag</a:t>
            </a:r>
            <a:r>
              <a:rPr sz="1200" dirty="0">
                <a:latin typeface="Arial"/>
              </a:rPr>
              <a:t>/</a:t>
            </a:r>
            <a:r>
              <a:rPr sz="1200" dirty="0" err="1">
                <a:latin typeface="Arial"/>
              </a:rPr>
              <a:t>QualityCode</a:t>
            </a:r>
            <a:r>
              <a:rPr sz="1200" dirty="0">
                <a:latin typeface="Arial"/>
              </a:rPr>
              <a:t>/</a:t>
            </a:r>
            <a:r>
              <a:rPr sz="1200" dirty="0" err="1">
                <a:latin typeface="Arial"/>
              </a:rPr>
              <a:t>QualityText</a:t>
            </a:r>
            <a:r>
              <a:rPr sz="1200" dirty="0">
                <a:latin typeface="Arial"/>
              </a:rPr>
              <a:t> outputs and </a:t>
            </a:r>
            <a:r>
              <a:rPr sz="1200" dirty="0" err="1">
                <a:latin typeface="Arial"/>
              </a:rPr>
              <a:t>CameraDone</a:t>
            </a:r>
            <a:r>
              <a:rPr sz="1200" dirty="0">
                <a:latin typeface="Arial"/>
              </a:rPr>
              <a:t>/</a:t>
            </a:r>
            <a:r>
              <a:rPr sz="1200" dirty="0" err="1">
                <a:latin typeface="Arial"/>
              </a:rPr>
              <a:t>RejectDone</a:t>
            </a:r>
            <a:r>
              <a:rPr sz="1200" dirty="0">
                <a:latin typeface="Arial"/>
              </a:rPr>
              <a:t> parallel coordination inside step 10.</a:t>
            </a:r>
          </a:p>
          <a:p>
            <a:r>
              <a:rPr sz="1200" dirty="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a:t>
            </a:r>
            <a:r>
              <a:rPr sz="1200" dirty="0" err="1">
                <a:latin typeface="Arial"/>
              </a:rPr>
              <a:t>Inspect's</a:t>
            </a:r>
            <a:r>
              <a:rPr sz="1200" dirty="0">
                <a:latin typeface="Arial"/>
              </a:rPr>
              <a:t> CASE.)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"This isn't just duplication of the base — it's duplication of NEW patterns each time they appear. Stage 2 will help with this. Stage 3 will help even more."</a:t>
            </a:r>
          </a:p>
          <a:p>
            <a:r>
              <a:rPr sz="1200" dirty="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"That looked small. Anyone want to defend it as 'fine'?" Some attendees will defend it. Let them — then sharpen.</a:t>
            </a:r>
          </a:p>
          <a:p>
            <a:r>
              <a:rPr sz="1200" dirty="0">
                <a:latin typeface="Arial"/>
              </a:rPr>
              <a:t>[FOLLOW-UP] "Now imagine the logging requirements change in six months — say we want to write to a file instead of an in-memory buffer. Where do you change the code?" (Two places.) "And if you forget one of them?" (Drift.)</a:t>
            </a:r>
          </a:p>
          <a:p>
            <a:r>
              <a:rPr sz="1200" dirty="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`stage-1-complete`. Show `git diff stage-1-procedural --stat` live.</a:t>
            </a:r>
          </a:p>
          <a:p>
            <a:r>
              <a:rPr sz="1200" dirty="0">
                <a:latin typeface="Arial"/>
              </a:rPr>
              <a:t>[SAY] "That's what your codebase looks like after a year of cross-cutting CRs. Five files modified, growth concentrated in Inspect, duplication on every cross-cutting concern."</a:t>
            </a:r>
          </a:p>
          <a:p>
            <a:r>
              <a:rPr sz="1200" dirty="0">
                <a:latin typeface="Arial"/>
              </a:rPr>
              <a:t>[ASK — the bridge to Block 2] "Stage 1 isn't broken. It works. So why are we moving on?"</a:t>
            </a:r>
          </a:p>
          <a:p>
            <a:r>
              <a:rPr sz="1200" dirty="0">
                <a:latin typeface="Arial"/>
              </a:rPr>
              <a:t>[ANTICIPATED ANSWERS — capture on whiteboard]
- "Drift between files."
- "Can't enforce consistency."
- "Duplication compounds."</a:t>
            </a:r>
          </a:p>
          <a:p>
            <a:r>
              <a:rPr sz="1200" dirty="0">
                <a:latin typeface="Arial"/>
              </a:rPr>
              <a:t>[CLOSE] "Right. Now we'll see what happens when we try to fix all of that with a base class. Spoiler: we'll fix some of it. We'll create new problems too."</a:t>
            </a:r>
          </a:p>
          <a:p>
            <a:r>
              <a:rPr sz="1200" dirty="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lang="en-US" sz="1200" dirty="0">
                <a:latin typeface="Arial"/>
              </a:rPr>
              <a:t>[BEFORE] Ask the audience for information on their skill level of OOP because that will dictate how much to dwell on some pages</a:t>
            </a:r>
          </a:p>
          <a:p>
            <a:r>
              <a:rPr sz="1200" dirty="0">
                <a:latin typeface="Arial"/>
              </a:rPr>
              <a:t>[BEFORE] Presenter on `stage-2-inheritance`. </a:t>
            </a:r>
            <a:r>
              <a:rPr sz="1200" dirty="0" err="1">
                <a:latin typeface="Arial"/>
              </a:rPr>
              <a:t>FB_StationBase</a:t>
            </a:r>
            <a:r>
              <a:rPr sz="1200" dirty="0">
                <a:latin typeface="Arial"/>
              </a:rPr>
              <a:t> and </a:t>
            </a:r>
            <a:r>
              <a:rPr sz="1200" dirty="0" err="1">
                <a:latin typeface="Arial"/>
              </a:rPr>
              <a:t>FB_StationFill</a:t>
            </a:r>
            <a:r>
              <a:rPr sz="1200" dirty="0">
                <a:latin typeface="Arial"/>
              </a:rPr>
              <a:t> side by side.</a:t>
            </a:r>
          </a:p>
          <a:p>
            <a:r>
              <a:rPr sz="1200" dirty="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dirty="0">
              <a:latin typeface="Arial"/>
            </a:endParaRPr>
          </a:p>
          <a:p>
            <a:pPr marL="0" indent="0">
              <a:buNone/>
            </a:pPr>
            <a:endParaRPr sz="1200" dirty="0">
              <a:latin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a:t>
            </a:r>
            <a:r>
              <a:rPr sz="1200" dirty="0" err="1">
                <a:latin typeface="Arial"/>
              </a:rPr>
              <a:t>FB_StationBase</a:t>
            </a:r>
            <a:r>
              <a:rPr sz="1200" dirty="0">
                <a:latin typeface="Arial"/>
              </a:rPr>
              <a:t> tab, move on.</a:t>
            </a:r>
          </a:p>
          <a:p>
            <a:r>
              <a:rPr sz="1200" dirty="0">
                <a:latin typeface="Arial"/>
              </a:rPr>
              <a:t>[SEED] "The common path becomes a constraint when ANY child needs to opt out." Plant it now — water it on the CR-2 slides.</a:t>
            </a:r>
          </a:p>
          <a:p>
            <a:r>
              <a:rPr sz="1200" dirty="0">
                <a:latin typeface="Arial"/>
              </a:rPr>
              <a:t>[CONTEXT — only if asked] </a:t>
            </a:r>
            <a:r>
              <a:rPr sz="1200" dirty="0" err="1">
                <a:latin typeface="Arial"/>
              </a:rPr>
              <a:t>FB_init</a:t>
            </a:r>
            <a:r>
              <a:rPr sz="1200" dirty="0">
                <a:latin typeface="Arial"/>
              </a:rPr>
              <a:t> is </a:t>
            </a:r>
            <a:r>
              <a:rPr sz="1200" dirty="0" err="1">
                <a:latin typeface="Arial"/>
              </a:rPr>
              <a:t>TwinCAT's</a:t>
            </a:r>
            <a:r>
              <a:rPr sz="1200" dirty="0">
                <a:latin typeface="Arial"/>
              </a:rPr>
              <a:t> constructor: runs once at instantiation, takes parameters that never change. Use it for names, sizes, references the FB will hold for its lifetime.</a:t>
            </a:r>
          </a:p>
          <a:p>
            <a:r>
              <a:rPr sz="1200" dirty="0">
                <a:latin typeface="Arial"/>
              </a:rPr>
              <a:t>[FRAMEWORK] Stage 2 builds on Beckhoff USA's SPT-Libraries (</a:t>
            </a:r>
            <a:r>
              <a:rPr sz="1200" dirty="0" err="1">
                <a:latin typeface="Arial"/>
              </a:rPr>
              <a:t>FB_ComponentBase</a:t>
            </a:r>
            <a:r>
              <a:rPr sz="1200" dirty="0">
                <a:latin typeface="Arial"/>
              </a:rPr>
              <a:t>). Production-grade, not academic.</a:t>
            </a:r>
            <a:endParaRPr lang="en-US" sz="1200" dirty="0">
              <a:latin typeface="Arial"/>
            </a:endParaRPr>
          </a:p>
          <a:p>
            <a:r>
              <a:rPr lang="en-US" sz="1200" dirty="0">
                <a:latin typeface="Arial"/>
              </a:rPr>
              <a:t>PS There is a fourth edition of IEC 61131-3 (2025)</a:t>
            </a:r>
            <a:endParaRPr sz="1200" dirty="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9CA9D-8B4B-6D57-4936-08016A94D9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51EFA1-E98E-CE36-11A4-5D4B7B15E136}"/>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8E158A2D-A5EE-F68B-DC96-A40FA8B676B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F39013-EA5F-BAAB-3E10-B6421E7A74D2}"/>
              </a:ext>
            </a:extLst>
          </p:cNvPr>
          <p:cNvSpPr>
            <a:spLocks noGrp="1"/>
          </p:cNvSpPr>
          <p:nvPr>
            <p:ph type="body" sz="quarter" idx="3"/>
          </p:nvPr>
        </p:nvSpPr>
        <p:spPr/>
        <p:txBody>
          <a:bodyPr/>
          <a:lstStyle/>
          <a:p>
            <a:r>
              <a:t>[ASK] "Where is Monitoring() called? Trace it." Take guesses.</a:t>
            </a:r>
          </a:p>
          <a:p>
            <a:r>
              <a:t>[ANTICIPATED ANSWERS]</a:t>
            </a:r>
          </a:p>
          <a:p>
            <a:r>
              <a:t>  - "From the station's body call." → partial; the body call drives the FB but doesn't directly invoke Monitoring().</a:t>
            </a:r>
          </a:p>
          <a:p>
            <a:r>
              <a:t>  - "From CyclicLogic()." → closer.</a:t>
            </a:r>
          </a:p>
          <a:p>
            <a:r>
              <a:t>  - "From FB_ComponentBase's framework lifecycle." → correct.</a:t>
            </a:r>
          </a:p>
          <a:p>
            <a:r>
              <a:t>[DO] Open FB_ComponentBase (SPT) in the library tree. Show that CyclicLogic() — provided by the framework — invokes the virtual hooks in order: Monitoring(), ExecuteSequence(), UpdateHmiStatus().</a:t>
            </a:r>
          </a:p>
          <a:p>
            <a:r>
              <a:t>[KEY POINT] You don't call Monitoring() yourself. The framework calls it for you, every cycle. That's the Template Method pattern — we'll name it in Block 4.</a:t>
            </a:r>
          </a:p>
          <a:p>
            <a:r>
              <a:t>[IF ASKED] "What if I don't want Monitoring() to run?" → "Override it and return early. There's no opt-out shorter than that." Plant this — it's the seam CR-2 will exploit and then break.</a:t>
            </a:r>
          </a:p>
        </p:txBody>
      </p:sp>
    </p:spTree>
    <p:extLst>
      <p:ext uri="{BB962C8B-B14F-4D97-AF65-F5344CB8AC3E}">
        <p14:creationId xmlns:p14="http://schemas.microsoft.com/office/powerpoint/2010/main" val="21511106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A828-3ACF-7900-BBB6-1A667FEA85A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4F1E55-6E5D-6B50-FCD7-3784574C5430}"/>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2D3CC0B7-20A9-80CA-1367-ADF86BBD7BB7}"/>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A339AFB-0892-6777-E9FC-E9C7CD5E85E7}"/>
              </a:ext>
            </a:extLst>
          </p:cNvPr>
          <p:cNvSpPr>
            <a:spLocks noGrp="1"/>
          </p:cNvSpPr>
          <p:nvPr>
            <p:ph type="body" sz="quarter" idx="3"/>
          </p:nvPr>
        </p:nvSpPr>
        <p:spPr/>
        <p:txBody>
          <a:bodyPr/>
          <a:lstStyle/>
          <a:p>
            <a:r>
              <a:rPr lang="en-US" sz="1200" dirty="0">
                <a:latin typeface="+mn-lt"/>
              </a:rPr>
              <a:t>[DO] Read the requirement. Set 10-minute timer. Walk the room. Most attendees start with Option A — feels more "inheritance-y."</a:t>
            </a:r>
          </a:p>
          <a:p>
            <a:r>
              <a:rPr lang="en-US" sz="1200" dirty="0">
                <a:latin typeface="+mn-lt"/>
              </a:rPr>
              <a:t>[ASK MID-EXERCISE] When attendees are stuck, walk and ask: "How are you handling the exception?" Both options will surface.</a:t>
            </a:r>
          </a:p>
          <a:p>
            <a:r>
              <a:rPr lang="en-US" sz="1200" dirty="0">
                <a:latin typeface="+mn-lt"/>
              </a:rPr>
              <a:t>[SAY OUT LOUD WHEN BOTH SURFACE]
"Option A — </a:t>
            </a:r>
            <a:r>
              <a:rPr lang="en-US" sz="1200" dirty="0" err="1">
                <a:latin typeface="+mn-lt"/>
              </a:rPr>
              <a:t>AllowPause</a:t>
            </a:r>
            <a:r>
              <a:rPr lang="en-US" sz="1200" dirty="0">
                <a:latin typeface="+mn-lt"/>
              </a:rPr>
              <a:t> exists for ONE child's exception, but Cap, Label, Inspect inherit it forever. Pollution. Option B — duplicates base mode logic in Fill. Drift risk. Pick your poison."</a:t>
            </a:r>
          </a:p>
          <a:p>
            <a:r>
              <a:rPr lang="en-US" sz="1200" dirty="0">
                <a:latin typeface="+mn-lt"/>
              </a:rPr>
              <a:t>[REVEAL #2] This is the workshop's second reveal: inheritance trades one cost for another. Stage 1 had per-station pollution; Stage 2 puts the pollution on the base.</a:t>
            </a:r>
          </a:p>
        </p:txBody>
      </p:sp>
    </p:spTree>
    <p:extLst>
      <p:ext uri="{BB962C8B-B14F-4D97-AF65-F5344CB8AC3E}">
        <p14:creationId xmlns:p14="http://schemas.microsoft.com/office/powerpoint/2010/main" val="3929665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[SHOW] Live diff vs Stage 1 (5 files / +50 / −13) → Stage 2 (3 files / +65 / −48).</a:t>
            </a:r>
          </a:p>
          <a:p>
            <a:r>
              <a:rPr sz="1200" dirty="0">
                <a:latin typeface="Arial"/>
              </a:rPr>
              <a:t>[ASK — discussion] "Which is worse — scattered pollution paid by 4 stations, or centralized pollution paid by every reader of the base?"</a:t>
            </a:r>
          </a:p>
          <a:p>
            <a:r>
              <a:rPr sz="1200" dirty="0">
                <a:latin typeface="Arial"/>
              </a:rPr>
              <a:t>[POINT] There's no right answer. That's the point. Inheritance didn't eliminate the cost; it relocated it.</a:t>
            </a:r>
          </a:p>
          <a:p>
            <a:r>
              <a:rPr sz="1200" dirty="0">
                <a:latin typeface="Arial"/>
              </a:rPr>
              <a:t>[BRIDGE] This sets up CR-2, where the relocation becomes a trap.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077BC-21A7-6369-37DA-C9D96496034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0E20E2-E20E-2873-5D62-7E2D93C71BE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19081438-3B04-BBEA-4420-32D74B90208C}"/>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CD5D213-D2B9-2DEE-E4C4-804C9AB7110C}"/>
              </a:ext>
            </a:extLst>
          </p:cNvPr>
          <p:cNvSpPr>
            <a:spLocks noGrp="1"/>
          </p:cNvSpPr>
          <p:nvPr>
            <p:ph type="body" sz="quarter" idx="3"/>
          </p:nvPr>
        </p:nvSpPr>
        <p:spPr/>
        <p:txBody>
          <a:bodyPr/>
          <a:lstStyle/>
          <a:p>
            <a:r>
              <a:t>[PLAN TO SLOW DOWN] This is the workshop's hardest moment. Budget 25 min, not the printed 20.</a:t>
            </a:r>
          </a:p>
          <a:p>
            <a:r>
              <a:t>[BEFORE] Read CR-2 aloud again: "Inspect needs a non-faulting alarm AND parallel state-10. Same requirement as Stage 1, applied via inheritance."</a:t>
            </a:r>
          </a:p>
          <a:p>
            <a:r>
              <a:t>[DO] Set a 15-minute timer. "I'll be available — this one's harder." Walk the room.</a:t>
            </a:r>
          </a:p>
          <a:p>
            <a:r>
              <a:t>[WATCH FOR] Most attendees start by overriding Monitoring() and adding quality-flag logic AFTER calling SUPER^.Monitoring(). That's broken — the base latches the alarm before the override can intercept.</a:t>
            </a:r>
          </a:p>
          <a:p>
            <a:r>
              <a:t>[LEADING QUESTIONS — use only when stuck]</a:t>
            </a:r>
          </a:p>
          <a:p>
            <a:r>
              <a:t>  1. "When does SUPER^.Monitoring() latch the alarm?" → every time RaiseStationAlarm() is called.</a:t>
            </a:r>
          </a:p>
          <a:p>
            <a:r>
              <a:t>  2. "What does the quality-flag policy say should happen on a defect?" → don't latch.</a:t>
            </a:r>
          </a:p>
          <a:p>
            <a:r>
              <a:t>  3. "So what does that imply about calling SUPER?" → you can't.</a:t>
            </a:r>
          </a:p>
          <a:p>
            <a:r>
              <a:t>  4. "If you don't call SUPER, what do you lose?" → mode resolution and alarm-ack from the base — duplicate them in the override.</a:t>
            </a:r>
          </a:p>
          <a:p>
            <a:r>
              <a:t>[REVEAL] The discovery is on slide 45. DON'T deliver it here — they have to feel the corner first.</a:t>
            </a:r>
          </a:p>
        </p:txBody>
      </p:sp>
    </p:spTree>
    <p:extLst>
      <p:ext uri="{BB962C8B-B14F-4D97-AF65-F5344CB8AC3E}">
        <p14:creationId xmlns:p14="http://schemas.microsoft.com/office/powerpoint/2010/main" val="218418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2143E-2E61-C3AB-C91A-07C2EEBDEAB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92402A-21A2-4462-0510-C433BD9CD3BC}"/>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FAE0A10A-B8AE-F4AF-175C-551FFF4ABA98}"/>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AC17935-A388-C745-3ED5-A3647ECE5EB2}"/>
              </a:ext>
            </a:extLst>
          </p:cNvPr>
          <p:cNvSpPr>
            <a:spLocks noGrp="1"/>
          </p:cNvSpPr>
          <p:nvPr>
            <p:ph type="body" sz="quarter" idx="3"/>
          </p:nvPr>
        </p:nvSpPr>
        <p:spPr/>
        <p:txBody>
          <a:bodyPr/>
          <a:lstStyle/>
          <a:p>
            <a:r>
              <a:t>[BEFORE] `git switch cr3-applied` on the presenter. FB_StationBase open; Fill and Inspect in adjacent tabs.</a:t>
            </a:r>
          </a:p>
          <a:p>
            <a:r>
              <a:t>[SAY] "Selective logging — only Fill and Inspect need it. Cap and Label don't. The inheritance path: storage on the base, virtual LoggingEnabled flag, override to TRUE in Fill and Inspect."</a:t>
            </a:r>
          </a:p>
          <a:p>
            <a:r>
              <a:t>[TIME] 5 minutes of reading, not writing. They're comparing branches.</a:t>
            </a:r>
          </a:p>
          <a:p>
            <a: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p>
          <a:p>
            <a:r>
              <a:t>[PACING] If behind, cut this to a 60-second instructor walkthrough — no hands-on. CR-2 was the lesson; CR-3 is reinforcement.</a:t>
            </a:r>
          </a:p>
        </p:txBody>
      </p:sp>
    </p:spTree>
    <p:extLst>
      <p:ext uri="{BB962C8B-B14F-4D97-AF65-F5344CB8AC3E}">
        <p14:creationId xmlns:p14="http://schemas.microsoft.com/office/powerpoint/2010/main" val="136778200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Read the requirement. 5-minute timer. The attempt: </a:t>
            </a:r>
            <a:r>
              <a:rPr sz="1200" dirty="0" err="1">
                <a:latin typeface="Arial"/>
              </a:rPr>
              <a:t>LogBuffer</a:t>
            </a:r>
            <a:r>
              <a:rPr sz="1200" dirty="0">
                <a:latin typeface="Arial"/>
              </a:rPr>
              <a:t> + </a:t>
            </a:r>
            <a:r>
              <a:rPr sz="1200" dirty="0" err="1">
                <a:latin typeface="Arial"/>
              </a:rPr>
              <a:t>LoggingEnabled</a:t>
            </a:r>
            <a:r>
              <a:rPr sz="1200" dirty="0">
                <a:latin typeface="Arial"/>
              </a:rPr>
              <a:t> virtual on the base; Fill and Inspect override to TRUE.</a:t>
            </a:r>
          </a:p>
          <a:p>
            <a:r>
              <a:rPr sz="1200" dirty="0">
                <a:latin typeface="Arial"/>
              </a:rPr>
              <a:t>[ASK] "Where does Cap's </a:t>
            </a:r>
            <a:r>
              <a:rPr sz="1200" dirty="0" err="1">
                <a:latin typeface="Arial"/>
              </a:rPr>
              <a:t>LogBuffer</a:t>
            </a:r>
            <a:r>
              <a:rPr sz="1200" dirty="0">
                <a:latin typeface="Arial"/>
              </a:rPr>
              <a:t> storage live in memory?" → in every Cap and Label instance, even though they never write to it. "Is that a problem?" → in 4 stations, no. In a 50-station factory, yes.</a:t>
            </a:r>
          </a:p>
          <a:p>
            <a:r>
              <a:rPr sz="1200" dirty="0">
                <a:latin typeface="Arial"/>
              </a:rPr>
              <a:t>[PUSHBACK if asked] "100 strings × 120 chars × 2 unused stations = 24KB. Why are we obsessing about this?" → "You're right — for this scale, the memory cost is academic. The bigger problem is COGNITIVE. Every reader of </a:t>
            </a:r>
            <a:r>
              <a:rPr sz="1200" dirty="0" err="1">
                <a:latin typeface="Arial"/>
              </a:rPr>
              <a:t>FB_StationBase</a:t>
            </a:r>
            <a:r>
              <a:rPr sz="1200" dirty="0">
                <a:latin typeface="Arial"/>
              </a:rPr>
              <a:t> has to understand why </a:t>
            </a:r>
            <a:r>
              <a:rPr sz="1200" dirty="0" err="1">
                <a:latin typeface="Arial"/>
              </a:rPr>
              <a:t>LogBuffer</a:t>
            </a:r>
            <a:r>
              <a:rPr sz="1200" dirty="0">
                <a:latin typeface="Arial"/>
              </a:rPr>
              <a:t> exists when half the children don't use it. As your codebase grows, that noise compounds."</a:t>
            </a:r>
          </a:p>
          <a:p>
            <a:r>
              <a:rPr sz="1200" dirty="0">
                <a:latin typeface="Arial"/>
              </a:rPr>
              <a:t>[PACING] If behind, cut this hands-on entirely (just show the diff). The CR-2 breakdown is the lesson; CR-3 is supplementary.</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[BEFORE] `git switch Release` on the presenter, FillingLine_Procedural loaded. Open Fill, Cap, Label, Inspect side by side in tabs before the slide goes up.</a:t>
            </a:r>
          </a:p>
          <a:p>
            <a:r>
              <a:t>[SAY] "Stack them side by side. Read across, not down. We'll walk Fill and Cap together in the next slide — Label and Inspect, you read on your own."</a:t>
            </a:r>
          </a:p>
          <a:p>
            <a:r>
              <a:t>[WATCH FOR] Attendees who notice the drift immediately. DO NOT confirm yet — the drift is the reveal in three slides. If someone calls it out, redirect: "Hold that — we'll get there."</a:t>
            </a:r>
          </a:p>
          <a:p>
            <a:r>
              <a:t>[TIME] 5 minutes of quiet reading. The slow read IS the exercise.</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[BEFORE] `git switch Release` on the presenter, FillingLine_Inheritance loaded. FB_StationBase and FB_StationFill open side by side.</a:t>
            </a:r>
          </a:p>
          <a:p>
            <a:r>
              <a:t>[ASK FIRST] "How comfortable are you with EXTENDS / THIS^ / SUPER^? Hand up if you've used these in TwinCAT before." This calibrates the pace for the block — most rooms split.</a:t>
            </a:r>
          </a:p>
          <a:p>
            <a:r>
              <a:t>[SAY] "Same behavior. Same five sections. Different architecture. The shared parts moved into the base; the differentiated state machine stayed in each child."</a:t>
            </a:r>
          </a:p>
          <a:p>
            <a:r>
              <a:t>[DO] Walk Fill's ~67 lines vs the procedural ~107. The visible shrinkage IS half the lesson — the other half is the new concepts on the next four slides.</a:t>
            </a:r>
          </a:p>
          <a:p>
            <a:r>
              <a:t>[TIME] 5 minutes. Don't editorialize on the trade-offs yet — slide 38 does that.</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[BEFORE CLICK FORWARD] This slide is a question. The next slide has the answers. Do NOT click forward until the room has answered.</a:t>
            </a:r>
          </a:p>
          <a:p>
            <a:r>
              <a:t>[ASK] "Each procedural code block became a method on the base class. Which method? Take a guess for each — Mode, Alarm-ack, Reset, HMI mapping, State machine."</a:t>
            </a:r>
          </a:p>
          <a:p>
            <a:r>
              <a:t>[DO] Take answers verbally. If the room is silent, prime with "Reset is the obvious one. What's it called?" → Reset(). The others follow.</a:t>
            </a:r>
          </a:p>
          <a:p>
            <a:r>
              <a:t>[SEGUE] "Hold your guesses. Next slide has the mapping."</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[DO] Reveal the four answers. Notice: Mode AND Alarm-ack both went into Monitoring() — that's intentional. Both are "stuff the base does every cycle, independent of which station this is."</a:t>
            </a:r>
          </a:p>
          <a:p>
            <a:r>
              <a:t>[SAY] "Four out of five fit. The state machine — the one section that genuinely differs between stations — is the one left over. That's the inheritance pattern in one image: shared parts go up; differentiated parts stay down."</a:t>
            </a:r>
          </a:p>
          <a:p>
            <a:r>
              <a:t>[ASK] "Anyone guess that the state machine becomes an override?" Take hands. Next slide names it.</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[DO] Reveal the answer: ExecuteSequence() is virtual on the base; each derived FB provides its own implementation.</a:t>
            </a:r>
          </a:p>
          <a:p>
            <a:r>
              <a:t>[KEY POINT] "Override" is the new vocabulary. The base calls ExecuteSequence() inside its lifecycle; the derived FB's version is what actually runs. That's the inheritance superpower — write the lifecycle once, vary the body per child.</a:t>
            </a:r>
          </a:p>
          <a:p>
            <a:r>
              <a:t>[BRIDGE] "We've now named all four constructs you need to read Stage 2 code: EXTENDS, SUPER^, override, FB_init. The next slide drops them into actual ST."</a:t>
            </a:r>
          </a:p>
          <a:p>
            <a:r>
              <a:t>[FAE NOTE] When you teach this to controls engineers without OOP background, dwell here. The mechanics are easier than the mental model — the mental model takes practice.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dirty="0">
                <a:solidFill>
                  <a:srgbClr val="2D76AD"/>
                </a:solidFill>
                <a:latin typeface="Arial"/>
              </a:rPr>
              <a:t>  </a:t>
            </a:r>
            <a:r>
              <a:rPr sz="2400" b="1" dirty="0">
                <a:solidFill>
                  <a:srgbClr val="242A33"/>
                </a:solidFill>
                <a:latin typeface="Arial"/>
              </a:rPr>
              <a:t>Same machine </a:t>
            </a:r>
            <a:r>
              <a:rPr sz="2400" dirty="0">
                <a:solidFill>
                  <a:srgbClr val="242A33"/>
                </a:solidFill>
                <a:latin typeface="Arial"/>
              </a:rPr>
              <a:t>— three architectures.</a:t>
            </a:r>
          </a:p>
          <a:p>
            <a:pPr algn="l">
              <a:lnSpc>
                <a:spcPct val="130000"/>
              </a:lnSpc>
              <a:spcBef>
                <a:spcPts val="400"/>
              </a:spcBef>
            </a:pPr>
            <a:r>
              <a:rPr sz="2400" b="1" dirty="0">
                <a:solidFill>
                  <a:srgbClr val="2D76AD"/>
                </a:solidFill>
                <a:latin typeface="Arial"/>
              </a:rPr>
              <a:t>  </a:t>
            </a:r>
            <a:r>
              <a:rPr sz="2400" dirty="0">
                <a:solidFill>
                  <a:srgbClr val="242A33"/>
                </a:solidFill>
                <a:latin typeface="Arial"/>
              </a:rPr>
              <a:t>Same three change requests, every stage.</a:t>
            </a:r>
          </a:p>
          <a:p>
            <a:pPr algn="l">
              <a:lnSpc>
                <a:spcPct val="130000"/>
              </a:lnSpc>
              <a:spcBef>
                <a:spcPts val="400"/>
              </a:spcBef>
            </a:pPr>
            <a:r>
              <a:rPr sz="2400" b="1" dirty="0">
                <a:solidFill>
                  <a:srgbClr val="2D76AD"/>
                </a:solidFill>
                <a:latin typeface="Arial"/>
              </a:rPr>
              <a:t>  </a:t>
            </a:r>
            <a:r>
              <a:rPr sz="2400" b="1" dirty="0">
                <a:solidFill>
                  <a:srgbClr val="242A33"/>
                </a:solidFill>
                <a:latin typeface="Arial"/>
              </a:rPr>
              <a:t>One running scoreboard </a:t>
            </a:r>
            <a:r>
              <a:rPr sz="2400" dirty="0">
                <a:solidFill>
                  <a:srgbClr val="242A33"/>
                </a:solidFill>
                <a:latin typeface="Arial"/>
              </a:rPr>
              <a:t>— nine cells.</a:t>
            </a:r>
          </a:p>
          <a:p>
            <a:pPr algn="l">
              <a:lnSpc>
                <a:spcPct val="130000"/>
              </a:lnSpc>
              <a:spcBef>
                <a:spcPts val="400"/>
              </a:spcBef>
            </a:pPr>
            <a:r>
              <a:rPr lang="en-US" sz="2400" b="1" dirty="0">
                <a:solidFill>
                  <a:srgbClr val="2D76AD"/>
                </a:solidFill>
                <a:latin typeface="Arial"/>
              </a:rPr>
              <a:t>  </a:t>
            </a:r>
            <a:r>
              <a:rPr sz="2400" dirty="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dirty="0">
                <a:solidFill>
                  <a:srgbClr val="2D76AD"/>
                </a:solidFill>
                <a:latin typeface="Arial"/>
              </a:rPr>
              <a:t>  </a:t>
            </a:r>
            <a:r>
              <a:rPr sz="1800" dirty="0">
                <a:solidFill>
                  <a:srgbClr val="242A33"/>
                </a:solidFill>
                <a:latin typeface="Arial"/>
              </a:rPr>
              <a:t>Block 0  ·  Welcome  ·  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75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10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dirty="0">
                <a:solidFill>
                  <a:srgbClr val="414D5C"/>
                </a:solidFill>
                <a:latin typeface="Arial"/>
              </a:rPr>
              <a:t>Stage 1 — Procedural</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770000"/>
                </a:solidFill>
                <a:latin typeface="Arial"/>
              </a:rPr>
              <a:t>60</a:t>
            </a:r>
            <a:r>
              <a:rPr sz="1800" b="1" i="0" dirty="0">
                <a:solidFill>
                  <a:srgbClr val="770000"/>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Origin </a:t>
            </a:r>
            <a:r>
              <a:rPr sz="2200" dirty="0">
                <a:solidFill>
                  <a:srgbClr val="242A33"/>
                </a:solidFill>
                <a:latin typeface="Arial"/>
              </a:rPr>
              <a:t>— IEC 61131-3 (1993).</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Mental model </a:t>
            </a:r>
            <a:r>
              <a:rPr sz="2200" dirty="0">
                <a:solidFill>
                  <a:srgbClr val="242A33"/>
                </a:solidFill>
                <a:latin typeface="Arial"/>
              </a:rPr>
              <a:t>— FB has its own independent version of code, runs 	once per cycle.</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Good at simple machines  </a:t>
            </a:r>
            <a:r>
              <a:rPr sz="2200" dirty="0">
                <a:solidFill>
                  <a:srgbClr val="242A33"/>
                </a:solidFill>
                <a:latin typeface="Arial"/>
              </a:rPr>
              <a:t>— short lifespan, no changes to code, 	single developer</a:t>
            </a:r>
          </a:p>
          <a:p>
            <a:pPr algn="l">
              <a:lnSpc>
                <a:spcPct val="130000"/>
              </a:lnSpc>
              <a:spcBef>
                <a:spcPts val="400"/>
              </a:spcBef>
            </a:pPr>
            <a:r>
              <a:rPr lang="en-US" sz="2200" b="1" dirty="0">
                <a:solidFill>
                  <a:srgbClr val="770000"/>
                </a:solidFill>
                <a:latin typeface="Arial"/>
              </a:rPr>
              <a:t> </a:t>
            </a:r>
            <a:r>
              <a:rPr sz="2200" b="1" dirty="0">
                <a:solidFill>
                  <a:srgbClr val="242A33"/>
                </a:solidFill>
                <a:latin typeface="Arial"/>
              </a:rPr>
              <a:t>Bad at change </a:t>
            </a:r>
            <a:r>
              <a:rPr b="1" dirty="0">
                <a:solidFill>
                  <a:srgbClr val="242A33"/>
                </a:solidFill>
                <a:latin typeface="Arial"/>
              </a:rPr>
              <a:t>r</a:t>
            </a:r>
            <a:r>
              <a:rPr sz="2200" b="1" dirty="0">
                <a:solidFill>
                  <a:srgbClr val="242A33"/>
                </a:solidFill>
                <a:latin typeface="Arial"/>
              </a:rPr>
              <a:t>equests </a:t>
            </a:r>
            <a:r>
              <a:rPr sz="2200" dirty="0">
                <a:solidFill>
                  <a:srgbClr val="242A33"/>
                </a:solidFill>
                <a:latin typeface="Arial"/>
              </a:rPr>
              <a:t>— can require edits to every FB file, requires 	intense discipline across time and team </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28A665-2524-D9F0-5EBA-1AE9684DD64A}"/>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procedural sample structure</a:t>
            </a:r>
          </a:p>
          <a:p>
            <a:r>
              <a:rPr lang="en-US" dirty="0"/>
              <a:t>Understand switching between branches</a:t>
            </a:r>
          </a:p>
          <a:p>
            <a:r>
              <a:rPr lang="en-US" dirty="0"/>
              <a:t>Identify similarities and differences in the function block stations</a:t>
            </a:r>
          </a:p>
        </p:txBody>
      </p:sp>
      <p:sp>
        <p:nvSpPr>
          <p:cNvPr id="3" name="Title 2">
            <a:extLst>
              <a:ext uri="{FF2B5EF4-FFF2-40B4-BE49-F238E27FC236}">
                <a16:creationId xmlns:a16="http://schemas.microsoft.com/office/drawing/2014/main" id="{2F272547-8251-3860-A3E6-3436C2F08589}"/>
              </a:ext>
            </a:extLst>
          </p:cNvPr>
          <p:cNvSpPr>
            <a:spLocks noGrp="1"/>
          </p:cNvSpPr>
          <p:nvPr>
            <p:ph type="title"/>
          </p:nvPr>
        </p:nvSpPr>
        <p:spPr/>
        <p:txBody>
          <a:bodyPr/>
          <a:lstStyle/>
          <a:p>
            <a:r>
              <a:rPr lang="en-US" dirty="0"/>
              <a:t>Lab 1A: Procedural Code Inspection</a:t>
            </a:r>
          </a:p>
        </p:txBody>
      </p:sp>
      <p:sp>
        <p:nvSpPr>
          <p:cNvPr id="4" name="Text Placeholder 1">
            <a:extLst>
              <a:ext uri="{FF2B5EF4-FFF2-40B4-BE49-F238E27FC236}">
                <a16:creationId xmlns:a16="http://schemas.microsoft.com/office/drawing/2014/main" id="{3C877597-0E8F-4E2C-6501-64FBDC476B15}"/>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FillingLine_Procedural</a:t>
            </a:r>
            <a:r>
              <a:rPr lang="en-US" dirty="0"/>
              <a:t> Project</a:t>
            </a:r>
          </a:p>
          <a:p>
            <a:r>
              <a:rPr lang="en-US" dirty="0"/>
              <a:t>Open the four Function Block stations in the POUs folder</a:t>
            </a:r>
          </a:p>
          <a:p>
            <a:r>
              <a:rPr lang="en-US" dirty="0"/>
              <a:t>Stack the open FBs side by side</a:t>
            </a:r>
          </a:p>
        </p:txBody>
      </p:sp>
    </p:spTree>
    <p:extLst>
      <p:ext uri="{BB962C8B-B14F-4D97-AF65-F5344CB8AC3E}">
        <p14:creationId xmlns:p14="http://schemas.microsoft.com/office/powerpoint/2010/main" val="2801251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A5C69-EC9D-F82E-FA3F-081E8381B9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AE51E5-BEBB-CDB4-BB4A-FFA6C49A8A43}"/>
              </a:ext>
            </a:extLst>
          </p:cNvPr>
          <p:cNvSpPr>
            <a:spLocks noGrp="1"/>
          </p:cNvSpPr>
          <p:nvPr>
            <p:ph type="body" sz="quarter" idx="15"/>
          </p:nvPr>
        </p:nvSpPr>
        <p:spPr/>
        <p:txBody>
          <a:bodyPr wrap="square"/>
          <a:lstStyle/>
          <a:p>
            <a:pPr algn="l">
              <a:lnSpc>
                <a:spcPct val="130000"/>
              </a:lnSpc>
            </a:pPr>
            <a:r>
              <a:rPr lang="en-US" sz="2000" b="1" dirty="0">
                <a:solidFill>
                  <a:srgbClr val="770000"/>
                </a:solidFill>
                <a:latin typeface="Arial"/>
              </a:rPr>
              <a:t>  </a:t>
            </a:r>
            <a:r>
              <a:rPr lang="en-US" sz="2000" b="1" dirty="0">
                <a:solidFill>
                  <a:srgbClr val="242A33"/>
                </a:solidFill>
                <a:latin typeface="Arial"/>
              </a:rPr>
              <a:t>Mode block </a:t>
            </a:r>
            <a:r>
              <a:rPr lang="en-US" sz="2000" dirty="0">
                <a:solidFill>
                  <a:srgbClr val="242A33"/>
                </a:solidFill>
                <a:latin typeface="Arial"/>
              </a:rPr>
              <a:t>— read </a:t>
            </a:r>
            <a:r>
              <a:rPr lang="en-US" sz="2000" dirty="0" err="1">
                <a:solidFill>
                  <a:srgbClr val="242A33"/>
                </a:solidFill>
                <a:latin typeface="Arial"/>
              </a:rPr>
              <a:t>ModeAuto</a:t>
            </a:r>
            <a:r>
              <a:rPr lang="en-US" sz="2000" dirty="0">
                <a:solidFill>
                  <a:srgbClr val="242A33"/>
                </a:solidFill>
                <a:latin typeface="Arial"/>
              </a:rPr>
              <a:t> / </a:t>
            </a:r>
            <a:r>
              <a:rPr lang="en-US" sz="2000" dirty="0" err="1">
                <a:solidFill>
                  <a:srgbClr val="242A33"/>
                </a:solidFill>
                <a:latin typeface="Arial"/>
              </a:rPr>
              <a:t>ModeManual</a:t>
            </a:r>
            <a:r>
              <a:rPr lang="en-US" sz="2000" dirty="0">
                <a:solidFill>
                  <a:srgbClr val="242A33"/>
                </a:solidFill>
                <a:latin typeface="Arial"/>
              </a:rPr>
              <a:t> / </a:t>
            </a:r>
            <a:r>
              <a:rPr lang="en-US" sz="2000" dirty="0" err="1">
                <a:solidFill>
                  <a:srgbClr val="242A33"/>
                </a:solidFill>
                <a:latin typeface="Arial"/>
              </a:rPr>
              <a:t>ModeStop</a:t>
            </a:r>
            <a:r>
              <a:rPr lang="en-US" sz="2000" dirty="0">
                <a:solidFill>
                  <a:srgbClr val="242A33"/>
                </a:solidFill>
                <a:latin typeface="Arial"/>
              </a:rPr>
              <a:t>.</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Alarm-ack block </a:t>
            </a:r>
            <a:r>
              <a:rPr lang="en-US" sz="2000" dirty="0">
                <a:solidFill>
                  <a:srgbClr val="242A33"/>
                </a:solidFill>
                <a:latin typeface="Arial"/>
              </a:rPr>
              <a:t>— clear latched alarms.</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Reset block </a:t>
            </a:r>
            <a:r>
              <a:rPr lang="en-US" sz="2000" dirty="0">
                <a:solidFill>
                  <a:srgbClr val="242A33"/>
                </a:solidFill>
                <a:latin typeface="Arial"/>
              </a:rPr>
              <a:t>— return state to 0.</a:t>
            </a:r>
          </a:p>
          <a:p>
            <a:pPr>
              <a:lnSpc>
                <a:spcPct val="130000"/>
              </a:lnSpc>
              <a:spcBef>
                <a:spcPts val="400"/>
              </a:spcBef>
            </a:pPr>
            <a:r>
              <a:rPr lang="en-US" sz="2000" b="1" dirty="0">
                <a:solidFill>
                  <a:srgbClr val="242A33"/>
                </a:solidFill>
              </a:rPr>
              <a:t>  HMI mapping </a:t>
            </a:r>
            <a:r>
              <a:rPr lang="en-US" sz="2000" dirty="0">
                <a:solidFill>
                  <a:srgbClr val="242A33"/>
                </a:solidFill>
              </a:rPr>
              <a:t>— copy state to HMI tags.</a:t>
            </a:r>
            <a:endParaRPr lang="en-US" sz="2000" dirty="0">
              <a:solidFill>
                <a:srgbClr val="242A33"/>
              </a:solidFill>
              <a:latin typeface="Arial"/>
            </a:endParaRPr>
          </a:p>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BD16F2B8-FD05-DB52-0FA0-DFB374BD3F9C}"/>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7CDDD53B-9056-D5BC-46ED-E69E15499BC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428069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Mode block </a:t>
            </a:r>
            <a:r>
              <a:rPr sz="2000" dirty="0">
                <a:solidFill>
                  <a:srgbClr val="242A33"/>
                </a:solidFill>
                <a:latin typeface="Arial"/>
              </a:rPr>
              <a:t>— read </a:t>
            </a:r>
            <a:r>
              <a:rPr sz="2000" dirty="0" err="1">
                <a:solidFill>
                  <a:srgbClr val="242A33"/>
                </a:solidFill>
                <a:latin typeface="Arial"/>
              </a:rPr>
              <a:t>ModeAuto</a:t>
            </a:r>
            <a:r>
              <a:rPr sz="2000" dirty="0">
                <a:solidFill>
                  <a:srgbClr val="242A33"/>
                </a:solidFill>
                <a:latin typeface="Arial"/>
              </a:rPr>
              <a:t> / </a:t>
            </a:r>
            <a:r>
              <a:rPr sz="2000" dirty="0" err="1">
                <a:solidFill>
                  <a:srgbClr val="242A33"/>
                </a:solidFill>
                <a:latin typeface="Arial"/>
              </a:rPr>
              <a:t>ModeManual</a:t>
            </a:r>
            <a:r>
              <a:rPr sz="2000" dirty="0">
                <a:solidFill>
                  <a:srgbClr val="242A33"/>
                </a:solidFill>
                <a:latin typeface="Arial"/>
              </a:rPr>
              <a:t> / </a:t>
            </a:r>
            <a:r>
              <a:rPr sz="2000" dirty="0" err="1">
                <a:solidFill>
                  <a:srgbClr val="242A33"/>
                </a:solidFill>
                <a:latin typeface="Arial"/>
              </a:rPr>
              <a:t>ModeStop</a:t>
            </a:r>
            <a:r>
              <a:rPr sz="2000" dirty="0">
                <a:solidFill>
                  <a:srgbClr val="242A33"/>
                </a:solidFill>
                <a:latin typeface="Arial"/>
              </a:rPr>
              <a:t>.</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D733455A-8E71-D1B9-D5BF-F17CB9FC972D}"/>
              </a:ext>
            </a:extLst>
          </p:cNvPr>
          <p:cNvPicPr>
            <a:picLocks noChangeAspect="1"/>
          </p:cNvPicPr>
          <p:nvPr/>
        </p:nvPicPr>
        <p:blipFill>
          <a:blip r:embed="rId3"/>
          <a:stretch>
            <a:fillRect/>
          </a:stretch>
        </p:blipFill>
        <p:spPr>
          <a:xfrm>
            <a:off x="18196" y="1772378"/>
            <a:ext cx="12173802" cy="53904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322B-C3D4-319B-EF48-0F114F4D04B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A3FA4D-18A6-5858-D680-C08B633660AF}"/>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Alarm-ack block </a:t>
            </a:r>
            <a:r>
              <a:rPr sz="2000" dirty="0">
                <a:solidFill>
                  <a:srgbClr val="242A33"/>
                </a:solidFill>
                <a:latin typeface="Arial"/>
              </a:rPr>
              <a:t>— clear latched alarms.</a:t>
            </a:r>
          </a:p>
        </p:txBody>
      </p:sp>
      <p:sp>
        <p:nvSpPr>
          <p:cNvPr id="3" name="Title 2">
            <a:extLst>
              <a:ext uri="{FF2B5EF4-FFF2-40B4-BE49-F238E27FC236}">
                <a16:creationId xmlns:a16="http://schemas.microsoft.com/office/drawing/2014/main" id="{A801ED8A-D59F-259B-789C-A6C2C9A1F84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44044168-1C6C-8FB5-F3D1-FF3C83A8269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7AE15957-A55A-7E6D-FF7E-109B0B061693}"/>
              </a:ext>
            </a:extLst>
          </p:cNvPr>
          <p:cNvPicPr>
            <a:picLocks noChangeAspect="1"/>
          </p:cNvPicPr>
          <p:nvPr/>
        </p:nvPicPr>
        <p:blipFill>
          <a:blip r:embed="rId3"/>
          <a:stretch>
            <a:fillRect/>
          </a:stretch>
        </p:blipFill>
        <p:spPr>
          <a:xfrm>
            <a:off x="0" y="1752600"/>
            <a:ext cx="12192000" cy="5361387"/>
          </a:xfrm>
          <a:prstGeom prst="rect">
            <a:avLst/>
          </a:prstGeom>
        </p:spPr>
      </p:pic>
    </p:spTree>
    <p:extLst>
      <p:ext uri="{BB962C8B-B14F-4D97-AF65-F5344CB8AC3E}">
        <p14:creationId xmlns:p14="http://schemas.microsoft.com/office/powerpoint/2010/main" val="232773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85D0-64E3-61BB-FFBD-569EDBF68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3CF150B-9EFB-B964-E4CA-C45B1EB9BDB5}"/>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Reset block </a:t>
            </a:r>
            <a:r>
              <a:rPr sz="2000" dirty="0">
                <a:solidFill>
                  <a:srgbClr val="242A33"/>
                </a:solidFill>
                <a:latin typeface="Arial"/>
              </a:rPr>
              <a:t>— return state to 0.</a:t>
            </a:r>
          </a:p>
        </p:txBody>
      </p:sp>
      <p:sp>
        <p:nvSpPr>
          <p:cNvPr id="3" name="Title 2">
            <a:extLst>
              <a:ext uri="{FF2B5EF4-FFF2-40B4-BE49-F238E27FC236}">
                <a16:creationId xmlns:a16="http://schemas.microsoft.com/office/drawing/2014/main" id="{1D3A27D0-9C3C-B662-E9A3-F4E7688C27A9}"/>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FBC8A343-8BD5-6426-D514-7F0F2E3B7A57}"/>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1EB383D3-0297-F9C4-FAC8-6CDD83FE9773}"/>
              </a:ext>
            </a:extLst>
          </p:cNvPr>
          <p:cNvPicPr>
            <a:picLocks noChangeAspect="1"/>
          </p:cNvPicPr>
          <p:nvPr/>
        </p:nvPicPr>
        <p:blipFill>
          <a:blip r:embed="rId3"/>
          <a:stretch>
            <a:fillRect/>
          </a:stretch>
        </p:blipFill>
        <p:spPr>
          <a:xfrm>
            <a:off x="-3" y="1713753"/>
            <a:ext cx="12192000" cy="5381296"/>
          </a:xfrm>
          <a:prstGeom prst="rect">
            <a:avLst/>
          </a:prstGeom>
        </p:spPr>
      </p:pic>
    </p:spTree>
    <p:extLst>
      <p:ext uri="{BB962C8B-B14F-4D97-AF65-F5344CB8AC3E}">
        <p14:creationId xmlns:p14="http://schemas.microsoft.com/office/powerpoint/2010/main" val="2049584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6331E-8D35-8EAF-9D3C-B9389647A33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77A54E-7F9F-8EBF-F4C3-505339A12479}"/>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HMI mapping </a:t>
            </a:r>
            <a:r>
              <a:rPr sz="2000" dirty="0">
                <a:solidFill>
                  <a:srgbClr val="242A33"/>
                </a:solidFill>
                <a:latin typeface="Arial"/>
              </a:rPr>
              <a:t>— copy state to HMI tags.</a:t>
            </a:r>
          </a:p>
        </p:txBody>
      </p:sp>
      <p:sp>
        <p:nvSpPr>
          <p:cNvPr id="3" name="Title 2">
            <a:extLst>
              <a:ext uri="{FF2B5EF4-FFF2-40B4-BE49-F238E27FC236}">
                <a16:creationId xmlns:a16="http://schemas.microsoft.com/office/drawing/2014/main" id="{30728772-3E47-C094-971B-6E215F79EA8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AB3007F8-3288-6519-72A9-9BCA29BF3ACE}"/>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10" name="Picture 9">
            <a:extLst>
              <a:ext uri="{FF2B5EF4-FFF2-40B4-BE49-F238E27FC236}">
                <a16:creationId xmlns:a16="http://schemas.microsoft.com/office/drawing/2014/main" id="{5CCD5760-42D9-23FE-5F31-98200E47FDEF}"/>
              </a:ext>
            </a:extLst>
          </p:cNvPr>
          <p:cNvPicPr>
            <a:picLocks noChangeAspect="1"/>
          </p:cNvPicPr>
          <p:nvPr/>
        </p:nvPicPr>
        <p:blipFill>
          <a:blip r:embed="rId3"/>
          <a:stretch>
            <a:fillRect/>
          </a:stretch>
        </p:blipFill>
        <p:spPr>
          <a:xfrm>
            <a:off x="0" y="1671199"/>
            <a:ext cx="12192000" cy="5350680"/>
          </a:xfrm>
          <a:prstGeom prst="rect">
            <a:avLst/>
          </a:prstGeom>
        </p:spPr>
      </p:pic>
    </p:spTree>
    <p:extLst>
      <p:ext uri="{BB962C8B-B14F-4D97-AF65-F5344CB8AC3E}">
        <p14:creationId xmlns:p14="http://schemas.microsoft.com/office/powerpoint/2010/main" val="697562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CD6C3-3B21-61C9-D424-A94715404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A9A35D-7B9A-1ECB-740D-95A3FDC670AA}"/>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8FBCC3AD-99F7-91CE-922D-2D36FEB00CF6}"/>
              </a:ext>
            </a:extLst>
          </p:cNvPr>
          <p:cNvSpPr>
            <a:spLocks noGrp="1"/>
          </p:cNvSpPr>
          <p:nvPr>
            <p:ph type="title"/>
          </p:nvPr>
        </p:nvSpPr>
        <p:spPr/>
        <p:txBody>
          <a:bodyPr/>
          <a:lstStyle/>
          <a:p>
            <a:r>
              <a:rPr dirty="0"/>
              <a:t>Every station has the same five sections</a:t>
            </a:r>
          </a:p>
        </p:txBody>
      </p:sp>
      <p:sp>
        <p:nvSpPr>
          <p:cNvPr id="4" name="TextBox 3">
            <a:extLst>
              <a:ext uri="{FF2B5EF4-FFF2-40B4-BE49-F238E27FC236}">
                <a16:creationId xmlns:a16="http://schemas.microsoft.com/office/drawing/2014/main" id="{D3AD5CDB-8037-C6CF-9248-4D6435B4E42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B1C3CDD7-AB0A-47D3-1F5D-DEC1CEDCA630}"/>
              </a:ext>
            </a:extLst>
          </p:cNvPr>
          <p:cNvPicPr>
            <a:picLocks noChangeAspect="1"/>
          </p:cNvPicPr>
          <p:nvPr/>
        </p:nvPicPr>
        <p:blipFill>
          <a:blip r:embed="rId3"/>
          <a:stretch>
            <a:fillRect/>
          </a:stretch>
        </p:blipFill>
        <p:spPr>
          <a:xfrm>
            <a:off x="-3" y="1739911"/>
            <a:ext cx="12192000" cy="5382810"/>
          </a:xfrm>
          <a:prstGeom prst="rect">
            <a:avLst/>
          </a:prstGeom>
        </p:spPr>
      </p:pic>
    </p:spTree>
    <p:extLst>
      <p:ext uri="{BB962C8B-B14F-4D97-AF65-F5344CB8AC3E}">
        <p14:creationId xmlns:p14="http://schemas.microsoft.com/office/powerpoint/2010/main" val="2472267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lang="en-US" sz="2200" b="1" dirty="0">
                <a:solidFill>
                  <a:srgbClr val="770000"/>
                </a:solidFill>
                <a:latin typeface="Arial"/>
              </a:rPr>
              <a:t>Every function block seems pretty similar</a:t>
            </a:r>
            <a:r>
              <a:rPr lang="en-US" b="1" dirty="0">
                <a:solidFill>
                  <a:srgbClr val="770000"/>
                </a:solidFill>
                <a:latin typeface="Arial"/>
              </a:rPr>
              <a:t>, right?</a:t>
            </a:r>
          </a:p>
          <a:p>
            <a:pPr algn="l">
              <a:lnSpc>
                <a:spcPct val="130000"/>
              </a:lnSpc>
            </a:pPr>
            <a:r>
              <a:rPr lang="en-US" sz="2200" b="1" dirty="0">
                <a:solidFill>
                  <a:srgbClr val="770000"/>
                </a:solidFill>
                <a:latin typeface="Arial"/>
              </a:rPr>
              <a:t>Anybody see any </a:t>
            </a:r>
            <a:r>
              <a:rPr lang="en-US" b="1" dirty="0">
                <a:solidFill>
                  <a:srgbClr val="770000"/>
                </a:solidFill>
                <a:latin typeface="Arial"/>
              </a:rPr>
              <a:t>problems?</a:t>
            </a:r>
            <a:endParaRPr sz="2200" dirty="0">
              <a:solidFill>
                <a:srgbClr val="242A33"/>
              </a:solidFill>
              <a:latin typeface="Arial"/>
            </a:endParaRPr>
          </a:p>
        </p:txBody>
      </p:sp>
      <p:sp>
        <p:nvSpPr>
          <p:cNvPr id="3" name="Title 2"/>
          <p:cNvSpPr>
            <a:spLocks noGrp="1"/>
          </p:cNvSpPr>
          <p:nvPr>
            <p:ph type="title"/>
          </p:nvPr>
        </p:nvSpPr>
        <p:spPr/>
        <p:txBody>
          <a:bodyPr/>
          <a:lstStyle/>
          <a:p>
            <a:r>
              <a:rPr lang="en-US" dirty="0"/>
              <a:t>Every station has the same five sections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097F2-BCA6-FB5F-7E02-5AB50E84563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0D972F-2BFA-607B-04B1-902846C96341}"/>
              </a:ext>
            </a:extLst>
          </p:cNvPr>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Drift #1 </a:t>
            </a:r>
            <a:r>
              <a:rPr sz="2200" dirty="0">
                <a:solidFill>
                  <a:srgbClr val="242A33"/>
                </a:solidFill>
                <a:latin typeface="Arial"/>
              </a:rPr>
              <a:t>— alarm-ack: edge vs level.</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#2 </a:t>
            </a:r>
            <a:r>
              <a:rPr sz="2200" dirty="0">
                <a:solidFill>
                  <a:srgbClr val="242A33"/>
                </a:solidFill>
                <a:latin typeface="Arial"/>
              </a:rPr>
              <a:t>— step numbering: 0/100/200/300 vs 0/10/20/30.</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#3 </a:t>
            </a:r>
            <a:r>
              <a:rPr sz="2200" dirty="0">
                <a:solidFill>
                  <a:srgbClr val="242A33"/>
                </a:solidFill>
                <a:latin typeface="Arial"/>
              </a:rPr>
              <a:t>— dead variable: </a:t>
            </a:r>
            <a:r>
              <a:rPr sz="2200" dirty="0" err="1">
                <a:solidFill>
                  <a:srgbClr val="242A33"/>
                </a:solidFill>
                <a:latin typeface="Arial"/>
              </a:rPr>
              <a:t>ManualStep</a:t>
            </a:r>
            <a:r>
              <a:rPr sz="2200" dirty="0">
                <a:solidFill>
                  <a:srgbClr val="242A33"/>
                </a:solidFill>
                <a:latin typeface="Arial"/>
              </a:rPr>
              <a:t> in Inspect, never used.</a:t>
            </a:r>
          </a:p>
        </p:txBody>
      </p:sp>
      <p:sp>
        <p:nvSpPr>
          <p:cNvPr id="3" name="Title 2">
            <a:extLst>
              <a:ext uri="{FF2B5EF4-FFF2-40B4-BE49-F238E27FC236}">
                <a16:creationId xmlns:a16="http://schemas.microsoft.com/office/drawing/2014/main" id="{13198042-0DBA-2752-08F8-FEAC1824D000}"/>
              </a:ext>
            </a:extLst>
          </p:cNvPr>
          <p:cNvSpPr>
            <a:spLocks noGrp="1"/>
          </p:cNvSpPr>
          <p:nvPr>
            <p:ph type="title"/>
          </p:nvPr>
        </p:nvSpPr>
        <p:spPr/>
        <p:txBody>
          <a:bodyPr/>
          <a:lstStyle/>
          <a:p>
            <a:r>
              <a:rPr dirty="0"/>
              <a:t>Three identifiable drifts</a:t>
            </a:r>
          </a:p>
        </p:txBody>
      </p:sp>
      <p:sp>
        <p:nvSpPr>
          <p:cNvPr id="4" name="TextBox 3">
            <a:extLst>
              <a:ext uri="{FF2B5EF4-FFF2-40B4-BE49-F238E27FC236}">
                <a16:creationId xmlns:a16="http://schemas.microsoft.com/office/drawing/2014/main" id="{FEB8544D-CEA2-FA40-DB7E-9CD197808C2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3464154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endParaRPr sz="2200" dirty="0">
              <a:solidFill>
                <a:srgbClr val="242A33"/>
              </a:solidFill>
              <a:latin typeface="Arial"/>
            </a:endParaRPr>
          </a:p>
        </p:txBody>
      </p:sp>
      <p:sp>
        <p:nvSpPr>
          <p:cNvPr id="3" name="Title 2"/>
          <p:cNvSpPr>
            <a:spLocks noGrp="1"/>
          </p:cNvSpPr>
          <p:nvPr>
            <p:ph type="title"/>
          </p:nvPr>
        </p:nvSpPr>
        <p:spPr/>
        <p:txBody>
          <a:bodyPr/>
          <a:lstStyle/>
          <a:p>
            <a:r>
              <a:rPr dirty="0"/>
              <a:t>Lab 1B: 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68DF2B2E-2FF1-A49A-0E2E-926351A38BC4}"/>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Open branch release project </a:t>
            </a:r>
            <a:r>
              <a:rPr lang="en-US" dirty="0" err="1">
                <a:solidFill>
                  <a:srgbClr val="242A33"/>
                </a:solidFill>
                <a:latin typeface="Arial"/>
              </a:rPr>
              <a:t>FillingLine_Inheritance</a:t>
            </a:r>
            <a:endParaRPr lang="en-US" dirty="0">
              <a:solidFill>
                <a:srgbClr val="242A33"/>
              </a:solidFill>
              <a:latin typeface="Arial"/>
            </a:endParaRPr>
          </a:p>
          <a:p>
            <a:pPr>
              <a:lnSpc>
                <a:spcPct val="130000"/>
              </a:lnSpc>
            </a:pPr>
            <a:r>
              <a:rPr lang="en-US" dirty="0">
                <a:solidFill>
                  <a:srgbClr val="242A33"/>
                </a:solidFill>
              </a:rPr>
              <a:t>Add </a:t>
            </a:r>
            <a:r>
              <a:rPr lang="en-US" dirty="0" err="1">
                <a:solidFill>
                  <a:srgbClr val="242A33"/>
                </a:solidFill>
              </a:rPr>
              <a:t>ModePause</a:t>
            </a:r>
            <a:r>
              <a:rPr lang="en-US" dirty="0">
                <a:solidFill>
                  <a:srgbClr val="242A33"/>
                </a:solidFill>
              </a:rPr>
              <a:t> to input of every function block</a:t>
            </a:r>
            <a:endParaRPr lang="en-US" dirty="0">
              <a:solidFill>
                <a:srgbClr val="242A33"/>
              </a:solidFill>
              <a:latin typeface="Arial"/>
            </a:endParaRPr>
          </a:p>
          <a:p>
            <a:pPr>
              <a:lnSpc>
                <a:spcPct val="130000"/>
              </a:lnSpc>
            </a:pPr>
            <a:r>
              <a:rPr lang="en-US" dirty="0">
                <a:solidFill>
                  <a:srgbClr val="242A33"/>
                </a:solidFill>
                <a:latin typeface="Arial"/>
              </a:rPr>
              <a:t>Spend 5-10 minutes on working through solution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5 files  ·  +</a:t>
            </a:r>
            <a:r>
              <a:rPr lang="en-US" sz="6400" b="1" i="0" dirty="0">
                <a:solidFill>
                  <a:srgbClr val="770000"/>
                </a:solidFill>
                <a:latin typeface="Arial"/>
              </a:rPr>
              <a:t>54</a:t>
            </a:r>
            <a:r>
              <a:rPr sz="6400" b="1" i="0" dirty="0">
                <a:solidFill>
                  <a:srgbClr val="770000"/>
                </a:solidFill>
                <a:latin typeface="Arial"/>
              </a:rPr>
              <a:t>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5791200" cy="1505540"/>
          </a:xfrm>
          <a:prstGeom prst="rect">
            <a:avLst/>
          </a:prstGeom>
          <a:noFill/>
        </p:spPr>
        <p:txBody>
          <a:bodyPr wrap="square" lIns="0" tIns="0" rIns="0" bIns="0">
            <a:spAutoFit/>
          </a:bodyPr>
          <a:lstStyle/>
          <a:p>
            <a:pPr algn="l">
              <a:lnSpc>
                <a:spcPct val="130000"/>
              </a:lnSpc>
            </a:pPr>
            <a:r>
              <a:rPr sz="1800" b="1" dirty="0">
                <a:solidFill>
                  <a:srgbClr val="770000"/>
                </a:solidFill>
                <a:latin typeface="Arial"/>
              </a:rPr>
              <a:t>▸  </a:t>
            </a:r>
            <a:r>
              <a:rPr sz="1800" dirty="0">
                <a:solidFill>
                  <a:srgbClr val="242A33"/>
                </a:solidFill>
                <a:latin typeface="Arial"/>
              </a:rPr>
              <a:t>Same 25 lines of guard logic, paid four times</a:t>
            </a:r>
            <a:r>
              <a:rPr lang="en-US" sz="1800" dirty="0">
                <a:solidFill>
                  <a:srgbClr val="242A33"/>
                </a:solidFill>
                <a:latin typeface="Arial"/>
              </a:rPr>
              <a:t> </a:t>
            </a:r>
          </a:p>
          <a:p>
            <a:pPr algn="l">
              <a:lnSpc>
                <a:spcPct val="130000"/>
              </a:lnSpc>
            </a:pPr>
            <a:r>
              <a:rPr lang="en-US" dirty="0">
                <a:solidFill>
                  <a:srgbClr val="242A33"/>
                </a:solidFill>
                <a:latin typeface="Arial"/>
              </a:rPr>
              <a:t>	</a:t>
            </a:r>
            <a:r>
              <a:rPr lang="en-US" sz="1800" dirty="0">
                <a:solidFill>
                  <a:srgbClr val="242A33"/>
                </a:solidFill>
                <a:latin typeface="Arial"/>
              </a:rPr>
              <a:t>(aka cross-cutting)</a:t>
            </a:r>
            <a:endParaRPr sz="1800" dirty="0">
              <a:solidFill>
                <a:srgbClr val="242A33"/>
              </a:solidFill>
              <a:latin typeface="Arial"/>
            </a:endParaRPr>
          </a:p>
          <a:p>
            <a:pPr algn="l">
              <a:lnSpc>
                <a:spcPct val="130000"/>
              </a:lnSpc>
              <a:spcBef>
                <a:spcPts val="400"/>
              </a:spcBef>
            </a:pPr>
            <a:r>
              <a:rPr sz="1800" b="1" dirty="0">
                <a:solidFill>
                  <a:srgbClr val="770000"/>
                </a:solidFill>
                <a:latin typeface="Arial"/>
              </a:rPr>
              <a:t>▸  </a:t>
            </a:r>
            <a:r>
              <a:rPr sz="1800" b="1" dirty="0">
                <a:solidFill>
                  <a:srgbClr val="242A33"/>
                </a:solidFill>
                <a:latin typeface="Arial"/>
              </a:rPr>
              <a:t>Fill's exception </a:t>
            </a:r>
            <a:r>
              <a:rPr sz="1800" dirty="0">
                <a:solidFill>
                  <a:srgbClr val="242A33"/>
                </a:solidFill>
                <a:latin typeface="Arial"/>
              </a:rPr>
              <a:t>— easy to miss, easy to copy wrong.</a:t>
            </a:r>
            <a:endParaRPr lang="en-US" sz="1800" dirty="0">
              <a:solidFill>
                <a:srgbClr val="242A33"/>
              </a:solidFill>
              <a:latin typeface="Arial"/>
            </a:endParaRPr>
          </a:p>
          <a:p>
            <a:pPr>
              <a:lnSpc>
                <a:spcPct val="130000"/>
              </a:lnSpc>
              <a:spcBef>
                <a:spcPts val="400"/>
              </a:spcBef>
            </a:pPr>
            <a:r>
              <a:rPr lang="en-US" b="1" dirty="0">
                <a:solidFill>
                  <a:srgbClr val="770000"/>
                </a:solidFill>
              </a:rPr>
              <a:t>▸</a:t>
            </a:r>
            <a:r>
              <a:rPr sz="1800" b="1" dirty="0">
                <a:solidFill>
                  <a:srgbClr val="770000"/>
                </a:solidFill>
                <a:latin typeface="Arial"/>
              </a:rPr>
              <a:t> </a:t>
            </a:r>
            <a:r>
              <a:rPr sz="1800" dirty="0">
                <a:solidFill>
                  <a:srgbClr val="242A33"/>
                </a:solidFill>
                <a:latin typeface="Arial"/>
              </a:rPr>
              <a:t>Tomorrow's CR pays this cost too. And the next.</a:t>
            </a:r>
          </a:p>
        </p:txBody>
      </p:sp>
      <p:sp>
        <p:nvSpPr>
          <p:cNvPr id="8" name="Right Brace 7">
            <a:extLst>
              <a:ext uri="{FF2B5EF4-FFF2-40B4-BE49-F238E27FC236}">
                <a16:creationId xmlns:a16="http://schemas.microsoft.com/office/drawing/2014/main" id="{E55C9D90-6A2D-7F9E-F9C2-393F309B06CA}"/>
              </a:ext>
            </a:extLst>
          </p:cNvPr>
          <p:cNvSpPr/>
          <p:nvPr/>
        </p:nvSpPr>
        <p:spPr>
          <a:xfrm>
            <a:off x="5943600" y="3429000"/>
            <a:ext cx="152400" cy="1551260"/>
          </a:xfrm>
          <a:prstGeom prst="rightBrac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3F739C2-926F-4D7F-9B11-47CBD8941DF2}"/>
              </a:ext>
            </a:extLst>
          </p:cNvPr>
          <p:cNvSpPr txBox="1"/>
          <p:nvPr/>
        </p:nvSpPr>
        <p:spPr>
          <a:xfrm>
            <a:off x="6368469" y="3904566"/>
            <a:ext cx="4729180" cy="646331"/>
          </a:xfrm>
          <a:prstGeom prst="rect">
            <a:avLst/>
          </a:prstGeom>
          <a:noFill/>
        </p:spPr>
        <p:txBody>
          <a:bodyPr wrap="none" rtlCol="0">
            <a:spAutoFit/>
          </a:bodyPr>
          <a:lstStyle/>
          <a:p>
            <a:r>
              <a:rPr lang="en-US" dirty="0"/>
              <a:t>Easy to underestimate what a risk a “simple”</a:t>
            </a:r>
          </a:p>
          <a:p>
            <a:r>
              <a:rPr lang="en-US" dirty="0"/>
              <a:t>change can be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Block 1 · CR-1 the drift trap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2182329"/>
          </a:xfrm>
          <a:prstGeom prst="rect">
            <a:avLst/>
          </a:prstGeom>
          <a:noFill/>
        </p:spPr>
        <p:txBody>
          <a:bodyPr wrap="square" lIns="0" tIns="0" rIns="0" bIns="0" anchor="t">
            <a:spAutoFit/>
          </a:bodyPr>
          <a:lstStyle/>
          <a:p>
            <a:pPr algn="l">
              <a:lnSpc>
                <a:spcPct val="130000"/>
              </a:lnSpc>
            </a:pPr>
            <a:r>
              <a:rPr lang="en-US" sz="2800" b="0" i="1" dirty="0">
                <a:solidFill>
                  <a:srgbClr val="FFFFFF"/>
                </a:solidFill>
                <a:latin typeface="Arial"/>
              </a:rPr>
              <a:t>Quick check — how many of you copied Pause logic into Label from Cap? From Fill? From Inspect?  Now: check if </a:t>
            </a:r>
            <a:r>
              <a:rPr lang="en-US" sz="2800" b="0" i="1" dirty="0" err="1">
                <a:solidFill>
                  <a:srgbClr val="FFFFFF"/>
                </a:solidFill>
                <a:latin typeface="Arial"/>
              </a:rPr>
              <a:t>FB_Station</a:t>
            </a:r>
            <a:r>
              <a:rPr lang="en-US" sz="2800" i="1" dirty="0" err="1">
                <a:solidFill>
                  <a:srgbClr val="FFFFFF"/>
                </a:solidFill>
                <a:latin typeface="Arial"/>
              </a:rPr>
              <a:t>Fill</a:t>
            </a:r>
            <a:r>
              <a:rPr lang="en-US" sz="2800" i="1" dirty="0">
                <a:solidFill>
                  <a:srgbClr val="FFFFFF"/>
                </a:solidFill>
                <a:latin typeface="Arial"/>
              </a:rPr>
              <a:t> has a</a:t>
            </a:r>
            <a:r>
              <a:rPr lang="en-US" sz="2800" b="0" i="1" dirty="0">
                <a:solidFill>
                  <a:srgbClr val="FFFFFF"/>
                </a:solidFill>
                <a:latin typeface="Arial"/>
              </a:rPr>
              <a:t> level-based </a:t>
            </a:r>
            <a:r>
              <a:rPr lang="en-US" sz="2800" b="0" i="1" dirty="0" err="1">
                <a:solidFill>
                  <a:srgbClr val="FFFFFF"/>
                </a:solidFill>
                <a:latin typeface="Arial"/>
              </a:rPr>
              <a:t>AlarmAck</a:t>
            </a:r>
            <a:r>
              <a:rPr lang="en-US" sz="2800" b="0" i="1" dirty="0">
                <a:solidFill>
                  <a:srgbClr val="FFFFFF"/>
                </a:solidFill>
                <a:latin typeface="Arial"/>
              </a:rPr>
              <a:t> or if it has trigger-based </a:t>
            </a:r>
            <a:r>
              <a:rPr lang="en-US" sz="2800" b="0" i="1" dirty="0" err="1">
                <a:solidFill>
                  <a:srgbClr val="FFFFFF"/>
                </a:solidFill>
                <a:latin typeface="Arial"/>
              </a:rPr>
              <a:t>AlarmAck</a:t>
            </a:r>
            <a:r>
              <a:rPr lang="en-US" sz="2800" b="0" i="1" dirty="0">
                <a:solidFill>
                  <a:srgbClr val="FFFFFF"/>
                </a:solidFill>
                <a:latin typeface="Arial"/>
              </a:rPr>
              <a:t>?</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6096000" y="1066800"/>
            <a:ext cx="60960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Time does not permit attempt to write the code</a:t>
            </a:r>
            <a:r>
              <a:rPr sz="2000" b="1" dirty="0">
                <a:solidFill>
                  <a:srgbClr val="770000"/>
                </a:solidFill>
                <a:latin typeface="Arial"/>
              </a:rPr>
              <a:t> (expect 60+ lines of code changes)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branch</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are only in </a:t>
            </a:r>
            <a:r>
              <a:rPr lang="en-US" sz="2000" dirty="0" err="1">
                <a:solidFill>
                  <a:srgbClr val="242A33"/>
                </a:solidFill>
              </a:rPr>
              <a:t>FB_StationInspect</a:t>
            </a:r>
            <a:r>
              <a:rPr lang="en-US" sz="2000" dirty="0">
                <a:solidFill>
                  <a:srgbClr val="242A33"/>
                </a:solidFill>
              </a:rPr>
              <a:t>. </a:t>
            </a:r>
          </a:p>
        </p:txBody>
      </p:sp>
      <p:sp>
        <p:nvSpPr>
          <p:cNvPr id="3" name="Title 2"/>
          <p:cNvSpPr>
            <a:spLocks noGrp="1"/>
          </p:cNvSpPr>
          <p:nvPr>
            <p:ph type="title"/>
          </p:nvPr>
        </p:nvSpPr>
        <p:spPr/>
        <p:txBody>
          <a:bodyPr/>
          <a:lstStyle/>
          <a:p>
            <a:r>
              <a:rPr dirty="0"/>
              <a:t>Lab 1C: CR-2  ·  Flag Bad Parts without Stopping the Line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88689AC8-FA55-91D7-094D-40598DE86933}"/>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a:t>
            </a:r>
            <a:r>
              <a:rPr lang="en-US" sz="2000" dirty="0"/>
              <a:t>Learn diff </a:t>
            </a:r>
            <a:endParaRPr lang="en-US" sz="2000" dirty="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stage-1-procedural...stage-1-cr2-applied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i="0" dirty="0">
                <a:solidFill>
                  <a:srgbClr val="770000"/>
                </a:solidFill>
                <a:latin typeface="Arial"/>
              </a:rPr>
              <a:t>48</a:t>
            </a:r>
            <a:r>
              <a:rPr sz="6400" b="1" i="0" dirty="0">
                <a:solidFill>
                  <a:srgbClr val="770000"/>
                </a:solidFill>
                <a:latin typeface="Arial"/>
              </a:rPr>
              <a:t>  −</a:t>
            </a:r>
            <a:r>
              <a:rPr lang="en-US" sz="6400" b="1" dirty="0">
                <a:solidFill>
                  <a:srgbClr val="770000"/>
                </a:solidFill>
                <a:latin typeface="Arial"/>
              </a:rPr>
              <a:t>12</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Lab 1D: 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D4E78A31-0206-C3EF-90C5-205EA65BFC59}"/>
              </a:ext>
            </a:extLst>
          </p:cNvPr>
          <p:cNvSpPr txBox="1">
            <a:spLocks/>
          </p:cNvSpPr>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b="1" dirty="0">
                <a:solidFill>
                  <a:srgbClr val="770000"/>
                </a:solidFill>
                <a:latin typeface="Arial"/>
              </a:rPr>
              <a:t>▸  </a:t>
            </a:r>
            <a:r>
              <a:rPr lang="en-US" sz="2000" dirty="0">
                <a:solidFill>
                  <a:srgbClr val="242A33"/>
                </a:solidFill>
                <a:latin typeface="Arial"/>
              </a:rPr>
              <a:t>Log cycle data for Fill and Inspect. Cap and Label don't need it.</a:t>
            </a:r>
          </a:p>
          <a:p>
            <a:pPr>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Independent work for future to really hammer home the </a:t>
            </a:r>
            <a:r>
              <a:rPr lang="en-US" sz="2000" b="1" dirty="0" err="1">
                <a:solidFill>
                  <a:srgbClr val="242A33"/>
                </a:solidFill>
                <a:latin typeface="Arial"/>
              </a:rPr>
              <a:t>repetiveness</a:t>
            </a:r>
            <a:r>
              <a:rPr lang="en-US" sz="2000" b="1" dirty="0">
                <a:solidFill>
                  <a:srgbClr val="242A33"/>
                </a:solidFill>
                <a:latin typeface="Arial"/>
              </a:rPr>
              <a:t> of procedural coding</a:t>
            </a:r>
            <a:endParaRPr lang="en-US" sz="2000" dirty="0">
              <a:solidFill>
                <a:srgbClr val="242A33"/>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stage-1-procedural...stage-1-cr3-applied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dirty="0">
                <a:solidFill>
                  <a:srgbClr val="770000"/>
                </a:solidFill>
                <a:latin typeface="Arial"/>
              </a:rPr>
              <a:t>9</a:t>
            </a:r>
            <a:r>
              <a:rPr sz="6400" b="1" i="0" dirty="0">
                <a:solidFill>
                  <a:srgbClr val="770000"/>
                </a:solidFill>
                <a:latin typeface="Arial"/>
              </a:rPr>
              <a:t>  −</a:t>
            </a:r>
            <a:r>
              <a:rPr lang="en-US" sz="6400" b="1" dirty="0">
                <a:solidFill>
                  <a:srgbClr val="770000"/>
                </a:solidFill>
                <a:latin typeface="Arial"/>
              </a:rPr>
              <a:t>1</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1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graphicFrame>
        <p:nvGraphicFramePr>
          <p:cNvPr id="5" name="Table 4">
            <a:extLst>
              <a:ext uri="{FF2B5EF4-FFF2-40B4-BE49-F238E27FC236}">
                <a16:creationId xmlns:a16="http://schemas.microsoft.com/office/drawing/2014/main" id="{EDD6627A-8765-3D93-B45D-AA15DF280B2A}"/>
              </a:ext>
            </a:extLst>
          </p:cNvPr>
          <p:cNvGraphicFramePr>
            <a:graphicFrameLocks noGrp="1"/>
          </p:cNvGraphicFramePr>
          <p:nvPr>
            <p:extLst>
              <p:ext uri="{D42A27DB-BD31-4B8C-83A1-F6EECF244321}">
                <p14:modId xmlns:p14="http://schemas.microsoft.com/office/powerpoint/2010/main" val="4432416"/>
              </p:ext>
            </p:extLst>
          </p:nvPr>
        </p:nvGraphicFramePr>
        <p:xfrm>
          <a:off x="533400" y="1523999"/>
          <a:ext cx="10253980" cy="5084276"/>
        </p:xfrm>
        <a:graphic>
          <a:graphicData uri="http://schemas.openxmlformats.org/drawingml/2006/table">
            <a:tbl>
              <a:tblPr firstRow="1" bandRow="1">
                <a:tableStyleId>{0817EA92-75D0-4044-A80A-286907CE0DDC}</a:tableStyleId>
              </a:tblPr>
              <a:tblGrid>
                <a:gridCol w="4729480">
                  <a:extLst>
                    <a:ext uri="{9D8B030D-6E8A-4147-A177-3AD203B41FA5}">
                      <a16:colId xmlns:a16="http://schemas.microsoft.com/office/drawing/2014/main" val="656841972"/>
                    </a:ext>
                  </a:extLst>
                </a:gridCol>
                <a:gridCol w="5524500">
                  <a:extLst>
                    <a:ext uri="{9D8B030D-6E8A-4147-A177-3AD203B41FA5}">
                      <a16:colId xmlns:a16="http://schemas.microsoft.com/office/drawing/2014/main" val="2497394446"/>
                    </a:ext>
                  </a:extLst>
                </a:gridCol>
              </a:tblGrid>
              <a:tr h="813869">
                <a:tc>
                  <a:txBody>
                    <a:bodyPr/>
                    <a:lstStyle/>
                    <a:p>
                      <a:pPr algn="ctr"/>
                      <a:r>
                        <a:rPr lang="en-US" sz="2800" dirty="0"/>
                        <a:t>Pros</a:t>
                      </a:r>
                    </a:p>
                  </a:txBody>
                  <a:tcPr anchor="ctr"/>
                </a:tc>
                <a:tc>
                  <a:txBody>
                    <a:bodyPr/>
                    <a:lstStyle/>
                    <a:p>
                      <a:pPr algn="ctr"/>
                      <a:r>
                        <a:rPr lang="en-US" sz="2800" dirty="0"/>
                        <a:t>Cons</a:t>
                      </a:r>
                      <a:endParaRPr lang="en-US" dirty="0"/>
                    </a:p>
                  </a:txBody>
                  <a:tcPr anchor="ctr"/>
                </a:tc>
                <a:extLst>
                  <a:ext uri="{0D108BD9-81ED-4DB2-BD59-A6C34878D82A}">
                    <a16:rowId xmlns:a16="http://schemas.microsoft.com/office/drawing/2014/main" val="3668914003"/>
                  </a:ext>
                </a:extLst>
              </a:tr>
              <a:tr h="813869">
                <a:tc>
                  <a:txBody>
                    <a:bodyPr/>
                    <a:lstStyle/>
                    <a:p>
                      <a:r>
                        <a:rPr lang="en-US" b="1" dirty="0"/>
                        <a:t>Simple and familiar</a:t>
                      </a:r>
                    </a:p>
                    <a:p>
                      <a:r>
                        <a:rPr lang="en-US" dirty="0"/>
                        <a:t>Every controls engineer knows this structure</a:t>
                      </a:r>
                    </a:p>
                  </a:txBody>
                  <a:tcPr/>
                </a:tc>
                <a:tc>
                  <a:txBody>
                    <a:bodyPr/>
                    <a:lstStyle/>
                    <a:p>
                      <a:r>
                        <a:rPr lang="en-US" b="1" dirty="0"/>
                        <a:t>Same change made in every station file</a:t>
                      </a:r>
                    </a:p>
                    <a:p>
                      <a:r>
                        <a:rPr lang="en-US" dirty="0"/>
                        <a:t>No mechanism to enforce consistency</a:t>
                      </a:r>
                    </a:p>
                    <a:p>
                      <a:endParaRPr lang="en-US" dirty="0"/>
                    </a:p>
                  </a:txBody>
                  <a:tcPr/>
                </a:tc>
                <a:extLst>
                  <a:ext uri="{0D108BD9-81ED-4DB2-BD59-A6C34878D82A}">
                    <a16:rowId xmlns:a16="http://schemas.microsoft.com/office/drawing/2014/main" val="2220351396"/>
                  </a:ext>
                </a:extLst>
              </a:tr>
              <a:tr h="813869">
                <a:tc>
                  <a:txBody>
                    <a:bodyPr/>
                    <a:lstStyle/>
                    <a:p>
                      <a:r>
                        <a:rPr lang="en-US" b="1" dirty="0"/>
                        <a:t>Easy to read</a:t>
                      </a:r>
                    </a:p>
                    <a:p>
                      <a:r>
                        <a:rPr lang="en-US" dirty="0"/>
                        <a:t>Entire station behavior is visible in one file</a:t>
                      </a:r>
                    </a:p>
                  </a:txBody>
                  <a:tcPr/>
                </a:tc>
                <a:tc>
                  <a:txBody>
                    <a:bodyPr/>
                    <a:lstStyle/>
                    <a:p>
                      <a:r>
                        <a:rPr lang="en-US" b="1" dirty="0"/>
                        <a:t>Copy-paste is the only tool for sharing logic</a:t>
                      </a:r>
                      <a:r>
                        <a:rPr lang="en-US" dirty="0"/>
                        <a:t> </a:t>
                      </a:r>
                    </a:p>
                    <a:p>
                      <a:r>
                        <a:rPr lang="en-US" dirty="0"/>
                        <a:t>Drift is inevitable</a:t>
                      </a:r>
                    </a:p>
                  </a:txBody>
                  <a:tcPr/>
                </a:tc>
                <a:extLst>
                  <a:ext uri="{0D108BD9-81ED-4DB2-BD59-A6C34878D82A}">
                    <a16:rowId xmlns:a16="http://schemas.microsoft.com/office/drawing/2014/main" val="1916241326"/>
                  </a:ext>
                </a:extLst>
              </a:tr>
              <a:tr h="813869">
                <a:tc>
                  <a:txBody>
                    <a:bodyPr/>
                    <a:lstStyle/>
                    <a:p>
                      <a:r>
                        <a:rPr lang="en-US" b="1" dirty="0"/>
                        <a:t>No framework knowledge required</a:t>
                      </a:r>
                    </a:p>
                  </a:txBody>
                  <a:tcPr/>
                </a:tc>
                <a:tc>
                  <a:txBody>
                    <a:bodyPr/>
                    <a:lstStyle/>
                    <a:p>
                      <a:r>
                        <a:rPr lang="en-US" b="1" dirty="0"/>
                        <a:t>Discipline is the only defense against inconsistency</a:t>
                      </a:r>
                    </a:p>
                    <a:p>
                      <a:r>
                        <a:rPr lang="en-US" dirty="0"/>
                        <a:t>And discipline is bounded</a:t>
                      </a:r>
                    </a:p>
                  </a:txBody>
                  <a:tcPr/>
                </a:tc>
                <a:extLst>
                  <a:ext uri="{0D108BD9-81ED-4DB2-BD59-A6C34878D82A}">
                    <a16:rowId xmlns:a16="http://schemas.microsoft.com/office/drawing/2014/main" val="384516137"/>
                  </a:ext>
                </a:extLst>
              </a:tr>
              <a:tr h="813869">
                <a:tc>
                  <a:txBody>
                    <a:bodyPr/>
                    <a:lstStyle/>
                    <a:p>
                      <a:r>
                        <a:rPr lang="en-US" b="1" dirty="0"/>
                        <a:t>Fast to write for first implementation</a:t>
                      </a:r>
                    </a:p>
                    <a:p>
                      <a:endParaRPr lang="en-US" dirty="0"/>
                    </a:p>
                  </a:txBody>
                  <a:tcPr/>
                </a:tc>
                <a:tc>
                  <a:txBody>
                    <a:bodyPr/>
                    <a:lstStyle/>
                    <a:p>
                      <a:r>
                        <a:rPr lang="en-US" b="1" dirty="0"/>
                        <a:t>Cross-cutting changes ripple across every station file</a:t>
                      </a:r>
                    </a:p>
                  </a:txBody>
                  <a:tcPr/>
                </a:tc>
                <a:extLst>
                  <a:ext uri="{0D108BD9-81ED-4DB2-BD59-A6C34878D82A}">
                    <a16:rowId xmlns:a16="http://schemas.microsoft.com/office/drawing/2014/main" val="3349749003"/>
                  </a:ext>
                </a:extLst>
              </a:tr>
              <a:tr h="813869">
                <a:tc>
                  <a:txBody>
                    <a:bodyPr/>
                    <a:lstStyle/>
                    <a:p>
                      <a:r>
                        <a:rPr lang="en-US" b="1" dirty="0"/>
                        <a:t>Easy to debug</a:t>
                      </a:r>
                      <a:r>
                        <a:rPr lang="en-US" dirty="0"/>
                        <a:t> </a:t>
                      </a:r>
                    </a:p>
                    <a:p>
                      <a:r>
                        <a:rPr lang="en-US" dirty="0"/>
                        <a:t>No inheritance chain to trace</a:t>
                      </a:r>
                    </a:p>
                  </a:txBody>
                  <a:tcPr/>
                </a:tc>
                <a:tc>
                  <a:txBody>
                    <a:bodyPr/>
                    <a:lstStyle/>
                    <a:p>
                      <a:r>
                        <a:rPr lang="en-US" b="1" dirty="0"/>
                        <a:t>One requirement, five files to touch – and counting</a:t>
                      </a:r>
                    </a:p>
                  </a:txBody>
                  <a:tcPr/>
                </a:tc>
                <a:extLst>
                  <a:ext uri="{0D108BD9-81ED-4DB2-BD59-A6C34878D82A}">
                    <a16:rowId xmlns:a16="http://schemas.microsoft.com/office/drawing/2014/main" val="113401309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627186"/>
                </a:solidFill>
                <a:latin typeface="Arial"/>
              </a:rPr>
              <a:t>75</a:t>
            </a:r>
            <a:r>
              <a:rPr sz="1800" b="1" i="0" dirty="0">
                <a:solidFill>
                  <a:srgbClr val="627186"/>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duplication evaporates.</a:t>
            </a:r>
          </a:p>
          <a:p>
            <a:pPr algn="l">
              <a:lnSpc>
                <a:spcPct val="140000"/>
              </a:lnSpc>
            </a:pPr>
            <a:r>
              <a:rPr sz="2000" b="0" i="1" dirty="0">
                <a:solidFill>
                  <a:srgbClr val="242A33"/>
                </a:solidFill>
                <a:latin typeface="Arial"/>
              </a:rPr>
              <a:t>Then the base class becomes the constraint.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b="1" dirty="0">
                <a:solidFill>
                  <a:srgbClr val="242A33"/>
                </a:solidFill>
                <a:latin typeface="Arial"/>
              </a:rPr>
              <a:t>Origin </a:t>
            </a:r>
            <a:r>
              <a:rPr sz="2000" dirty="0">
                <a:solidFill>
                  <a:srgbClr val="242A33"/>
                </a:solidFill>
                <a:latin typeface="Arial"/>
              </a:rPr>
              <a:t>— Simula 67, Smalltalk 1972; mainstream via C++ / Java.</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Mental model </a:t>
            </a:r>
            <a:r>
              <a:rPr sz="2000" dirty="0">
                <a:solidFill>
                  <a:srgbClr val="242A33"/>
                </a:solidFill>
                <a:latin typeface="Arial"/>
              </a:rPr>
              <a:t>— base encodes shared; children override to specialize.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IEC 61131-3 </a:t>
            </a:r>
            <a:r>
              <a:rPr sz="2000" dirty="0">
                <a:solidFill>
                  <a:srgbClr val="242A33"/>
                </a:solidFill>
                <a:latin typeface="Arial"/>
              </a:rPr>
              <a:t>— inheritance included in 3</a:t>
            </a:r>
            <a:r>
              <a:rPr sz="2000" baseline="30000" dirty="0">
                <a:solidFill>
                  <a:srgbClr val="242A33"/>
                </a:solidFill>
                <a:latin typeface="Arial"/>
              </a:rPr>
              <a:t>rd</a:t>
            </a:r>
            <a:r>
              <a:rPr sz="2000" dirty="0">
                <a:solidFill>
                  <a:srgbClr val="242A33"/>
                </a:solidFill>
                <a:latin typeface="Arial"/>
              </a:rPr>
              <a:t> edition (2013)</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Promise </a:t>
            </a:r>
            <a:r>
              <a:rPr sz="2000" dirty="0">
                <a:solidFill>
                  <a:srgbClr val="242A33"/>
                </a:solidFill>
                <a:latin typeface="Arial"/>
              </a:rPr>
              <a:t>— write the common path once.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Catch </a:t>
            </a:r>
            <a:r>
              <a:rPr sz="2000" dirty="0">
                <a:solidFill>
                  <a:srgbClr val="242A33"/>
                </a:solidFill>
                <a:latin typeface="Arial"/>
              </a:rPr>
              <a:t>— the common path becomes a </a:t>
            </a:r>
            <a:r>
              <a:rPr sz="2000" u="sng" dirty="0">
                <a:solidFill>
                  <a:srgbClr val="242A33"/>
                </a:solidFill>
                <a:latin typeface="Arial"/>
              </a:rPr>
              <a:t>constraint</a:t>
            </a:r>
            <a:r>
              <a:rPr sz="2000" dirty="0">
                <a:solidFill>
                  <a:srgbClr val="242A33"/>
                </a:solidFill>
                <a:latin typeface="Arial"/>
              </a:rPr>
              <a: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6EBE-2078-3EFF-32C7-4931FE8BAE1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DB27E9-F1EE-456F-D9DB-0F13213D9467}"/>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inheritance sample structure</a:t>
            </a:r>
          </a:p>
          <a:p>
            <a:r>
              <a:rPr lang="en-US" dirty="0"/>
              <a:t>Understand OOP keywords: EXTENDS, THIS^, SUPER^</a:t>
            </a:r>
          </a:p>
          <a:p>
            <a:r>
              <a:rPr lang="en-US" dirty="0"/>
              <a:t>Understand overriding base class methods</a:t>
            </a:r>
          </a:p>
          <a:p>
            <a:r>
              <a:rPr lang="en-US" dirty="0"/>
              <a:t>See a glimpse of SPT Component Base</a:t>
            </a:r>
          </a:p>
        </p:txBody>
      </p:sp>
      <p:sp>
        <p:nvSpPr>
          <p:cNvPr id="3" name="Title 2">
            <a:extLst>
              <a:ext uri="{FF2B5EF4-FFF2-40B4-BE49-F238E27FC236}">
                <a16:creationId xmlns:a16="http://schemas.microsoft.com/office/drawing/2014/main" id="{BBD0F4BD-CB9F-DE48-54E7-C4A165AD66A3}"/>
              </a:ext>
            </a:extLst>
          </p:cNvPr>
          <p:cNvSpPr>
            <a:spLocks noGrp="1"/>
          </p:cNvSpPr>
          <p:nvPr>
            <p:ph type="title"/>
          </p:nvPr>
        </p:nvSpPr>
        <p:spPr/>
        <p:txBody>
          <a:bodyPr/>
          <a:lstStyle/>
          <a:p>
            <a:r>
              <a:rPr lang="en-US" dirty="0"/>
              <a:t>Lab 2A: Inheritance Code Inspection</a:t>
            </a:r>
          </a:p>
        </p:txBody>
      </p:sp>
      <p:sp>
        <p:nvSpPr>
          <p:cNvPr id="4" name="Text Placeholder 1">
            <a:extLst>
              <a:ext uri="{FF2B5EF4-FFF2-40B4-BE49-F238E27FC236}">
                <a16:creationId xmlns:a16="http://schemas.microsoft.com/office/drawing/2014/main" id="{6CD0E6A3-C142-B136-ECB4-DB2502F1E34C}"/>
              </a:ext>
            </a:extLst>
          </p:cNvPr>
          <p:cNvSpPr txBox="1">
            <a:spLocks/>
          </p:cNvSpPr>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of the solution</a:t>
            </a:r>
          </a:p>
          <a:p>
            <a:r>
              <a:rPr lang="en-US" dirty="0"/>
              <a:t>Go to the </a:t>
            </a:r>
            <a:r>
              <a:rPr lang="en-US" dirty="0" err="1"/>
              <a:t>FillingLine_Inheritance</a:t>
            </a:r>
            <a:r>
              <a:rPr lang="en-US" dirty="0"/>
              <a:t> Project</a:t>
            </a:r>
          </a:p>
          <a:p>
            <a:r>
              <a:rPr lang="en-US" dirty="0"/>
              <a:t>Install project libraries if necessary </a:t>
            </a:r>
          </a:p>
          <a:p>
            <a:r>
              <a:rPr lang="en-US" dirty="0"/>
              <a:t>Open </a:t>
            </a:r>
            <a:r>
              <a:rPr lang="en-US" dirty="0" err="1"/>
              <a:t>FB_StationBase</a:t>
            </a:r>
            <a:r>
              <a:rPr lang="en-US" dirty="0"/>
              <a:t> and identify where the common procedural code blocks have been placed</a:t>
            </a:r>
          </a:p>
          <a:p>
            <a:r>
              <a:rPr lang="en-US" dirty="0"/>
              <a:t>Compare size of </a:t>
            </a:r>
            <a:r>
              <a:rPr lang="en-US" dirty="0" err="1"/>
              <a:t>FB_StationFill</a:t>
            </a:r>
            <a:r>
              <a:rPr lang="en-US" dirty="0"/>
              <a:t> in procedural vs inheritance projects</a:t>
            </a:r>
          </a:p>
        </p:txBody>
      </p:sp>
    </p:spTree>
    <p:extLst>
      <p:ext uri="{BB962C8B-B14F-4D97-AF65-F5344CB8AC3E}">
        <p14:creationId xmlns:p14="http://schemas.microsoft.com/office/powerpoint/2010/main" val="30850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C882F-3613-B7B9-E2B9-D1053713F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A61D96-8F4F-F16D-15E5-EAEB25DC4BE0}"/>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2A0CD0D1-D3C0-C4B6-BFE6-3D049F08B459}"/>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460410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AEBE-4EFB-0213-9CE9-31CCF04FC63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1451607-F7F6-33FD-2203-7B33D1C1D423}"/>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578171AC-8D14-1307-7B4C-E16E93BF3C85}"/>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83523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8994-998B-2B85-A7CE-DAC9B0B9F26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5A11AC-93E0-DF73-DE27-E966A7D06776}"/>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r>
              <a:rPr lang="en-US" sz="2400" dirty="0" err="1">
                <a:solidFill>
                  <a:srgbClr val="242A33"/>
                </a:solidFill>
              </a:rPr>
              <a:t>ExecuteSequence</a:t>
            </a:r>
            <a:r>
              <a:rPr lang="en-US" sz="2400" dirty="0">
                <a:solidFill>
                  <a:srgbClr val="242A33"/>
                </a:solidFill>
              </a:rPr>
              <a:t>() of derived FB overrides base</a:t>
            </a:r>
          </a:p>
        </p:txBody>
      </p:sp>
      <p:sp>
        <p:nvSpPr>
          <p:cNvPr id="3" name="Title 2">
            <a:extLst>
              <a:ext uri="{FF2B5EF4-FFF2-40B4-BE49-F238E27FC236}">
                <a16:creationId xmlns:a16="http://schemas.microsoft.com/office/drawing/2014/main" id="{2DF96589-C8CC-D903-CF5B-7FD00CF3C612}"/>
              </a:ext>
            </a:extLst>
          </p:cNvPr>
          <p:cNvSpPr>
            <a:spLocks noGrp="1"/>
          </p:cNvSpPr>
          <p:nvPr>
            <p:ph type="title"/>
          </p:nvPr>
        </p:nvSpPr>
        <p:spPr/>
        <p:txBody>
          <a:bodyPr/>
          <a:lstStyle/>
          <a:p>
            <a:r>
              <a:rPr lang="en-US" dirty="0"/>
              <a:t>Overriding Base FB Methods</a:t>
            </a:r>
          </a:p>
        </p:txBody>
      </p:sp>
      <p:sp>
        <p:nvSpPr>
          <p:cNvPr id="4" name="Rectangle 3">
            <a:extLst>
              <a:ext uri="{FF2B5EF4-FFF2-40B4-BE49-F238E27FC236}">
                <a16:creationId xmlns:a16="http://schemas.microsoft.com/office/drawing/2014/main" id="{B12B522D-DE27-A628-9B6E-515A7327B4B9}"/>
              </a:ext>
            </a:extLst>
          </p:cNvPr>
          <p:cNvSpPr/>
          <p:nvPr/>
        </p:nvSpPr>
        <p:spPr>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Tree>
    <p:extLst>
      <p:ext uri="{BB962C8B-B14F-4D97-AF65-F5344CB8AC3E}">
        <p14:creationId xmlns:p14="http://schemas.microsoft.com/office/powerpoint/2010/main" val="2653523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2" y="1090799"/>
            <a:ext cx="11887197" cy="5331600"/>
          </a:xfrm>
        </p:spPr>
        <p:txBody>
          <a:bodyPr wrap="square"/>
          <a:lstStyle/>
          <a:p>
            <a:pPr algn="l">
              <a:lnSpc>
                <a:spcPct val="130000"/>
              </a:lnSpc>
            </a:pPr>
            <a:r>
              <a:rPr sz="2000" b="1" dirty="0">
                <a:solidFill>
                  <a:srgbClr val="627186"/>
                </a:solidFill>
                <a:latin typeface="Arial"/>
              </a:rPr>
              <a:t>▸  </a:t>
            </a:r>
            <a:r>
              <a:rPr sz="2000" b="1" dirty="0" err="1">
                <a:solidFill>
                  <a:srgbClr val="242A33"/>
                </a:solidFill>
                <a:latin typeface="Arial"/>
              </a:rPr>
              <a:t>FB_StationFill</a:t>
            </a:r>
            <a:r>
              <a:rPr sz="2000" b="1" dirty="0">
                <a:solidFill>
                  <a:srgbClr val="242A33"/>
                </a:solidFill>
                <a:latin typeface="Arial"/>
              </a:rPr>
              <a:t> </a:t>
            </a:r>
            <a:r>
              <a:rPr sz="2000" dirty="0">
                <a:solidFill>
                  <a:srgbClr val="242A33"/>
                </a:solidFill>
                <a:latin typeface="Arial"/>
              </a:rPr>
              <a:t>— 107 lines → 67. </a:t>
            </a:r>
            <a:r>
              <a:rPr sz="2000" b="1" dirty="0">
                <a:solidFill>
                  <a:srgbClr val="242A33"/>
                </a:solidFill>
                <a:latin typeface="Arial"/>
              </a:rPr>
              <a:t>42% smaller</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#1 fixed </a:t>
            </a:r>
            <a:r>
              <a:rPr sz="2000" dirty="0">
                <a:solidFill>
                  <a:srgbClr val="242A33"/>
                </a:solidFill>
                <a:latin typeface="Arial"/>
              </a:rPr>
              <a:t>— base normalizes alarm-ack to R_TRIG.</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#2 fixed </a:t>
            </a:r>
            <a:r>
              <a:rPr sz="2000" dirty="0">
                <a:solidFill>
                  <a:srgbClr val="242A33"/>
                </a:solidFill>
                <a:latin typeface="Arial"/>
              </a:rPr>
              <a:t>— Label normalized to 0/10/20/30.</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#3 fixed </a:t>
            </a:r>
            <a:r>
              <a:rPr sz="2000" dirty="0">
                <a:solidFill>
                  <a:srgbClr val="242A33"/>
                </a:solidFill>
                <a:latin typeface="Arial"/>
              </a:rPr>
              <a:t>— dead </a:t>
            </a:r>
            <a:r>
              <a:rPr sz="2000" dirty="0" err="1">
                <a:solidFill>
                  <a:srgbClr val="242A33"/>
                </a:solidFill>
                <a:latin typeface="Arial"/>
              </a:rPr>
              <a:t>ManualStep</a:t>
            </a:r>
            <a:r>
              <a:rPr sz="2000" dirty="0">
                <a:solidFill>
                  <a:srgbClr val="242A33"/>
                </a:solidFill>
                <a:latin typeface="Arial"/>
              </a:rPr>
              <a:t> doesn't propagate.</a:t>
            </a:r>
          </a:p>
        </p:txBody>
      </p:sp>
      <p:sp>
        <p:nvSpPr>
          <p:cNvPr id="3" name="Title 2"/>
          <p:cNvSpPr>
            <a:spLocks noGrp="1"/>
          </p:cNvSpPr>
          <p:nvPr>
            <p:ph type="title"/>
          </p:nvPr>
        </p:nvSpPr>
        <p:spPr/>
        <p:txBody>
          <a:bodyPr/>
          <a:lstStyle/>
          <a:p>
            <a:r>
              <a:rPr dirty="0"/>
              <a:t>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1DEF-6362-7CAC-AF46-79C17B81C4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91D9385-018B-11ED-5958-70B609AF6208}"/>
              </a:ext>
            </a:extLst>
          </p:cNvPr>
          <p:cNvSpPr>
            <a:spLocks noGrp="1"/>
          </p:cNvSpPr>
          <p:nvPr>
            <p:ph type="body" sz="quarter" idx="15"/>
          </p:nvPr>
        </p:nvSpPr>
        <p:spPr/>
        <p:txBody>
          <a:bodyPr wrap="square"/>
          <a:lstStyle/>
          <a:p>
            <a:pPr algn="l">
              <a:lnSpc>
                <a:spcPct val="130000"/>
              </a:lnSpc>
            </a:pPr>
            <a:r>
              <a:rPr lang="en-US" sz="2000" b="1" dirty="0">
                <a:solidFill>
                  <a:srgbClr val="C00000"/>
                </a:solidFill>
                <a:latin typeface="Arial"/>
              </a:rPr>
              <a:t>Where is Monitoring() called?</a:t>
            </a:r>
            <a:endParaRPr sz="2000" b="1" dirty="0">
              <a:solidFill>
                <a:srgbClr val="C00000"/>
              </a:solidFill>
              <a:latin typeface="Arial"/>
            </a:endParaRPr>
          </a:p>
        </p:txBody>
      </p:sp>
      <p:sp>
        <p:nvSpPr>
          <p:cNvPr id="3" name="Title 2">
            <a:extLst>
              <a:ext uri="{FF2B5EF4-FFF2-40B4-BE49-F238E27FC236}">
                <a16:creationId xmlns:a16="http://schemas.microsoft.com/office/drawing/2014/main" id="{19F812D9-F39A-F3B7-E0B3-D981F5488870}"/>
              </a:ext>
            </a:extLst>
          </p:cNvPr>
          <p:cNvSpPr>
            <a:spLocks noGrp="1"/>
          </p:cNvSpPr>
          <p:nvPr>
            <p:ph type="title"/>
          </p:nvPr>
        </p:nvSpPr>
        <p:spPr/>
        <p:txBody>
          <a:bodyPr/>
          <a:lstStyle/>
          <a:p>
            <a:r>
              <a:rPr lang="en-US" dirty="0"/>
              <a:t>Monitoring() Execution</a:t>
            </a:r>
            <a:endParaRPr dirty="0"/>
          </a:p>
        </p:txBody>
      </p:sp>
      <p:sp>
        <p:nvSpPr>
          <p:cNvPr id="4" name="TextBox 3">
            <a:extLst>
              <a:ext uri="{FF2B5EF4-FFF2-40B4-BE49-F238E27FC236}">
                <a16:creationId xmlns:a16="http://schemas.microsoft.com/office/drawing/2014/main" id="{E0A69C9E-034F-B5AA-652F-44A44323EE6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extLst>
      <p:ext uri="{BB962C8B-B14F-4D97-AF65-F5344CB8AC3E}">
        <p14:creationId xmlns:p14="http://schemas.microsoft.com/office/powerpoint/2010/main" val="6470213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322652"/>
          </a:xfrm>
          <a:prstGeom prst="rect">
            <a:avLst/>
          </a:prstGeom>
          <a:noFill/>
        </p:spPr>
        <p:txBody>
          <a:bodyPr wrap="square" lIns="0" tIns="0" rIns="0" bIns="0" anchor="t">
            <a:spAutoFit/>
          </a:bodyPr>
          <a:lstStyle/>
          <a:p>
            <a:pPr algn="l">
              <a:lnSpc>
                <a:spcPct val="130000"/>
              </a:lnSpc>
            </a:pPr>
            <a:r>
              <a:rPr sz="1800" b="0" i="1" dirty="0">
                <a:solidFill>
                  <a:srgbClr val="414D5C"/>
                </a:solidFill>
                <a:latin typeface="Arial"/>
              </a:rPr>
              <a:t>My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882-0812-ED7D-5AA6-B260EBE024A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A1BE5B-53A3-9512-324A-BA56EB0CC0E2}"/>
              </a:ext>
            </a:extLst>
          </p:cNvPr>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p>
          <a:p>
            <a:pPr>
              <a:lnSpc>
                <a:spcPct val="130000"/>
              </a:lnSpc>
              <a:spcBef>
                <a:spcPts val="400"/>
              </a:spcBef>
            </a:pPr>
            <a:r>
              <a:rPr lang="en-US" b="1" dirty="0">
                <a:solidFill>
                  <a:srgbClr val="770000"/>
                </a:solidFill>
              </a:rPr>
              <a:t> </a:t>
            </a:r>
            <a:r>
              <a:rPr lang="en-US" b="1" dirty="0">
                <a:solidFill>
                  <a:srgbClr val="242A33"/>
                </a:solidFill>
              </a:rPr>
              <a:t>Use inheritance</a:t>
            </a:r>
            <a:endParaRPr sz="2200" dirty="0">
              <a:solidFill>
                <a:srgbClr val="242A33"/>
              </a:solidFill>
              <a:latin typeface="Arial"/>
            </a:endParaRPr>
          </a:p>
        </p:txBody>
      </p:sp>
      <p:sp>
        <p:nvSpPr>
          <p:cNvPr id="3" name="Title 2">
            <a:extLst>
              <a:ext uri="{FF2B5EF4-FFF2-40B4-BE49-F238E27FC236}">
                <a16:creationId xmlns:a16="http://schemas.microsoft.com/office/drawing/2014/main" id="{67505505-0D95-736F-6047-2AB248DA99F6}"/>
              </a:ext>
            </a:extLst>
          </p:cNvPr>
          <p:cNvSpPr>
            <a:spLocks noGrp="1"/>
          </p:cNvSpPr>
          <p:nvPr>
            <p:ph type="title"/>
          </p:nvPr>
        </p:nvSpPr>
        <p:spPr/>
        <p:txBody>
          <a:bodyPr/>
          <a:lstStyle/>
          <a:p>
            <a:r>
              <a:rPr dirty="0"/>
              <a:t>Lab </a:t>
            </a:r>
            <a:r>
              <a:rPr lang="en-US" dirty="0"/>
              <a:t>2</a:t>
            </a:r>
            <a:r>
              <a:rPr dirty="0"/>
              <a:t>B: CR-1  ·  Add a Pause mode using Inheritance</a:t>
            </a:r>
          </a:p>
        </p:txBody>
      </p:sp>
      <p:sp>
        <p:nvSpPr>
          <p:cNvPr id="4" name="TextBox 3">
            <a:extLst>
              <a:ext uri="{FF2B5EF4-FFF2-40B4-BE49-F238E27FC236}">
                <a16:creationId xmlns:a16="http://schemas.microsoft.com/office/drawing/2014/main" id="{B45105AD-EA62-2C2A-B1D2-593FD0BBCCD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70A8B5EC-560D-175A-0B55-DDDD23802200}"/>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Start from release branch in </a:t>
            </a:r>
            <a:r>
              <a:rPr lang="en-US" dirty="0" err="1">
                <a:solidFill>
                  <a:srgbClr val="242A33"/>
                </a:solidFill>
                <a:latin typeface="Arial"/>
              </a:rPr>
              <a:t>FillingLine_Inheritance</a:t>
            </a:r>
            <a:r>
              <a:rPr lang="en-US" dirty="0">
                <a:solidFill>
                  <a:srgbClr val="242A33"/>
                </a:solidFill>
                <a:latin typeface="Arial"/>
              </a:rPr>
              <a:t> Project</a:t>
            </a:r>
          </a:p>
          <a:p>
            <a:pPr>
              <a:lnSpc>
                <a:spcPct val="130000"/>
              </a:lnSpc>
            </a:pPr>
            <a:r>
              <a:rPr lang="en-US" b="1" dirty="0">
                <a:solidFill>
                  <a:srgbClr val="770000"/>
                </a:solidFill>
              </a:rPr>
              <a:t>Option A: </a:t>
            </a:r>
            <a:r>
              <a:rPr lang="en-US" dirty="0"/>
              <a:t>add </a:t>
            </a:r>
            <a:r>
              <a:rPr lang="en-US" dirty="0" err="1">
                <a:solidFill>
                  <a:srgbClr val="242A33"/>
                </a:solidFill>
              </a:rPr>
              <a:t>AllowPause</a:t>
            </a:r>
            <a:r>
              <a:rPr lang="en-US" dirty="0">
                <a:solidFill>
                  <a:srgbClr val="242A33"/>
                </a:solidFill>
              </a:rPr>
              <a:t>() on the base; add </a:t>
            </a:r>
            <a:r>
              <a:rPr lang="en-US" dirty="0" err="1">
                <a:solidFill>
                  <a:srgbClr val="242A33"/>
                </a:solidFill>
              </a:rPr>
              <a:t>AllowPause</a:t>
            </a:r>
            <a:r>
              <a:rPr lang="en-US" dirty="0">
                <a:solidFill>
                  <a:srgbClr val="242A33"/>
                </a:solidFill>
              </a:rPr>
              <a:t>() to Fill to override base method</a:t>
            </a:r>
            <a:endParaRPr lang="en-US" dirty="0">
              <a:solidFill>
                <a:srgbClr val="242A33"/>
              </a:solidFill>
              <a:latin typeface="Arial"/>
            </a:endParaRPr>
          </a:p>
          <a:p>
            <a:pPr>
              <a:lnSpc>
                <a:spcPct val="130000"/>
              </a:lnSpc>
              <a:spcBef>
                <a:spcPts val="400"/>
              </a:spcBef>
            </a:pPr>
            <a:r>
              <a:rPr lang="en-US" b="1" dirty="0">
                <a:solidFill>
                  <a:srgbClr val="770000"/>
                </a:solidFill>
                <a:latin typeface="Arial"/>
              </a:rPr>
              <a:t>Option B: </a:t>
            </a:r>
            <a:r>
              <a:rPr lang="en-US" dirty="0">
                <a:latin typeface="Arial"/>
              </a:rPr>
              <a:t>add Monitoring() to </a:t>
            </a:r>
            <a:r>
              <a:rPr lang="en-US" dirty="0">
                <a:solidFill>
                  <a:srgbClr val="242A33"/>
                </a:solidFill>
              </a:rPr>
              <a:t>Fill Station to override base method; use </a:t>
            </a:r>
            <a:r>
              <a:rPr lang="en-US" dirty="0" err="1">
                <a:solidFill>
                  <a:srgbClr val="242A33"/>
                </a:solidFill>
              </a:rPr>
              <a:t>SUPER^.Monitoring</a:t>
            </a:r>
            <a:r>
              <a:rPr lang="en-US" dirty="0">
                <a:solidFill>
                  <a:srgbClr val="242A33"/>
                </a:solidFill>
              </a:rPr>
              <a:t>() to include base code</a:t>
            </a:r>
            <a:r>
              <a:rPr lang="en-US" b="1" dirty="0">
                <a:solidFill>
                  <a:srgbClr val="770000"/>
                </a:solidFill>
                <a:latin typeface="Arial"/>
              </a:rPr>
              <a:t> </a:t>
            </a:r>
            <a:r>
              <a:rPr lang="en-US" dirty="0">
                <a:solidFill>
                  <a:srgbClr val="242A33"/>
                </a:solidFill>
                <a:latin typeface="Arial"/>
              </a:rPr>
              <a:t> </a:t>
            </a:r>
          </a:p>
          <a:p>
            <a:pPr>
              <a:lnSpc>
                <a:spcPct val="130000"/>
              </a:lnSpc>
              <a:spcBef>
                <a:spcPts val="400"/>
              </a:spcBef>
            </a:pPr>
            <a:r>
              <a:rPr lang="en-US" dirty="0"/>
              <a:t>Spend 5-10 minutes writing code</a:t>
            </a:r>
            <a:endParaRPr lang="en-US" dirty="0">
              <a:solidFill>
                <a:srgbClr val="242A33"/>
              </a:solidFill>
              <a:latin typeface="Arial"/>
            </a:endParaRPr>
          </a:p>
          <a:p>
            <a:pPr marL="0" indent="0">
              <a:lnSpc>
                <a:spcPct val="130000"/>
              </a:lnSpc>
              <a:spcBef>
                <a:spcPts val="400"/>
              </a:spcBef>
              <a:buNone/>
            </a:pPr>
            <a:endParaRPr lang="en-US" dirty="0">
              <a:solidFill>
                <a:srgbClr val="242A33"/>
              </a:solidFill>
              <a:latin typeface="Arial"/>
            </a:endParaRPr>
          </a:p>
          <a:p>
            <a:pPr>
              <a:lnSpc>
                <a:spcPct val="130000"/>
              </a:lnSpc>
              <a:spcBef>
                <a:spcPts val="400"/>
              </a:spcBef>
            </a:pPr>
            <a:endParaRPr lang="en-US" dirty="0">
              <a:solidFill>
                <a:srgbClr val="242A33"/>
              </a:solidFill>
              <a:latin typeface="Arial"/>
            </a:endParaRPr>
          </a:p>
        </p:txBody>
      </p:sp>
    </p:spTree>
    <p:extLst>
      <p:ext uri="{BB962C8B-B14F-4D97-AF65-F5344CB8AC3E}">
        <p14:creationId xmlns:p14="http://schemas.microsoft.com/office/powerpoint/2010/main" val="11412435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lang="en-US" sz="6400" b="1" dirty="0">
                <a:solidFill>
                  <a:srgbClr val="627186"/>
                </a:solidFill>
                <a:latin typeface="Arial"/>
              </a:rPr>
              <a:t>3</a:t>
            </a:r>
            <a:r>
              <a:rPr sz="6400" b="1" i="0" dirty="0">
                <a:solidFill>
                  <a:srgbClr val="627186"/>
                </a:solidFill>
                <a:latin typeface="Arial"/>
              </a:rPr>
              <a:t> files  ·  +</a:t>
            </a:r>
            <a:r>
              <a:rPr lang="en-US" sz="6400" b="1" dirty="0">
                <a:solidFill>
                  <a:srgbClr val="627186"/>
                </a:solidFill>
                <a:latin typeface="Arial"/>
              </a:rPr>
              <a:t>?</a:t>
            </a:r>
            <a:r>
              <a:rPr sz="6400" b="1" i="0" dirty="0">
                <a:solidFill>
                  <a:srgbClr val="627186"/>
                </a:solidFill>
                <a:latin typeface="Arial"/>
              </a:rPr>
              <a:t>  −</a:t>
            </a:r>
            <a:r>
              <a:rPr lang="en-US" sz="6400" b="1" i="0" dirty="0">
                <a:solidFill>
                  <a:srgbClr val="627186"/>
                </a:solidFill>
                <a:latin typeface="Arial"/>
              </a:rPr>
              <a:t>?</a:t>
            </a:r>
            <a:endParaRPr sz="6400" b="1" i="0" dirty="0">
              <a:solidFill>
                <a:srgbClr val="627186"/>
              </a:solidFill>
              <a:latin typeface="Arial"/>
            </a:endParaRP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1811000" cy="3202415"/>
          </a:xfrm>
          <a:prstGeom prst="rect">
            <a:avLst/>
          </a:prstGeom>
          <a:noFill/>
        </p:spPr>
        <p:txBody>
          <a:bodyPr wrap="square" lIns="0" tIns="0" rIns="0" bIns="0">
            <a:spAutoFit/>
          </a:bodyPr>
          <a:lstStyle/>
          <a:p>
            <a:pPr algn="l">
              <a:lnSpc>
                <a:spcPct val="130000"/>
              </a:lnSpc>
              <a:spcBef>
                <a:spcPts val="400"/>
              </a:spcBef>
            </a:pPr>
            <a:r>
              <a:rPr sz="1800" b="1" dirty="0">
                <a:solidFill>
                  <a:srgbClr val="627186"/>
                </a:solidFill>
                <a:latin typeface="Arial"/>
              </a:rPr>
              <a:t>▸ </a:t>
            </a:r>
            <a:r>
              <a:rPr lang="en-US" sz="1800" b="1" dirty="0">
                <a:solidFill>
                  <a:srgbClr val="627186"/>
                </a:solidFill>
                <a:latin typeface="Arial"/>
              </a:rPr>
              <a:t>Inheritance</a:t>
            </a:r>
            <a:r>
              <a:rPr sz="1800" b="1" dirty="0">
                <a:solidFill>
                  <a:srgbClr val="627186"/>
                </a:solidFill>
                <a:latin typeface="Arial"/>
              </a:rPr>
              <a:t> </a:t>
            </a:r>
            <a:r>
              <a:rPr sz="1800" dirty="0">
                <a:solidFill>
                  <a:srgbClr val="242A33"/>
                </a:solidFill>
                <a:latin typeface="Arial"/>
              </a:rPr>
              <a:t>vs </a:t>
            </a:r>
            <a:r>
              <a:rPr lang="en-US" sz="1800" dirty="0">
                <a:solidFill>
                  <a:srgbClr val="242A33"/>
                </a:solidFill>
                <a:latin typeface="Arial"/>
              </a:rPr>
              <a:t>Procedural</a:t>
            </a:r>
            <a:r>
              <a:rPr sz="1800" dirty="0">
                <a:solidFill>
                  <a:srgbClr val="242A33"/>
                </a:solidFill>
                <a:latin typeface="Arial"/>
              </a:rPr>
              <a:t> </a:t>
            </a:r>
            <a:endParaRPr lang="en-US" sz="1800" dirty="0">
              <a:solidFill>
                <a:srgbClr val="242A33"/>
              </a:solidFill>
              <a:latin typeface="Arial"/>
            </a:endParaRP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Majority of code changes reside in base class  </a:t>
            </a: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Cap, Inspect, Label unchanged!</a:t>
            </a:r>
          </a:p>
          <a:p>
            <a:pPr>
              <a:lnSpc>
                <a:spcPct val="130000"/>
              </a:lnSpc>
              <a:spcBef>
                <a:spcPts val="400"/>
              </a:spcBef>
            </a:pPr>
            <a:r>
              <a:rPr lang="en-US" b="1" dirty="0">
                <a:solidFill>
                  <a:srgbClr val="627186"/>
                </a:solidFill>
              </a:rPr>
              <a:t>▸ Option A: </a:t>
            </a:r>
            <a:r>
              <a:rPr lang="en-US" b="1" dirty="0">
                <a:solidFill>
                  <a:srgbClr val="242A33"/>
                </a:solidFill>
              </a:rPr>
              <a:t>Pollution lives on the base </a:t>
            </a:r>
          </a:p>
          <a:p>
            <a:pPr marL="742950" lvl="1" indent="-285750">
              <a:lnSpc>
                <a:spcPct val="130000"/>
              </a:lnSpc>
              <a:spcBef>
                <a:spcPts val="400"/>
              </a:spcBef>
              <a:buFont typeface="Arial" panose="020B0604020202020204" pitchFamily="34" charset="0"/>
              <a:buChar char="•"/>
            </a:pPr>
            <a:r>
              <a:rPr lang="en-US" dirty="0" err="1">
                <a:solidFill>
                  <a:srgbClr val="242A33"/>
                </a:solidFill>
              </a:rPr>
              <a:t>AllowPause</a:t>
            </a:r>
            <a:r>
              <a:rPr lang="en-US" dirty="0">
                <a:solidFill>
                  <a:srgbClr val="242A33"/>
                </a:solidFill>
              </a:rPr>
              <a:t>() is included in every derived FB just to accommodate one exception for Fill.  </a:t>
            </a:r>
          </a:p>
          <a:p>
            <a:pPr>
              <a:lnSpc>
                <a:spcPct val="130000"/>
              </a:lnSpc>
              <a:spcBef>
                <a:spcPts val="400"/>
              </a:spcBef>
            </a:pPr>
            <a:r>
              <a:rPr lang="en-US" b="1" dirty="0">
                <a:solidFill>
                  <a:srgbClr val="627186"/>
                </a:solidFill>
              </a:rPr>
              <a:t>▸ Option B: </a:t>
            </a:r>
            <a:r>
              <a:rPr lang="en-US" b="1" dirty="0">
                <a:solidFill>
                  <a:srgbClr val="242A33"/>
                </a:solidFill>
              </a:rPr>
              <a:t>Base code logic duplicated</a:t>
            </a:r>
          </a:p>
          <a:p>
            <a:pPr marL="742950" lvl="1" indent="-285750" algn="just">
              <a:lnSpc>
                <a:spcPct val="130000"/>
              </a:lnSpc>
              <a:spcBef>
                <a:spcPts val="400"/>
              </a:spcBef>
              <a:buFont typeface="Arial" panose="020B0604020202020204" pitchFamily="34" charset="0"/>
              <a:buChar char="•"/>
            </a:pPr>
            <a:r>
              <a:rPr lang="en-US" dirty="0">
                <a:solidFill>
                  <a:srgbClr val="242A33"/>
                </a:solidFill>
              </a:rPr>
              <a:t>overriding Monitoring() requires keeping track of duplicate code in multiple locations</a:t>
            </a:r>
            <a:endParaRPr dirty="0">
              <a:solidFill>
                <a:srgbClr val="242A33"/>
              </a:solidFill>
              <a:latin typeface="Arial"/>
            </a:endParaRPr>
          </a:p>
          <a:p>
            <a:pPr algn="l">
              <a:lnSpc>
                <a:spcPct val="130000"/>
              </a:lnSpc>
              <a:spcBef>
                <a:spcPts val="400"/>
              </a:spcBef>
            </a:pPr>
            <a:r>
              <a:rPr sz="1800" b="1" dirty="0">
                <a:solidFill>
                  <a:srgbClr val="627186"/>
                </a:solidFill>
                <a:latin typeface="Arial"/>
              </a:rPr>
              <a:t>▸  </a:t>
            </a:r>
            <a:r>
              <a:rPr sz="1800" dirty="0">
                <a:solidFill>
                  <a:srgbClr val="242A33"/>
                </a:solidFill>
                <a:latin typeface="Arial"/>
              </a:rPr>
              <a:t>Inheritance didn't eliminate the cost. It relocated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98022-7E8A-36B7-20DE-3C02BE268C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1203E5-6349-B0B9-6411-AB023A444288}"/>
              </a:ext>
            </a:extLst>
          </p:cNvPr>
          <p:cNvSpPr>
            <a:spLocks noGrp="1"/>
          </p:cNvSpPr>
          <p:nvPr>
            <p:ph type="body" sz="quarter" idx="15"/>
          </p:nvPr>
        </p:nvSpPr>
        <p:spPr>
          <a:xfrm>
            <a:off x="6096000" y="1066800"/>
            <a:ext cx="59436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is only in </a:t>
            </a:r>
            <a:r>
              <a:rPr lang="en-US" sz="2000" dirty="0" err="1">
                <a:solidFill>
                  <a:srgbClr val="242A33"/>
                </a:solidFill>
              </a:rPr>
              <a:t>FB_StationInspect</a:t>
            </a:r>
            <a:r>
              <a:rPr lang="en-US" sz="2000" dirty="0">
                <a:solidFill>
                  <a:srgbClr val="242A33"/>
                </a:solidFill>
              </a:rPr>
              <a:t> methods</a:t>
            </a:r>
          </a:p>
          <a:p>
            <a:pPr lvl="1">
              <a:lnSpc>
                <a:spcPct val="130000"/>
              </a:lnSpc>
            </a:pPr>
            <a:r>
              <a:rPr lang="en-US" sz="2000" dirty="0" err="1">
                <a:solidFill>
                  <a:srgbClr val="242A33"/>
                </a:solidFill>
              </a:rPr>
              <a:t>ExecuteSequence</a:t>
            </a:r>
            <a:r>
              <a:rPr lang="en-US" sz="2000" dirty="0">
                <a:solidFill>
                  <a:srgbClr val="242A33"/>
                </a:solidFill>
              </a:rPr>
              <a:t>()</a:t>
            </a:r>
          </a:p>
        </p:txBody>
      </p:sp>
      <p:sp>
        <p:nvSpPr>
          <p:cNvPr id="3" name="Title 2">
            <a:extLst>
              <a:ext uri="{FF2B5EF4-FFF2-40B4-BE49-F238E27FC236}">
                <a16:creationId xmlns:a16="http://schemas.microsoft.com/office/drawing/2014/main" id="{3043263D-F86C-5178-4DB1-C69D725D0A61}"/>
              </a:ext>
            </a:extLst>
          </p:cNvPr>
          <p:cNvSpPr>
            <a:spLocks noGrp="1"/>
          </p:cNvSpPr>
          <p:nvPr>
            <p:ph type="title"/>
          </p:nvPr>
        </p:nvSpPr>
        <p:spPr/>
        <p:txBody>
          <a:bodyPr/>
          <a:lstStyle/>
          <a:p>
            <a:r>
              <a:rPr dirty="0"/>
              <a:t>Lab 2C: CR-2  ·  Flag Bad Parts without Stopping the Line </a:t>
            </a:r>
          </a:p>
        </p:txBody>
      </p:sp>
      <p:sp>
        <p:nvSpPr>
          <p:cNvPr id="4" name="TextBox 3">
            <a:extLst>
              <a:ext uri="{FF2B5EF4-FFF2-40B4-BE49-F238E27FC236}">
                <a16:creationId xmlns:a16="http://schemas.microsoft.com/office/drawing/2014/main" id="{66BA5F1B-311A-23FB-5D10-BEEBD7B4173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4B6F5982-4A5C-B0B9-94FA-FBCAC1543F1C}"/>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Use Inheritance</a:t>
            </a:r>
            <a:endParaRPr lang="en-US" sz="2000" dirty="0">
              <a:solidFill>
                <a:srgbClr val="242A33"/>
              </a:solidFill>
              <a:latin typeface="Arial"/>
            </a:endParaRPr>
          </a:p>
        </p:txBody>
      </p:sp>
    </p:spTree>
    <p:extLst>
      <p:ext uri="{BB962C8B-B14F-4D97-AF65-F5344CB8AC3E}">
        <p14:creationId xmlns:p14="http://schemas.microsoft.com/office/powerpoint/2010/main" val="1810398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4952997" cy="5331600"/>
          </a:xfrm>
        </p:spPr>
        <p:txBody>
          <a:bodyPr wrap="square"/>
          <a:lstStyle/>
          <a:p>
            <a:pPr algn="l">
              <a:lnSpc>
                <a:spcPct val="130000"/>
              </a:lnSpc>
            </a:pPr>
            <a:r>
              <a:rPr sz="2000" dirty="0">
                <a:latin typeface="Arial"/>
              </a:rPr>
              <a:t>Skipping SUPER^ severs the inheritance chain silently </a:t>
            </a:r>
            <a:r>
              <a:rPr lang="en-US" sz="2000" dirty="0">
                <a:latin typeface="Arial"/>
              </a:rPr>
              <a:t>–</a:t>
            </a:r>
            <a:r>
              <a:rPr sz="2000" dirty="0">
                <a:latin typeface="Arial"/>
              </a:rPr>
              <a:t> no compiler warning</a:t>
            </a:r>
          </a:p>
          <a:p>
            <a:pPr algn="l">
              <a:lnSpc>
                <a:spcPct val="130000"/>
              </a:lnSpc>
            </a:pPr>
            <a:r>
              <a:rPr lang="en-US" sz="2000" dirty="0">
                <a:solidFill>
                  <a:srgbClr val="242A33"/>
                </a:solidFill>
                <a:latin typeface="Arial"/>
              </a:rPr>
              <a:t>Base and root class improvements no longer flow to the derived class </a:t>
            </a:r>
          </a:p>
          <a:p>
            <a:pPr algn="l">
              <a:lnSpc>
                <a:spcPct val="130000"/>
              </a:lnSpc>
            </a:pPr>
            <a:r>
              <a:rPr lang="en-US" sz="2000" dirty="0">
                <a:solidFill>
                  <a:srgbClr val="242A33"/>
                </a:solidFill>
                <a:latin typeface="Arial"/>
              </a:rPr>
              <a:t>Duplicated logic must be maintained in two places indefinitely</a:t>
            </a:r>
          </a:p>
          <a:p>
            <a:pPr algn="l">
              <a:lnSpc>
                <a:spcPct val="130000"/>
              </a:lnSpc>
            </a:pPr>
            <a:r>
              <a:rPr lang="en-US" sz="2000" dirty="0">
                <a:solidFill>
                  <a:srgbClr val="242A33"/>
                </a:solidFill>
                <a:latin typeface="Arial"/>
              </a:rPr>
              <a:t>A single missed update creates subtle, hard-to-find bugs</a:t>
            </a:r>
          </a:p>
          <a:p>
            <a:pPr algn="l">
              <a:lnSpc>
                <a:spcPct val="130000"/>
              </a:lnSpc>
            </a:pPr>
            <a:r>
              <a:rPr lang="en-US" sz="2000" b="1" dirty="0">
                <a:solidFill>
                  <a:srgbClr val="242A33"/>
                </a:solidFill>
                <a:latin typeface="Arial"/>
              </a:rPr>
              <a:t>Inheritance only saves work if the chain stays intact</a:t>
            </a:r>
          </a:p>
        </p:txBody>
      </p:sp>
      <p:sp>
        <p:nvSpPr>
          <p:cNvPr id="3" name="Title 2"/>
          <p:cNvSpPr>
            <a:spLocks noGrp="1"/>
          </p:cNvSpPr>
          <p:nvPr>
            <p:ph type="title"/>
          </p:nvPr>
        </p:nvSpPr>
        <p:spPr/>
        <p:txBody>
          <a:bodyPr/>
          <a:lstStyle/>
          <a:p>
            <a:r>
              <a:rPr lang="en-US" dirty="0"/>
              <a:t>Peril of Breaking the Inheritance Chain </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grpSp>
        <p:nvGrpSpPr>
          <p:cNvPr id="15" name="Group 14">
            <a:extLst>
              <a:ext uri="{FF2B5EF4-FFF2-40B4-BE49-F238E27FC236}">
                <a16:creationId xmlns:a16="http://schemas.microsoft.com/office/drawing/2014/main" id="{51211A76-EC7D-0127-4507-F21AF996F5F0}"/>
              </a:ext>
            </a:extLst>
          </p:cNvPr>
          <p:cNvGrpSpPr/>
          <p:nvPr/>
        </p:nvGrpSpPr>
        <p:grpSpPr>
          <a:xfrm>
            <a:off x="5068799" y="2005004"/>
            <a:ext cx="6858000" cy="3328996"/>
            <a:chOff x="2362200" y="2778617"/>
            <a:chExt cx="7772400" cy="3914791"/>
          </a:xfrm>
        </p:grpSpPr>
        <p:pic>
          <p:nvPicPr>
            <p:cNvPr id="16" name="Picture 15">
              <a:extLst>
                <a:ext uri="{FF2B5EF4-FFF2-40B4-BE49-F238E27FC236}">
                  <a16:creationId xmlns:a16="http://schemas.microsoft.com/office/drawing/2014/main" id="{C8B41C24-E3AF-129B-16FE-C36413236662}"/>
                </a:ext>
              </a:extLst>
            </p:cNvPr>
            <p:cNvPicPr>
              <a:picLocks noChangeAspect="1"/>
            </p:cNvPicPr>
            <p:nvPr/>
          </p:nvPicPr>
          <p:blipFill>
            <a:blip r:embed="rId3"/>
            <a:stretch>
              <a:fillRect/>
            </a:stretch>
          </p:blipFill>
          <p:spPr>
            <a:xfrm>
              <a:off x="2362200" y="2778617"/>
              <a:ext cx="7772400" cy="3914791"/>
            </a:xfrm>
            <a:prstGeom prst="rect">
              <a:avLst/>
            </a:prstGeom>
          </p:spPr>
        </p:pic>
        <p:sp>
          <p:nvSpPr>
            <p:cNvPr id="17" name="Multiplication Sign 16">
              <a:extLst>
                <a:ext uri="{FF2B5EF4-FFF2-40B4-BE49-F238E27FC236}">
                  <a16:creationId xmlns:a16="http://schemas.microsoft.com/office/drawing/2014/main" id="{768B782D-D3D5-2B9C-BDBB-636FEEAC0770}"/>
                </a:ext>
              </a:extLst>
            </p:cNvPr>
            <p:cNvSpPr/>
            <p:nvPr/>
          </p:nvSpPr>
          <p:spPr>
            <a:xfrm>
              <a:off x="5867400" y="5015846"/>
              <a:ext cx="685800" cy="762000"/>
            </a:xfrm>
            <a:prstGeom prst="mathMultiply">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pitchFamily="2" charset="2"/>
                <a:buChar char="§"/>
              </a:pPr>
              <a:endParaRPr lang="en-US" kern="1200" baseline="0" dirty="0">
                <a:solidFill>
                  <a:schemeClr val="tx1"/>
                </a:solidFill>
                <a:highlight>
                  <a:srgbClr val="800000"/>
                </a:highlight>
                <a:latin typeface="+mj-lt"/>
                <a:ea typeface="+mn-ea"/>
                <a:cs typeface="Arial" pitchFamily="34" charset="0"/>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03761-E5E2-FF10-ED25-CD1CF9D27D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33113E-E571-F659-360B-EFAF4E4CA370}"/>
              </a:ext>
            </a:extLst>
          </p:cNvPr>
          <p:cNvSpPr>
            <a:spLocks noGrp="1"/>
          </p:cNvSpPr>
          <p:nvPr>
            <p:ph type="title"/>
          </p:nvPr>
        </p:nvSpPr>
        <p:spPr/>
        <p:txBody>
          <a:bodyPr/>
          <a:lstStyle/>
          <a:p>
            <a:r>
              <a:rPr dirty="0"/>
              <a:t>Lab 2D: CR-3  ·  Selective cycle logging</a:t>
            </a:r>
          </a:p>
        </p:txBody>
      </p:sp>
      <p:sp>
        <p:nvSpPr>
          <p:cNvPr id="4" name="TextBox 3">
            <a:extLst>
              <a:ext uri="{FF2B5EF4-FFF2-40B4-BE49-F238E27FC236}">
                <a16:creationId xmlns:a16="http://schemas.microsoft.com/office/drawing/2014/main" id="{3839243B-250B-0D63-EEE7-E2C54F991DB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7C3F900D-A256-411C-1C86-2CEA372FE60C}"/>
              </a:ext>
            </a:extLst>
          </p:cNvPr>
          <p:cNvSpPr txBox="1">
            <a:spLocks/>
          </p:cNvSpPr>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Instructions:</a:t>
            </a:r>
            <a:endParaRPr lang="en-US" sz="2000" b="1" dirty="0">
              <a:solidFill>
                <a:srgbClr val="770000"/>
              </a:solidFill>
              <a:latin typeface="Arial"/>
            </a:endParaRPr>
          </a:p>
          <a:p>
            <a:pPr>
              <a:lnSpc>
                <a:spcPct val="130000"/>
              </a:lnSpc>
            </a:pPr>
            <a:r>
              <a:rPr lang="en-US" sz="2000" dirty="0">
                <a:solidFill>
                  <a:srgbClr val="242A33"/>
                </a:solidFill>
                <a:latin typeface="Arial"/>
              </a:rPr>
              <a:t>Open CR3-applied branch and go to </a:t>
            </a:r>
            <a:r>
              <a:rPr lang="en-US" sz="2000" dirty="0" err="1">
                <a:solidFill>
                  <a:srgbClr val="242A33"/>
                </a:solidFill>
                <a:latin typeface="Arial"/>
              </a:rPr>
              <a:t>FillingLine_Inheritance</a:t>
            </a:r>
            <a:endParaRPr lang="en-US" sz="2000" dirty="0">
              <a:solidFill>
                <a:srgbClr val="242A33"/>
              </a:solidFill>
              <a:latin typeface="Arial"/>
            </a:endParaRPr>
          </a:p>
          <a:p>
            <a:pPr>
              <a:lnSpc>
                <a:spcPct val="130000"/>
              </a:lnSpc>
              <a:spcBef>
                <a:spcPts val="400"/>
              </a:spcBef>
            </a:pPr>
            <a:r>
              <a:rPr lang="en-US" sz="2000" dirty="0">
                <a:latin typeface="Arial"/>
              </a:rPr>
              <a:t>Find buffer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added methods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overriding methods in derived FBs</a:t>
            </a:r>
          </a:p>
        </p:txBody>
      </p:sp>
      <p:sp>
        <p:nvSpPr>
          <p:cNvPr id="2" name="Text Placeholder 1">
            <a:extLst>
              <a:ext uri="{FF2B5EF4-FFF2-40B4-BE49-F238E27FC236}">
                <a16:creationId xmlns:a16="http://schemas.microsoft.com/office/drawing/2014/main" id="{6EB02E91-B9E1-2CB0-8ECA-1CF46174AD54}"/>
              </a:ext>
            </a:extLst>
          </p:cNvPr>
          <p:cNvSpPr txBox="1">
            <a:spLocks/>
          </p:cNvSpPr>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dirty="0">
                <a:solidFill>
                  <a:srgbClr val="242A33"/>
                </a:solidFill>
                <a:latin typeface="Arial"/>
              </a:rPr>
              <a:t>Log cycle data for Fill and Inspect. Cap and Label don't need it.</a:t>
            </a:r>
          </a:p>
          <a:p>
            <a:pPr>
              <a:lnSpc>
                <a:spcPct val="130000"/>
              </a:lnSpc>
              <a:spcBef>
                <a:spcPts val="400"/>
              </a:spcBef>
            </a:pPr>
            <a:endParaRPr lang="en-US" sz="2000" dirty="0">
              <a:solidFill>
                <a:srgbClr val="242A33"/>
              </a:solidFill>
              <a:latin typeface="Arial"/>
            </a:endParaRPr>
          </a:p>
        </p:txBody>
      </p:sp>
    </p:spTree>
    <p:extLst>
      <p:ext uri="{BB962C8B-B14F-4D97-AF65-F5344CB8AC3E}">
        <p14:creationId xmlns:p14="http://schemas.microsoft.com/office/powerpoint/2010/main" val="2693696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graphicFrame>
        <p:nvGraphicFramePr>
          <p:cNvPr id="7" name="Table 6">
            <a:extLst>
              <a:ext uri="{FF2B5EF4-FFF2-40B4-BE49-F238E27FC236}">
                <a16:creationId xmlns:a16="http://schemas.microsoft.com/office/drawing/2014/main" id="{C21F56CF-1D82-4B94-1AED-9B189D7D323E}"/>
              </a:ext>
            </a:extLst>
          </p:cNvPr>
          <p:cNvGraphicFramePr>
            <a:graphicFrameLocks noGrp="1"/>
          </p:cNvGraphicFramePr>
          <p:nvPr>
            <p:extLst>
              <p:ext uri="{D42A27DB-BD31-4B8C-83A1-F6EECF244321}">
                <p14:modId xmlns:p14="http://schemas.microsoft.com/office/powerpoint/2010/main" val="175209732"/>
              </p:ext>
            </p:extLst>
          </p:nvPr>
        </p:nvGraphicFramePr>
        <p:xfrm>
          <a:off x="533400" y="1447799"/>
          <a:ext cx="11201400" cy="4959415"/>
        </p:xfrm>
        <a:graphic>
          <a:graphicData uri="http://schemas.openxmlformats.org/drawingml/2006/table">
            <a:tbl>
              <a:tblPr firstRow="1" bandRow="1">
                <a:tableStyleId>{0817EA92-75D0-4044-A80A-286907CE0DDC}</a:tableStyleId>
              </a:tblPr>
              <a:tblGrid>
                <a:gridCol w="5600700">
                  <a:extLst>
                    <a:ext uri="{9D8B030D-6E8A-4147-A177-3AD203B41FA5}">
                      <a16:colId xmlns:a16="http://schemas.microsoft.com/office/drawing/2014/main" val="3442526194"/>
                    </a:ext>
                  </a:extLst>
                </a:gridCol>
                <a:gridCol w="5600700">
                  <a:extLst>
                    <a:ext uri="{9D8B030D-6E8A-4147-A177-3AD203B41FA5}">
                      <a16:colId xmlns:a16="http://schemas.microsoft.com/office/drawing/2014/main" val="2220569810"/>
                    </a:ext>
                  </a:extLst>
                </a:gridCol>
              </a:tblGrid>
              <a:tr h="991883">
                <a:tc>
                  <a:txBody>
                    <a:bodyPr/>
                    <a:lstStyle/>
                    <a:p>
                      <a:pPr algn="ctr"/>
                      <a:r>
                        <a:rPr lang="en-US" sz="2800" dirty="0"/>
                        <a:t>Pros</a:t>
                      </a:r>
                    </a:p>
                  </a:txBody>
                  <a:tcPr anchor="ctr"/>
                </a:tc>
                <a:tc>
                  <a:txBody>
                    <a:bodyPr/>
                    <a:lstStyle/>
                    <a:p>
                      <a:pPr algn="ctr"/>
                      <a:r>
                        <a:rPr lang="en-US" sz="2800" dirty="0"/>
                        <a:t>Cons</a:t>
                      </a:r>
                    </a:p>
                  </a:txBody>
                  <a:tcPr anchor="ctr"/>
                </a:tc>
                <a:extLst>
                  <a:ext uri="{0D108BD9-81ED-4DB2-BD59-A6C34878D82A}">
                    <a16:rowId xmlns:a16="http://schemas.microsoft.com/office/drawing/2014/main" val="422948761"/>
                  </a:ext>
                </a:extLst>
              </a:tr>
              <a:tr h="991883">
                <a:tc>
                  <a:txBody>
                    <a:bodyPr/>
                    <a:lstStyle/>
                    <a:p>
                      <a:r>
                        <a:rPr lang="en-US" dirty="0"/>
                        <a:t>Common code written once, inherited by all</a:t>
                      </a:r>
                    </a:p>
                  </a:txBody>
                  <a:tcPr/>
                </a:tc>
                <a:tc>
                  <a:txBody>
                    <a:bodyPr/>
                    <a:lstStyle/>
                    <a:p>
                      <a:r>
                        <a:rPr lang="en-US" dirty="0"/>
                        <a:t>Base accumulates features all children inherit whether they need them or not</a:t>
                      </a:r>
                    </a:p>
                  </a:txBody>
                  <a:tcPr/>
                </a:tc>
                <a:extLst>
                  <a:ext uri="{0D108BD9-81ED-4DB2-BD59-A6C34878D82A}">
                    <a16:rowId xmlns:a16="http://schemas.microsoft.com/office/drawing/2014/main" val="2572328462"/>
                  </a:ext>
                </a:extLst>
              </a:tr>
              <a:tr h="991883">
                <a:tc>
                  <a:txBody>
                    <a:bodyPr/>
                    <a:lstStyle/>
                    <a:p>
                      <a:r>
                        <a:rPr lang="en-US" dirty="0"/>
                        <a:t>Architecture enforces consistency – no discipline required</a:t>
                      </a:r>
                    </a:p>
                  </a:txBody>
                  <a:tcPr/>
                </a:tc>
                <a:tc>
                  <a:txBody>
                    <a:bodyPr/>
                    <a:lstStyle/>
                    <a:p>
                      <a:r>
                        <a:rPr lang="en-US" dirty="0"/>
                        <a:t>No way to modify a part of an inherited method – it’s all or nothing </a:t>
                      </a:r>
                    </a:p>
                  </a:txBody>
                  <a:tcPr/>
                </a:tc>
                <a:extLst>
                  <a:ext uri="{0D108BD9-81ED-4DB2-BD59-A6C34878D82A}">
                    <a16:rowId xmlns:a16="http://schemas.microsoft.com/office/drawing/2014/main" val="1871502459"/>
                  </a:ext>
                </a:extLst>
              </a:tr>
              <a:tr h="991883">
                <a:tc>
                  <a:txBody>
                    <a:bodyPr/>
                    <a:lstStyle/>
                    <a:p>
                      <a:r>
                        <a:rPr lang="en-US" dirty="0"/>
                        <a:t>Cross-cutting changes touch one file instead of four</a:t>
                      </a:r>
                    </a:p>
                  </a:txBody>
                  <a:tcPr/>
                </a:tc>
                <a:tc>
                  <a:txBody>
                    <a:bodyPr/>
                    <a:lstStyle/>
                    <a:p>
                      <a:r>
                        <a:rPr lang="en-US" dirty="0"/>
                        <a:t>Skipping SUPER^ severs the entire framework chain (consequence of above)</a:t>
                      </a:r>
                    </a:p>
                  </a:txBody>
                  <a:tcPr/>
                </a:tc>
                <a:extLst>
                  <a:ext uri="{0D108BD9-81ED-4DB2-BD59-A6C34878D82A}">
                    <a16:rowId xmlns:a16="http://schemas.microsoft.com/office/drawing/2014/main" val="26321134"/>
                  </a:ext>
                </a:extLst>
              </a:tr>
              <a:tr h="991883">
                <a:tc>
                  <a:txBody>
                    <a:bodyPr/>
                    <a:lstStyle/>
                    <a:p>
                      <a:r>
                        <a:rPr lang="en-US" dirty="0"/>
                        <a:t>Stage 1 drift eliminated</a:t>
                      </a:r>
                    </a:p>
                  </a:txBody>
                  <a:tcPr/>
                </a:tc>
                <a:tc>
                  <a:txBody>
                    <a:bodyPr/>
                    <a:lstStyle/>
                    <a:p>
                      <a:r>
                        <a:rPr lang="en-US" dirty="0"/>
                        <a:t>The base that helped in CR-1 becomes the constraint in CR-2</a:t>
                      </a:r>
                    </a:p>
                  </a:txBody>
                  <a:tcPr/>
                </a:tc>
                <a:extLst>
                  <a:ext uri="{0D108BD9-81ED-4DB2-BD59-A6C34878D82A}">
                    <a16:rowId xmlns:a16="http://schemas.microsoft.com/office/drawing/2014/main" val="730603488"/>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INTERFACE I_AlarmHandler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13798</Words>
  <Application>Microsoft Office PowerPoint</Application>
  <PresentationFormat>Widescreen</PresentationFormat>
  <Paragraphs>959</Paragraphs>
  <Slides>82</Slides>
  <Notes>77</Notes>
  <HiddenSlides>7</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82</vt:i4>
      </vt:variant>
    </vt:vector>
  </HeadingPairs>
  <TitlesOfParts>
    <vt:vector size="90"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but defend it as fine?</vt:lpstr>
      <vt:lpstr>Block 1 debrief — Pros and Cons</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Peril of Breaking the Inheritance Chain </vt:lpstr>
      <vt:lpstr>CR-2 result — the override fight</vt:lpstr>
      <vt:lpstr>Block 2 · CR-2 the breaking-point reveal</vt:lpstr>
      <vt:lpstr>Pre-emptive pushback</vt:lpstr>
      <vt:lpstr>Lab 2D: CR-3  ·  Selective cycle logging</vt:lpstr>
      <vt:lpstr>CR-3 result — dead weight in unrelated children</vt:lpstr>
      <vt:lpstr>Block 2 debrief — Pros and Cons</vt:lpstr>
      <vt:lpstr>Block 2 → Block 3 break</vt:lpstr>
      <vt:lpstr>Block 3</vt:lpstr>
      <vt:lpstr>The composition paradigm</vt:lpstr>
      <vt:lpstr>The file tree — 18 files. Hold the judgment.</vt:lpstr>
      <vt:lpstr>The contract — I_AlarmHandler</vt:lpstr>
      <vt:lpstr>Two implementations — same shape, opposite policy</vt:lpstr>
      <vt:lpstr>A composed station — FB_StationFill</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50</cp:revision>
  <cp:lastPrinted>2016-06-28T12:26:43Z</cp:lastPrinted>
  <dcterms:created xsi:type="dcterms:W3CDTF">2023-02-27T12:44:26Z</dcterms:created>
  <dcterms:modified xsi:type="dcterms:W3CDTF">2026-05-22T02:32:30Z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