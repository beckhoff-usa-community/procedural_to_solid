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showSpecialPlsOnTitleSld="0">
  <p:sldMasterIdLst>
    <p:sldMasterId id="2147483648" r:id="rId4"/>
    <p:sldMasterId id="2147483678" r:id="rId5"/>
  </p:sldMasterIdLst>
  <p:notesMasterIdLst>
    <p:notesMasterId r:id="rId91"/>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27" r:id="rId80"/>
    <p:sldId id="328" r:id="rId81"/>
    <p:sldId id="329" r:id="rId82"/>
    <p:sldId id="330" r:id="rId83"/>
    <p:sldId id="331" r:id="rId84"/>
    <p:sldId id="332" r:id="rId85"/>
    <p:sldId id="333" r:id="rId86"/>
    <p:sldId id="334" r:id="rId87"/>
    <p:sldId id="335" r:id="rId88"/>
    <p:sldId id="336" r:id="rId89"/>
    <p:sldId id="337" r:id="rId90"/>
    <p:sldId id="338" r:id="rId95"/>
    <p:sldId id="339" r:id="rId96"/>
  </p:sldIdLst>
  <p:sldSz cx="12192000" cy="6858000"/>
  <p:notesSz cx="6797675" cy="9926638"/>
  <p:custDataLst>
    <p:custData r:id="rId1"/>
    <p:custData r:id="rId2"/>
    <p:custData r:id="rId3"/>
  </p:custDataLst>
  <p:defaultText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showPr>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a:solidFill>
                <a:schemeClr val="lt1"/>
              </a:solidFill>
            </a:ln>
          </a:left>
          <a:right>
            <a:ln w="0">
              <a:solidFill>
                <a:schemeClr val="lt1"/>
              </a:solidFill>
            </a:ln>
          </a:right>
          <a:top>
            <a:ln w="12700">
              <a:solidFill>
                <a:schemeClr val="lt1"/>
              </a:solidFill>
            </a:ln>
          </a:top>
          <a:bottom>
            <a:ln w="12700">
              <a:solidFill>
                <a:schemeClr val="dk1"/>
              </a:solidFill>
            </a:ln>
          </a:bottom>
          <a:insideH>
            <a:ln w="12700">
              <a:solidFill>
                <a:schemeClr val="dk1"/>
              </a:solidFill>
            </a:ln>
          </a:insideH>
          <a:insideV>
            <a:ln w="12700">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a:solidFill>
                <a:schemeClr val="lt1"/>
              </a:solidFill>
            </a:ln>
          </a:top>
          <a:bottom>
            <a:ln w="12700">
              <a:solidFill>
                <a:schemeClr val="lt1"/>
              </a:solidFill>
            </a:ln>
          </a:bottom>
        </a:tcBdr>
        <a:fill>
          <a:solidFill>
            <a:schemeClr val="dk2"/>
          </a:solidFill>
        </a:fill>
      </a:tcStyle>
    </a:lastRow>
    <a:seCell>
      <a:tcStyle>
        <a:tcBdr/>
      </a:tcStyle>
    </a:seCell>
    <a:swCell>
      <a:tcStyle>
        <a:tcBdr/>
      </a:tcStyle>
    </a:swCell>
    <a:firstRow>
      <a:tcTxStyle b="on">
        <a:fontRef idx="minor">
          <a:prstClr val="black"/>
        </a:fontRef>
        <a:schemeClr val="lt1"/>
      </a:tcTxStyle>
      <a:tcStyle>
        <a:tcBdr>
          <a:bottom>
            <a:ln w="12700">
              <a:solidFill>
                <a:schemeClr val="lt1"/>
              </a:solidFill>
            </a:ln>
          </a:bottom>
        </a:tcBdr>
        <a:fill>
          <a:solidFill>
            <a:schemeClr val="dk2"/>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howGuides="1" snapToObjects="1">
      <p:cViewPr varScale="1">
        <p:scale>
          <a:sx n="56" d="100"/>
          <a:sy n="56" d="100"/>
        </p:scale>
        <p:origin x="974" y="58"/>
      </p:cViewPr>
      <p:guideLst>
        <p:guide pos="3840"/>
        <p:guide pos="2160" orient="horz"/>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theme" Target="theme/theme1.xml"/><Relationship Id="rId7" Type="http://schemas.openxmlformats.org/officeDocument/2006/relationships/theme" Target="theme/theme2.xml"/><Relationship Id="rId8" Type="http://schemas.openxmlformats.org/officeDocument/2006/relationships/theme" Target="theme/theme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tableStyles" Target="tableStyles.xml"/><Relationship Id="rId94" Type="http://schemas.openxmlformats.org/officeDocument/2006/relationships/viewProps" Target="viewProps.xml"/><Relationship Id="rId95" Type="http://schemas.openxmlformats.org/officeDocument/2006/relationships/slide" Target="slides/slide83.xml"/><Relationship Id="rId96"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10452040" name="Foliennummernplatzhalter 6"/>
          <p:cNvSpPr>
            <a:spLocks noGrp="1"/>
          </p:cNvSpPr>
          <p:nvPr>
            <p:ph type="sldNum" sz="quarter" idx="5"/>
          </p:nvPr>
        </p:nvSpPr>
        <p:spPr bwMode="auto">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pPr>
              <a:defRPr/>
            </a:pPr>
            <a:fld id="{B280112D-8454-448C-8A04-1F3237E367D5}" type="slidenum">
              <a:rPr lang="de-DE"/>
              <a:t>‹#›</a:t>
            </a:fld>
            <a:endParaRPr lang="de-DE"/>
          </a:p>
        </p:txBody>
      </p:sp>
      <p:sp>
        <p:nvSpPr>
          <p:cNvPr id="1651299413" name="Datumsplatzhalter 2"/>
          <p:cNvSpPr>
            <a:spLocks noGrp="1"/>
          </p:cNvSpPr>
          <p:nvPr>
            <p:ph type="dt" idx="1"/>
          </p:nvPr>
        </p:nvSpPr>
        <p:spPr bwMode="auto">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pPr>
              <a:defRPr/>
            </a:pPr>
            <a:fld id="{0A2346E5-778D-4A7C-BA30-768202CBF653}" type="datetime1">
              <a:rPr lang="de-DE"/>
              <a:t>21.05.2026</a:t>
            </a:fld>
            <a:endParaRPr lang="de-DE"/>
          </a:p>
        </p:txBody>
      </p:sp>
      <p:sp>
        <p:nvSpPr>
          <p:cNvPr id="477241971" name="Folienbildplatzhalter 3"/>
          <p:cNvSpPr>
            <a:spLocks noChangeAspect="1" noGrp="1" noRot="1"/>
          </p:cNvSpPr>
          <p:nvPr>
            <p:ph type="sldImg" idx="2"/>
          </p:nvPr>
        </p:nvSpPr>
        <p:spPr bwMode="auto">
          <a:xfrm>
            <a:off x="44" y="0"/>
            <a:ext cx="6796059" cy="3823379"/>
          </a:xfrm>
          <a:prstGeom prst="rect">
            <a:avLst/>
          </a:prstGeom>
          <a:noFill/>
          <a:ln w="6350">
            <a:solidFill>
              <a:schemeClr val="tx2"/>
            </a:solidFill>
          </a:ln>
        </p:spPr>
        <p:txBody>
          <a:bodyPr vert="horz" lIns="91432" tIns="45716" rIns="91432" bIns="45716" rtlCol="0" anchor="ctr"/>
          <a:lstStyle/>
          <a:p>
            <a:pPr>
              <a:defRPr/>
            </a:pPr>
            <a:endParaRPr lang="de-DE"/>
          </a:p>
        </p:txBody>
      </p:sp>
      <p:sp>
        <p:nvSpPr>
          <p:cNvPr id="514413386" name="Fußzeilenplatzhalter 5"/>
          <p:cNvSpPr>
            <a:spLocks noGrp="1"/>
          </p:cNvSpPr>
          <p:nvPr>
            <p:ph type="ftr" sz="quarter" idx="4"/>
          </p:nvPr>
        </p:nvSpPr>
        <p:spPr bwMode="auto">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pPr>
              <a:defRPr/>
            </a:pPr>
            <a:r>
              <a:rPr lang="de-DE"/>
              <a:t>Text der Fußzeile</a:t>
            </a:r>
            <a:endParaRPr/>
          </a:p>
        </p:txBody>
      </p:sp>
      <p:cxnSp>
        <p:nvCxnSpPr>
          <p:cNvPr id="1644285551" name="Gerader Verbinder 8"/>
          <p:cNvCxnSpPr/>
          <p:nvPr/>
        </p:nvCxnSpPr>
        <p:spPr bwMode="auto">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4339419" name="Notizenplatzhalter 4"/>
          <p:cNvSpPr>
            <a:spLocks noGrp="1"/>
          </p:cNvSpPr>
          <p:nvPr>
            <p:ph type="body" sz="quarter" idx="3"/>
          </p:nvPr>
        </p:nvSpPr>
        <p:spPr bwMode="auto">
          <a:xfrm>
            <a:off x="1" y="3823379"/>
            <a:ext cx="6796102" cy="5606927"/>
          </a:xfrm>
          <a:prstGeom prst="rect">
            <a:avLst/>
          </a:prstGeom>
        </p:spPr>
        <p:txBody>
          <a:bodyPr vert="horz" lIns="252000" tIns="190783" rIns="179985" bIns="45716" rtlCol="0"/>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 bg1="lt1" tx1="dk1" bg2="lt2" tx2="dk2" accent1="accent1" accent2="accent2" accent3="accent3" accent4="accent4" accent5="accent5" accent6="accent6" hlink="hlink" folHlink="folHlink"/>
  <p:hf dt="1" ftr="1" hdr="1" sldNum="1"/>
  <p:notesStyle>
    <a:lvl1pPr marL="180000" indent="-180000" algn="l" defTabSz="914400" rtl="0">
      <a:buFont typeface="Wingdings"/>
      <a:buChar char="§"/>
      <a:defRPr sz="1200">
        <a:solidFill>
          <a:schemeClr val="tx1"/>
        </a:solidFill>
        <a:latin typeface="+mn-lt"/>
        <a:ea typeface="+mn-ea"/>
        <a:cs typeface="+mn-cs"/>
      </a:defRPr>
    </a:lvl1pPr>
    <a:lvl2pPr marL="378000" indent="-180000" algn="l" defTabSz="914400" rtl="0">
      <a:buFont typeface="Symbol"/>
      <a:buChar char="-"/>
      <a:defRPr sz="1200">
        <a:solidFill>
          <a:schemeClr val="tx1"/>
        </a:solidFill>
        <a:latin typeface="+mn-lt"/>
        <a:ea typeface="+mn-ea"/>
        <a:cs typeface="+mn-cs"/>
      </a:defRPr>
    </a:lvl2pPr>
    <a:lvl3pPr marL="576000" indent="-180000" algn="l" defTabSz="914400" rtl="0">
      <a:buFont typeface="Symbol"/>
      <a:buChar char="-"/>
      <a:defRPr sz="1200">
        <a:solidFill>
          <a:schemeClr val="tx1"/>
        </a:solidFill>
        <a:latin typeface="+mn-lt"/>
        <a:ea typeface="+mn-ea"/>
        <a:cs typeface="+mn-cs"/>
      </a:defRPr>
    </a:lvl3pPr>
    <a:lvl4pPr marL="774000" indent="-180000" algn="l" defTabSz="914400" rtl="0">
      <a:buFont typeface="Symbol"/>
      <a:buChar char="-"/>
      <a:defRPr sz="1200">
        <a:solidFill>
          <a:schemeClr val="tx1"/>
        </a:solidFill>
        <a:latin typeface="+mn-lt"/>
        <a:ea typeface="+mn-ea"/>
        <a:cs typeface="+mn-cs"/>
      </a:defRPr>
    </a:lvl4pPr>
    <a:lvl5pPr marL="972000" indent="-180000" algn="l" defTabSz="914400" rtl="0">
      <a:buFont typeface="Symbol"/>
      <a:buChar char="-"/>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0838631" name="Slide Number Placeholder 1"/>
          <p:cNvSpPr>
            <a:spLocks noGrp="1"/>
          </p:cNvSpPr>
          <p:nvPr>
            <p:ph type="sldNum" sz="quarter" idx="5"/>
          </p:nvPr>
        </p:nvSpPr>
        <p:spPr bwMode="auto"/>
      </p:sp>
      <p:sp>
        <p:nvSpPr>
          <p:cNvPr id="1406908688" name="Slide Image Placeholder 2"/>
          <p:cNvSpPr>
            <a:spLocks noChangeAspect="1" noGrp="1" noRot="1"/>
          </p:cNvSpPr>
          <p:nvPr>
            <p:ph type="sldImg" idx="2"/>
          </p:nvPr>
        </p:nvSpPr>
        <p:spPr bwMode="auto">
          <a:xfrm>
            <a:off x="0" y="0"/>
            <a:ext cx="6796088" cy="3822700"/>
          </a:xfrm>
        </p:spPr>
      </p:sp>
      <p:sp>
        <p:nvSpPr>
          <p:cNvPr id="1209774744" name="Notes Placeholder 3"/>
          <p:cNvSpPr>
            <a:spLocks noGrp="1"/>
          </p:cNvSpPr>
          <p:nvPr>
            <p:ph type="body" sz="quarter" idx="3"/>
          </p:nvPr>
        </p:nvSpPr>
        <p:spPr bwMode="auto"/>
        <p:txBody>
          <a:bodyPr/>
          <a:lstStyle/>
          <a:p>
            <a:pPr>
              <a:defRPr/>
            </a:pPr>
            <a:r>
              <a:rPr sz="1200">
                <a:latin typeface="Arial"/>
              </a:rPr>
              <a:t>[BEFORE] Up while attendees settle. Don't speak to it.</a:t>
            </a:r>
            <a:endParaRPr/>
          </a:p>
          <a:p>
            <a:pPr>
              <a:defRPr/>
            </a:pPr>
            <a:r>
              <a:rPr sz="1200">
                <a:latin typeface="Arial"/>
              </a:rPr>
              <a:t>[CHECK — first action of the day] Confirm everyone has the repo cloned and a working XAE. Hands up. Anyone who can't build, surface NOW — there's a 5-minute Block 0 budget for env triage.</a:t>
            </a:r>
            <a:r>
              <a:rPr lang="en-US" sz="1200">
                <a:latin typeface="Arial"/>
              </a:rPr>
              <a:t>  </a:t>
            </a:r>
            <a:endParaRPr/>
          </a:p>
          <a:p>
            <a:pPr>
              <a:defRPr/>
            </a:pPr>
            <a:r>
              <a:rPr lang="en-US" sz="1200">
                <a:latin typeface="Arial"/>
              </a:rPr>
              <a:t>[CHECK] – ask for feedback on which Git client people use and what their general familiarity with repos/git/git clients is to help identify who in the class is going to have trouble switching branches</a:t>
            </a:r>
            <a:endParaRPr sz="1200">
              <a:latin typeface="Arial"/>
            </a:endParaRPr>
          </a:p>
          <a:p>
            <a:pPr>
              <a:defRPr/>
            </a:pPr>
            <a:r>
              <a:rPr sz="1200">
                <a:latin typeface="Arial"/>
              </a:rPr>
              <a:t>[SAY — 30-second frame, when you click forward]</a:t>
            </a:r>
            <a:br>
              <a:rPr sz="1200">
                <a:latin typeface="Arial"/>
              </a:rPr>
            </a:br>
            <a:r>
              <a:rPr sz="1200">
                <a:latin typeface="Arial"/>
              </a:rPr>
              <a:t>"You'll build the same filling line three different ways. Same requirements at every stage. The diffs tell the story."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4828209" name="Slide Number Placeholder 1"/>
          <p:cNvSpPr>
            <a:spLocks noGrp="1"/>
          </p:cNvSpPr>
          <p:nvPr>
            <p:ph type="sldNum" sz="quarter" idx="5"/>
          </p:nvPr>
        </p:nvSpPr>
        <p:spPr bwMode="auto"/>
      </p:sp>
      <p:sp>
        <p:nvSpPr>
          <p:cNvPr id="1262318931" name="Slide Image Placeholder 2"/>
          <p:cNvSpPr>
            <a:spLocks noChangeAspect="1" noGrp="1" noRot="1"/>
          </p:cNvSpPr>
          <p:nvPr>
            <p:ph type="sldImg" idx="2"/>
          </p:nvPr>
        </p:nvSpPr>
        <p:spPr bwMode="auto">
          <a:xfrm>
            <a:off x="0" y="0"/>
            <a:ext cx="6796088" cy="3822700"/>
          </a:xfrm>
        </p:spPr>
      </p:sp>
      <p:sp>
        <p:nvSpPr>
          <p:cNvPr id="1375011089" name="Notes Placeholder 3"/>
          <p:cNvSpPr>
            <a:spLocks noGrp="1"/>
          </p:cNvSpPr>
          <p:nvPr>
            <p:ph type="body" sz="quarter" idx="3"/>
          </p:nvPr>
        </p:nvSpPr>
        <p:spPr bwMode="auto"/>
        <p:txBody>
          <a:bodyPr/>
          <a:lstStyle/>
          <a:p>
            <a:pPr>
              <a:defRPr/>
            </a:pPr>
            <a:r>
              <a:rPr sz="1200">
                <a:latin typeface="Arial"/>
              </a:rPr>
              <a:t>[SAY] Read the four lines slowly. The framing controls the whole day.</a:t>
            </a:r>
            <a:endParaRPr/>
          </a:p>
          <a:p>
            <a:pPr>
              <a:defRPr/>
            </a:pPr>
            <a:r>
              <a:rPr sz="1200">
                <a:latin typeface="Arial"/>
              </a:rPr>
              <a:t>[KEY PHRASE] "The diffs tell the story." We are not lecturing about SOLID. We are running a controlled experiment — same inputs, three different blast radii.</a:t>
            </a:r>
            <a:r>
              <a:rPr lang="en-US" sz="120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a:latin typeface="Arial"/>
              </a:rPr>
              <a:t>etc</a:t>
            </a:r>
            <a:endParaRPr sz="1200">
              <a:latin typeface="Arial"/>
            </a:endParaRPr>
          </a:p>
          <a:p>
            <a:pPr>
              <a:defRPr/>
            </a:pPr>
            <a:r>
              <a:rPr sz="1200">
                <a:latin typeface="Arial"/>
              </a:rPr>
              <a:t>[DO] Coax discussion early so the precedent is set. If they sit silent, the workshop fails.</a:t>
            </a:r>
            <a:endParaRPr/>
          </a:p>
          <a:p>
            <a:pPr>
              <a:defRPr/>
            </a:pPr>
            <a:r>
              <a:rPr sz="1200">
                <a:latin typeface="Arial"/>
              </a:rPr>
              <a:t>[NEXT] Branch tree comes after the schedule slide — don't dive in yet.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69090484" name="Slide Number Placeholder 1"/>
          <p:cNvSpPr>
            <a:spLocks noGrp="1"/>
          </p:cNvSpPr>
          <p:nvPr>
            <p:ph type="sldNum" sz="quarter" idx="5"/>
          </p:nvPr>
        </p:nvSpPr>
        <p:spPr bwMode="auto"/>
      </p:sp>
      <p:sp>
        <p:nvSpPr>
          <p:cNvPr id="171183657" name="Slide Image Placeholder 2"/>
          <p:cNvSpPr>
            <a:spLocks noChangeAspect="1" noGrp="1" noRot="1"/>
          </p:cNvSpPr>
          <p:nvPr>
            <p:ph type="sldImg" idx="2"/>
          </p:nvPr>
        </p:nvSpPr>
        <p:spPr bwMode="auto">
          <a:xfrm>
            <a:off x="0" y="0"/>
            <a:ext cx="6796088" cy="3822700"/>
          </a:xfrm>
        </p:spPr>
      </p:sp>
      <p:sp>
        <p:nvSpPr>
          <p:cNvPr id="1205596282" name="Notes Placeholder 3"/>
          <p:cNvSpPr>
            <a:spLocks noGrp="1"/>
          </p:cNvSpPr>
          <p:nvPr>
            <p:ph type="body" sz="quarter" idx="3"/>
          </p:nvPr>
        </p:nvSpPr>
        <p:spPr bwMode="auto"/>
        <p:txBody>
          <a:bodyPr/>
          <a:lstStyle/>
          <a:p>
            <a:pPr>
              <a:defRPr/>
            </a:pPr>
            <a:r>
              <a:rPr sz="1200">
                <a:latin typeface="Arial"/>
              </a:rPr>
              <a:t>[DO] Walk this in 60 seconds. Don't dwell.</a:t>
            </a:r>
            <a:endParaRPr/>
          </a:p>
          <a:p>
            <a:pPr>
              <a:defRPr/>
            </a:pPr>
            <a:r>
              <a:rPr sz="1200">
                <a:latin typeface="Arial"/>
              </a:rPr>
              <a:t>[SAY] "We'll be done by hour 4. Breaks are real."</a:t>
            </a:r>
            <a:endParaRPr/>
          </a:p>
          <a:p>
            <a:pPr>
              <a:defRPr/>
            </a:pPr>
            <a:r>
              <a:rPr sz="1200">
                <a:latin typeface="Arial"/>
              </a:rPr>
              <a:t>[STRETCH ZONES — flag verbally]</a:t>
            </a:r>
            <a:br>
              <a:rPr sz="1200">
                <a:latin typeface="Arial"/>
              </a:rPr>
            </a:br>
            <a:r>
              <a:rPr sz="1200">
                <a:latin typeface="Arial"/>
              </a:rPr>
              <a:t>- Block 1 — "Who copied from Fill?" reveal can run +10 min.</a:t>
            </a:r>
            <a:br>
              <a:rPr sz="1200">
                <a:latin typeface="Arial"/>
              </a:rPr>
            </a:br>
            <a:r>
              <a:rPr sz="1200">
                <a:latin typeface="Arial"/>
              </a:rPr>
              <a:t>- Block 2 — CR-2 'SUPER-can't-be-called' is the workshop's hardest 25 min. Plan to slow down.</a:t>
            </a:r>
            <a:br>
              <a:rPr sz="1200">
                <a:latin typeface="Arial"/>
              </a:rPr>
            </a:br>
            <a:r>
              <a:rPr sz="1200">
                <a:latin typeface="Arial"/>
              </a:rPr>
              <a:t>- Block 3 — CR-2 swap demo lands in 90 seconds; let the silence happen.</a:t>
            </a:r>
            <a:br>
              <a:rPr sz="1200">
                <a:latin typeface="Arial"/>
              </a:rPr>
            </a:br>
            <a:r>
              <a:rPr sz="1200">
                <a:latin typeface="Arial"/>
              </a:rPr>
              <a:t>- Block 4 — plan to overshoot; that's where FAEs cement what they'll teach.</a:t>
            </a:r>
            <a:endParaRPr/>
          </a:p>
          <a:p>
            <a:pPr>
              <a:defRPr/>
            </a:pPr>
            <a:r>
              <a:rPr sz="1200">
                <a:latin typeface="Arial"/>
              </a:rPr>
              <a:t>[BUDGET] On paper 4:30 — plan to land in 4:00.</a:t>
            </a:r>
            <a:endParaRPr/>
          </a:p>
          <a:p>
            <a:pPr>
              <a:defRPr/>
            </a:pPr>
            <a:r>
              <a:rPr sz="1200">
                <a:latin typeface="Arial"/>
              </a:rPr>
              <a:t>[BONUS] If asked about the testing demo: "Bonus content if we finish ahead. Don't count on it."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2363081" name="Slide Number Placeholder 1"/>
          <p:cNvSpPr>
            <a:spLocks noGrp="1"/>
          </p:cNvSpPr>
          <p:nvPr>
            <p:ph type="sldNum" sz="quarter" idx="5"/>
          </p:nvPr>
        </p:nvSpPr>
        <p:spPr bwMode="auto"/>
      </p:sp>
      <p:sp>
        <p:nvSpPr>
          <p:cNvPr id="817106291" name="Slide Image Placeholder 2"/>
          <p:cNvSpPr>
            <a:spLocks noChangeAspect="1" noGrp="1" noRot="1"/>
          </p:cNvSpPr>
          <p:nvPr>
            <p:ph type="sldImg" idx="2"/>
          </p:nvPr>
        </p:nvSpPr>
        <p:spPr bwMode="auto">
          <a:xfrm>
            <a:off x="0" y="0"/>
            <a:ext cx="6796088" cy="3822700"/>
          </a:xfrm>
        </p:spPr>
      </p:sp>
      <p:sp>
        <p:nvSpPr>
          <p:cNvPr id="260511555" name="Notes Placeholder 3"/>
          <p:cNvSpPr>
            <a:spLocks noGrp="1"/>
          </p:cNvSpPr>
          <p:nvPr>
            <p:ph type="body" sz="quarter" idx="3"/>
          </p:nvPr>
        </p:nvSpPr>
        <p:spPr bwMode="auto"/>
        <p:txBody>
          <a:bodyPr/>
          <a:lstStyle/>
          <a:p>
            <a:pPr>
              <a:defRPr/>
            </a:pPr>
            <a:r>
              <a:rPr sz="1200">
                <a:latin typeface="Arial"/>
              </a:rPr>
              <a:t>[ASK] The question. Wait for hands. You should see most of the room.</a:t>
            </a:r>
            <a:endParaRPr/>
          </a:p>
          <a:p>
            <a:pPr>
              <a:defRPr/>
            </a:pPr>
            <a:r>
              <a:rPr sz="1200">
                <a:latin typeface="Arial"/>
              </a:rPr>
              <a:t>[SAY — follow-up that lands the framing]</a:t>
            </a:r>
            <a:br>
              <a:rPr sz="1200">
                <a:latin typeface="Arial"/>
              </a:rPr>
            </a:br>
            <a:r>
              <a:rPr sz="1200">
                <a:latin typeface="Arial"/>
              </a:rPr>
              <a:t>"Then this workshop is calibrated for you. The pain we're going to surface is pain you've already felt — but you've probably never named it. Today we name it, score it, and rehearse what to say when a customer pushes back."</a:t>
            </a:r>
            <a:endParaRPr/>
          </a:p>
          <a:p>
            <a:pPr>
              <a:defRPr/>
            </a:pPr>
            <a:r>
              <a:rPr sz="1200">
                <a:latin typeface="Arial"/>
              </a:rPr>
              <a:t>[REPEAT EXPECTATIONS] "We move at FAE pace. But I want lots of discussion. If something feels wrong or you've seen it work differently, say so."</a:t>
            </a:r>
            <a:r>
              <a:rPr lang="en-US" sz="1200">
                <a:latin typeface="Arial"/>
              </a:rPr>
              <a:t> What is FAE?</a:t>
            </a:r>
            <a:endParaRPr sz="120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5939625" name="Slide Number Placeholder 1"/>
          <p:cNvSpPr>
            <a:spLocks noGrp="1"/>
          </p:cNvSpPr>
          <p:nvPr>
            <p:ph type="sldNum" sz="quarter" idx="5"/>
          </p:nvPr>
        </p:nvSpPr>
        <p:spPr bwMode="auto"/>
      </p:sp>
      <p:sp>
        <p:nvSpPr>
          <p:cNvPr id="1082489669" name="Slide Image Placeholder 2"/>
          <p:cNvSpPr>
            <a:spLocks noChangeAspect="1" noGrp="1" noRot="1"/>
          </p:cNvSpPr>
          <p:nvPr>
            <p:ph type="sldImg" idx="2"/>
          </p:nvPr>
        </p:nvSpPr>
        <p:spPr bwMode="auto">
          <a:xfrm>
            <a:off x="0" y="0"/>
            <a:ext cx="6796088" cy="3822700"/>
          </a:xfrm>
        </p:spPr>
      </p:sp>
      <p:sp>
        <p:nvSpPr>
          <p:cNvPr id="1558802891" name="Notes Placeholder 3"/>
          <p:cNvSpPr>
            <a:spLocks noGrp="1"/>
          </p:cNvSpPr>
          <p:nvPr>
            <p:ph type="body" sz="quarter" idx="3"/>
          </p:nvPr>
        </p:nvSpPr>
        <p:spPr bwMode="auto"/>
        <p:txBody>
          <a:bodyPr/>
          <a:lstStyle/>
          <a:p>
            <a:pPr>
              <a:defRPr/>
            </a:pPr>
            <a:r>
              <a:rPr sz="1200">
                <a:latin typeface="Arial"/>
              </a:rPr>
              <a:t>[BEFORE] Switch presenter to `stage-1-procedural`. Open all four station FBs side by side: </a:t>
            </a:r>
            <a:r>
              <a:rPr sz="1200">
                <a:latin typeface="Arial"/>
              </a:rPr>
              <a:t>FB_StationFill</a:t>
            </a:r>
            <a:r>
              <a:rPr sz="1200">
                <a:latin typeface="Arial"/>
              </a:rPr>
              <a:t>, </a:t>
            </a:r>
            <a:r>
              <a:rPr sz="1200">
                <a:latin typeface="Arial"/>
              </a:rPr>
              <a:t>FB_StationCap</a:t>
            </a:r>
            <a:r>
              <a:rPr sz="1200">
                <a:latin typeface="Arial"/>
              </a:rPr>
              <a:t>, </a:t>
            </a:r>
            <a:r>
              <a:rPr sz="1200">
                <a:latin typeface="Arial"/>
              </a:rPr>
              <a:t>FB_StationLabel</a:t>
            </a:r>
            <a:r>
              <a:rPr sz="1200">
                <a:latin typeface="Arial"/>
              </a:rPr>
              <a:t>, </a:t>
            </a:r>
            <a:r>
              <a:rPr sz="1200">
                <a:latin typeface="Arial"/>
              </a:rPr>
              <a:t>FB_StationInspect</a:t>
            </a:r>
            <a:r>
              <a:rPr sz="1200">
                <a:latin typeface="Arial"/>
              </a:rPr>
              <a:t>.</a:t>
            </a:r>
            <a:endParaRPr/>
          </a:p>
          <a:p>
            <a:pPr>
              <a:defRPr/>
            </a:pPr>
            <a:r>
              <a:rPr sz="1200">
                <a:latin typeface="Arial"/>
              </a:rPr>
              <a:t>[SAY — when you click forward]</a:t>
            </a:r>
            <a:br>
              <a:rPr sz="1200">
                <a:latin typeface="Arial"/>
              </a:rPr>
            </a:br>
            <a:r>
              <a:rPr sz="1200">
                <a:latin typeface="Arial"/>
              </a:rPr>
              <a:t>"This is the architecture you've been writing for 20 years. IEC 61131-3 was designed for it. There's nothing wrong with it. Today we feel where it stops scaling."</a:t>
            </a:r>
            <a:endParaRPr/>
          </a:p>
          <a:p>
            <a:pPr>
              <a:defRPr/>
            </a:pPr>
            <a:r>
              <a:rPr sz="1200">
                <a:latin typeface="Arial"/>
              </a:rPr>
              <a:t>[STRUCTURE] 1A walkthrough → CR-1 → CR-2 → CR-3 → debrief. Stretch zone is the CR-1 'who copied from Fill?' reveal.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7072760" name="Slide Number Placeholder 1"/>
          <p:cNvSpPr>
            <a:spLocks noGrp="1"/>
          </p:cNvSpPr>
          <p:nvPr>
            <p:ph type="sldNum" sz="quarter" idx="5"/>
          </p:nvPr>
        </p:nvSpPr>
        <p:spPr bwMode="auto"/>
      </p:sp>
      <p:sp>
        <p:nvSpPr>
          <p:cNvPr id="906080133" name="Slide Image Placeholder 2"/>
          <p:cNvSpPr>
            <a:spLocks noChangeAspect="1" noGrp="1" noRot="1"/>
          </p:cNvSpPr>
          <p:nvPr>
            <p:ph type="sldImg" idx="2"/>
          </p:nvPr>
        </p:nvSpPr>
        <p:spPr bwMode="auto">
          <a:xfrm>
            <a:off x="0" y="0"/>
            <a:ext cx="6796088" cy="3822700"/>
          </a:xfrm>
        </p:spPr>
      </p:sp>
      <p:sp>
        <p:nvSpPr>
          <p:cNvPr id="232848707" name="Notes Placeholder 3"/>
          <p:cNvSpPr>
            <a:spLocks noGrp="1"/>
          </p:cNvSpPr>
          <p:nvPr>
            <p:ph type="body" sz="quarter" idx="3"/>
          </p:nvPr>
        </p:nvSpPr>
        <p:spPr bwMode="auto"/>
        <p:txBody>
          <a:bodyPr/>
          <a:lstStyle/>
          <a:p>
            <a:pPr>
              <a:defRPr/>
            </a:pPr>
            <a:r>
              <a:rPr sz="1200">
                <a:latin typeface="Arial"/>
              </a:rPr>
              <a:t>[SAY — don't read aloud, summarize]</a:t>
            </a:r>
            <a:br>
              <a:rPr sz="1200">
                <a:latin typeface="Arial"/>
              </a:rPr>
            </a:br>
            <a:r>
              <a:rPr sz="1200">
                <a:latin typeface="Arial"/>
              </a:rPr>
              <a:t>"This is the architecture you've been writing for 20 years. Nothing wrong with it. We're going to feel where it stops scaling."</a:t>
            </a:r>
            <a:endParaRPr/>
          </a:p>
          <a:p>
            <a:pPr>
              <a:defRPr/>
            </a:pPr>
            <a:r>
              <a:rPr sz="1200">
                <a:latin typeface="Arial"/>
              </a:rPr>
              <a:t>[CONTEXT — only if asked]</a:t>
            </a:r>
            <a:br>
              <a:rPr sz="1200">
                <a:latin typeface="Arial"/>
              </a:rPr>
            </a:br>
            <a:r>
              <a:rPr sz="1200">
                <a:latin typeface="Arial"/>
              </a:rPr>
              <a:t>- 1970s structured programming + 1980s industrial controls; codified by IEC 61131-3 in 1993.</a:t>
            </a:r>
            <a:br>
              <a:rPr sz="1200">
                <a:latin typeface="Arial"/>
              </a:rPr>
            </a:br>
            <a:r>
              <a:rPr sz="1200">
                <a:latin typeface="Arial"/>
              </a:rPr>
              <a:t>- Why it dominates TwinCAT: runtime, libraries, training, customer expectations all assume it. Path of least resistance.</a:t>
            </a:r>
            <a:br>
              <a:rPr sz="1200">
                <a:latin typeface="Arial"/>
              </a:rPr>
            </a:br>
            <a:r>
              <a:rPr sz="1200">
                <a:latin typeface="Arial"/>
              </a:rPr>
              <a:t>- "Good at" examples: panel shops, single-machine integrators, code that won't outlive the contract.</a:t>
            </a:r>
            <a:endParaRPr/>
          </a:p>
          <a:p>
            <a:pPr>
              <a:defRPr/>
            </a:pPr>
            <a:r>
              <a:rPr sz="1200">
                <a:latin typeface="Arial"/>
              </a:rPr>
              <a:t>[SEGUE] Spend more time on "Bad at" — that's the bridge to the drift demo on the next slide.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9935984" name="Slide Number Placeholder 1"/>
          <p:cNvSpPr>
            <a:spLocks noGrp="1"/>
          </p:cNvSpPr>
          <p:nvPr>
            <p:ph type="sldNum" sz="quarter" idx="5"/>
          </p:nvPr>
        </p:nvSpPr>
        <p:spPr bwMode="auto"/>
      </p:sp>
      <p:sp>
        <p:nvSpPr>
          <p:cNvPr id="1194635988" name="Slide Image Placeholder 2"/>
          <p:cNvSpPr>
            <a:spLocks noGrp="1"/>
          </p:cNvSpPr>
          <p:nvPr>
            <p:ph type="sldImg" idx="2"/>
          </p:nvPr>
        </p:nvSpPr>
        <p:spPr bwMode="auto"/>
      </p:sp>
      <p:sp>
        <p:nvSpPr>
          <p:cNvPr id="681121218" name="Notes Placeholder 3"/>
          <p:cNvSpPr>
            <a:spLocks noGrp="1"/>
          </p:cNvSpPr>
          <p:nvPr>
            <p:ph type="body" sz="quarter" idx="3"/>
          </p:nvPr>
        </p:nvSpPr>
        <p:spPr bwMode="auto"/>
        <p:txBody>
          <a:bodyPr/>
          <a:lstStyle/>
          <a:p>
            <a:pPr>
              <a:defRPr/>
            </a:pPr>
            <a:r>
              <a:rPr/>
              <a:t>[BEFORE] `git switch Release` on the presenter, FillingLine_Procedural loaded. Open Fill, Cap, Label, Inspect side by side in tabs before the slide goes up.</a:t>
            </a:r>
            <a:endParaRPr/>
          </a:p>
          <a:p>
            <a:pPr>
              <a:defRPr/>
            </a:pPr>
            <a:r>
              <a:rPr/>
              <a:t>[SAY] "Stack them side by side. Read across, not down. We'll walk Fill and Cap together in the next slide — Label and Inspect, you read on your own."</a:t>
            </a:r>
            <a:endParaRPr/>
          </a:p>
          <a:p>
            <a:pPr>
              <a:defRPr/>
            </a:pPr>
            <a:r>
              <a:rPr/>
              <a:t>[WATCH FOR] Attendees who notice the drift immediately. DO NOT confirm yet — the drift is the reveal in three slides. If someone calls it out, redirect: "Hold that — we'll get there."</a:t>
            </a:r>
            <a:endParaRPr/>
          </a:p>
          <a:p>
            <a:pPr>
              <a:defRPr/>
            </a:pPr>
            <a:r>
              <a:rPr/>
              <a:t>[TIME] 5 minutes of quiet reading. The slow read IS the exercise.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1390230" name="Slide Number Placeholder 1"/>
          <p:cNvSpPr>
            <a:spLocks noGrp="1"/>
          </p:cNvSpPr>
          <p:nvPr>
            <p:ph type="sldNum" sz="quarter" idx="5"/>
          </p:nvPr>
        </p:nvSpPr>
        <p:spPr bwMode="auto"/>
      </p:sp>
      <p:sp>
        <p:nvSpPr>
          <p:cNvPr id="2004007878" name="Slide Image Placeholder 2"/>
          <p:cNvSpPr>
            <a:spLocks noChangeAspect="1" noGrp="1" noRot="1"/>
          </p:cNvSpPr>
          <p:nvPr>
            <p:ph type="sldImg" idx="2"/>
          </p:nvPr>
        </p:nvSpPr>
        <p:spPr bwMode="auto">
          <a:xfrm>
            <a:off x="0" y="0"/>
            <a:ext cx="6796088" cy="3822700"/>
          </a:xfrm>
        </p:spPr>
      </p:sp>
      <p:sp>
        <p:nvSpPr>
          <p:cNvPr id="733274589"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3540751" name="Slide Number Placeholder 1"/>
          <p:cNvSpPr>
            <a:spLocks noGrp="1"/>
          </p:cNvSpPr>
          <p:nvPr>
            <p:ph type="sldNum" sz="quarter" idx="5"/>
          </p:nvPr>
        </p:nvSpPr>
        <p:spPr bwMode="auto"/>
      </p:sp>
      <p:sp>
        <p:nvSpPr>
          <p:cNvPr id="385281802" name="Slide Image Placeholder 2"/>
          <p:cNvSpPr>
            <a:spLocks noChangeAspect="1" noGrp="1" noRot="1"/>
          </p:cNvSpPr>
          <p:nvPr>
            <p:ph type="sldImg" idx="2"/>
          </p:nvPr>
        </p:nvSpPr>
        <p:spPr bwMode="auto">
          <a:xfrm>
            <a:off x="0" y="0"/>
            <a:ext cx="6796088" cy="3822700"/>
          </a:xfrm>
        </p:spPr>
      </p:sp>
      <p:sp>
        <p:nvSpPr>
          <p:cNvPr id="154429852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857781" name="Slide Number Placeholder 1"/>
          <p:cNvSpPr>
            <a:spLocks noGrp="1"/>
          </p:cNvSpPr>
          <p:nvPr>
            <p:ph type="sldNum" sz="quarter" idx="5"/>
          </p:nvPr>
        </p:nvSpPr>
        <p:spPr bwMode="auto"/>
      </p:sp>
      <p:sp>
        <p:nvSpPr>
          <p:cNvPr id="1407690159" name="Slide Image Placeholder 2"/>
          <p:cNvSpPr>
            <a:spLocks noChangeAspect="1" noGrp="1" noRot="1"/>
          </p:cNvSpPr>
          <p:nvPr>
            <p:ph type="sldImg" idx="2"/>
          </p:nvPr>
        </p:nvSpPr>
        <p:spPr bwMode="auto">
          <a:xfrm>
            <a:off x="0" y="0"/>
            <a:ext cx="6796088" cy="3822700"/>
          </a:xfrm>
        </p:spPr>
      </p:sp>
      <p:sp>
        <p:nvSpPr>
          <p:cNvPr id="62470650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660848" name="Slide Number Placeholder 1"/>
          <p:cNvSpPr>
            <a:spLocks noGrp="1"/>
          </p:cNvSpPr>
          <p:nvPr>
            <p:ph type="sldNum" sz="quarter" idx="5"/>
          </p:nvPr>
        </p:nvSpPr>
        <p:spPr bwMode="auto"/>
      </p:sp>
      <p:sp>
        <p:nvSpPr>
          <p:cNvPr id="1144167606" name="Slide Image Placeholder 2"/>
          <p:cNvSpPr>
            <a:spLocks noChangeAspect="1" noGrp="1" noRot="1"/>
          </p:cNvSpPr>
          <p:nvPr>
            <p:ph type="sldImg" idx="2"/>
          </p:nvPr>
        </p:nvSpPr>
        <p:spPr bwMode="auto">
          <a:xfrm>
            <a:off x="0" y="0"/>
            <a:ext cx="6796088" cy="3822700"/>
          </a:xfrm>
        </p:spPr>
      </p:sp>
      <p:sp>
        <p:nvSpPr>
          <p:cNvPr id="1958245281"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2107580" name="Slide Number Placeholder 1"/>
          <p:cNvSpPr>
            <a:spLocks noGrp="1"/>
          </p:cNvSpPr>
          <p:nvPr>
            <p:ph type="sldNum" sz="quarter" idx="5"/>
          </p:nvPr>
        </p:nvSpPr>
        <p:spPr bwMode="auto"/>
      </p:sp>
      <p:sp>
        <p:nvSpPr>
          <p:cNvPr id="1364062212" name="Slide Image Placeholder 2"/>
          <p:cNvSpPr>
            <a:spLocks noChangeAspect="1" noGrp="1" noRot="1"/>
          </p:cNvSpPr>
          <p:nvPr>
            <p:ph type="sldImg" idx="2"/>
          </p:nvPr>
        </p:nvSpPr>
        <p:spPr bwMode="auto">
          <a:xfrm>
            <a:off x="0" y="0"/>
            <a:ext cx="6796088" cy="3822700"/>
          </a:xfrm>
        </p:spPr>
      </p:sp>
      <p:sp>
        <p:nvSpPr>
          <p:cNvPr id="147188734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8665778" name="Slide Number Placeholder 1"/>
          <p:cNvSpPr>
            <a:spLocks noGrp="1"/>
          </p:cNvSpPr>
          <p:nvPr>
            <p:ph type="sldNum" sz="quarter" idx="5"/>
          </p:nvPr>
        </p:nvSpPr>
        <p:spPr bwMode="auto"/>
      </p:sp>
      <p:sp>
        <p:nvSpPr>
          <p:cNvPr id="752860042" name="Slide Image Placeholder 2"/>
          <p:cNvSpPr>
            <a:spLocks noChangeAspect="1" noGrp="1" noRot="1"/>
          </p:cNvSpPr>
          <p:nvPr>
            <p:ph type="sldImg" idx="2"/>
          </p:nvPr>
        </p:nvSpPr>
        <p:spPr bwMode="auto">
          <a:xfrm>
            <a:off x="0" y="0"/>
            <a:ext cx="6796088" cy="3822700"/>
          </a:xfrm>
        </p:spPr>
      </p:sp>
      <p:sp>
        <p:nvSpPr>
          <p:cNvPr id="980212725"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3693331" name="Slide Number Placeholder 1"/>
          <p:cNvSpPr>
            <a:spLocks noGrp="1"/>
          </p:cNvSpPr>
          <p:nvPr>
            <p:ph type="sldNum" sz="quarter" idx="5"/>
          </p:nvPr>
        </p:nvSpPr>
        <p:spPr bwMode="auto"/>
      </p:sp>
      <p:sp>
        <p:nvSpPr>
          <p:cNvPr id="1199562072" name="Slide Image Placeholder 2"/>
          <p:cNvSpPr>
            <a:spLocks noChangeAspect="1" noGrp="1" noRot="1"/>
          </p:cNvSpPr>
          <p:nvPr>
            <p:ph type="sldImg" idx="2"/>
          </p:nvPr>
        </p:nvSpPr>
        <p:spPr bwMode="auto">
          <a:xfrm>
            <a:off x="0" y="0"/>
            <a:ext cx="6796088" cy="3822700"/>
          </a:xfrm>
        </p:spPr>
      </p:sp>
      <p:sp>
        <p:nvSpPr>
          <p:cNvPr id="90477264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4565821" name="Slide Number Placeholder 1"/>
          <p:cNvSpPr>
            <a:spLocks noGrp="1"/>
          </p:cNvSpPr>
          <p:nvPr>
            <p:ph type="sldNum" sz="quarter" idx="5"/>
          </p:nvPr>
        </p:nvSpPr>
        <p:spPr bwMode="auto"/>
      </p:sp>
      <p:sp>
        <p:nvSpPr>
          <p:cNvPr id="639441281" name="Slide Image Placeholder 2"/>
          <p:cNvSpPr>
            <a:spLocks noChangeAspect="1" noGrp="1" noRot="1"/>
          </p:cNvSpPr>
          <p:nvPr>
            <p:ph type="sldImg" idx="2"/>
          </p:nvPr>
        </p:nvSpPr>
        <p:spPr bwMode="auto">
          <a:xfrm>
            <a:off x="0" y="0"/>
            <a:ext cx="6796088" cy="3822700"/>
          </a:xfrm>
        </p:spPr>
      </p:sp>
      <p:sp>
        <p:nvSpPr>
          <p:cNvPr id="164815535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8169619" name="Slide Number Placeholder 1"/>
          <p:cNvSpPr>
            <a:spLocks noGrp="1"/>
          </p:cNvSpPr>
          <p:nvPr>
            <p:ph type="sldNum" sz="quarter" idx="5"/>
          </p:nvPr>
        </p:nvSpPr>
        <p:spPr bwMode="auto"/>
      </p:sp>
      <p:sp>
        <p:nvSpPr>
          <p:cNvPr id="1361896813" name="Slide Image Placeholder 2"/>
          <p:cNvSpPr>
            <a:spLocks noChangeAspect="1" noGrp="1" noRot="1"/>
          </p:cNvSpPr>
          <p:nvPr>
            <p:ph type="sldImg" idx="2"/>
          </p:nvPr>
        </p:nvSpPr>
        <p:spPr bwMode="auto">
          <a:xfrm>
            <a:off x="0" y="0"/>
            <a:ext cx="6796088" cy="3822700"/>
          </a:xfrm>
        </p:spPr>
      </p:sp>
      <p:sp>
        <p:nvSpPr>
          <p:cNvPr id="886363760" name="Notes Placeholder 3"/>
          <p:cNvSpPr>
            <a:spLocks noGrp="1"/>
          </p:cNvSpPr>
          <p:nvPr>
            <p:ph type="body" sz="quarter" idx="3"/>
          </p:nvPr>
        </p:nvSpPr>
        <p:spPr bwMode="auto"/>
        <p:txBody>
          <a:bodyPr/>
          <a:lstStyle/>
          <a:p>
            <a:pPr>
              <a:defRPr/>
            </a:pPr>
            <a:r>
              <a:rPr sz="1200">
                <a:latin typeface="Arial"/>
              </a:rPr>
              <a:t>[SAY] "Both implementations look reasonable in isolation. Side-by-side they're a maintenance trap."</a:t>
            </a:r>
            <a:endParaRPr/>
          </a:p>
          <a:p>
            <a:pPr>
              <a:defRPr/>
            </a:pPr>
            <a:r>
              <a:rPr sz="1200">
                <a:latin typeface="Arial"/>
              </a:rPr>
              <a:t>[KEY POINT] Nobody wrote buggy code. Both stations work. The system itself failed to enforce consistency — there's no way for the procedural architecture to say 'all stations ack the same way.'</a:t>
            </a:r>
            <a:endParaRPr/>
          </a:p>
          <a:p>
            <a:pPr>
              <a:defRPr/>
            </a:pPr>
            <a:r>
              <a:rPr sz="1200">
                <a:latin typeface="Arial"/>
              </a:rPr>
              <a:t>[SETUP FOR CR-1] This is the drift that catches people on CR-1. They copy the Pause guard from Fill (R_TRIG style) into Label (level style) and the inconsistency compounds.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2616552" name="Slide Number Placeholder 1"/>
          <p:cNvSpPr>
            <a:spLocks noGrp="1"/>
          </p:cNvSpPr>
          <p:nvPr>
            <p:ph type="sldNum" sz="quarter" idx="5"/>
          </p:nvPr>
        </p:nvSpPr>
        <p:spPr bwMode="auto"/>
      </p:sp>
      <p:sp>
        <p:nvSpPr>
          <p:cNvPr id="1320271262" name="Slide Image Placeholder 2"/>
          <p:cNvSpPr>
            <a:spLocks noChangeAspect="1" noGrp="1" noRot="1"/>
          </p:cNvSpPr>
          <p:nvPr>
            <p:ph type="sldImg" idx="2"/>
          </p:nvPr>
        </p:nvSpPr>
        <p:spPr bwMode="auto">
          <a:xfrm>
            <a:off x="0" y="0"/>
            <a:ext cx="6796088" cy="3822700"/>
          </a:xfrm>
        </p:spPr>
      </p:sp>
      <p:sp>
        <p:nvSpPr>
          <p:cNvPr id="786390" name="Notes Placeholder 3"/>
          <p:cNvSpPr>
            <a:spLocks noGrp="1"/>
          </p:cNvSpPr>
          <p:nvPr>
            <p:ph type="body" sz="quarter" idx="3"/>
          </p:nvPr>
        </p:nvSpPr>
        <p:spPr bwMode="auto"/>
        <p:txBody>
          <a:bodyPr/>
          <a:lstStyle/>
          <a:p>
            <a:pPr>
              <a:defRPr/>
            </a:pPr>
            <a:r>
              <a:rPr sz="1200">
                <a:latin typeface="Arial"/>
              </a:rPr>
              <a:t>[SAY] "Both work. Neither is wrong. They diverge for no reason."</a:t>
            </a:r>
            <a:endParaRPr/>
          </a:p>
          <a:p>
            <a:pPr>
              <a:defRPr/>
            </a:pPr>
            <a:r>
              <a:rPr sz="1200">
                <a:latin typeface="Arial"/>
              </a:rPr>
              <a:t>[CONTEXT] Someone clearly copied Label from a different project where 100/200/300 was the convention, and never normalized it.</a:t>
            </a:r>
            <a:endParaRPr/>
          </a:p>
          <a:p>
            <a:pPr>
              <a:defRPr/>
            </a:pPr>
            <a:r>
              <a:rPr sz="1200">
                <a:latin typeface="Arial"/>
              </a:rPr>
              <a:t>[LESSON] The architecture has no opinion on naming. Conventions are tribal — they live in your head, not the compiler.</a:t>
            </a:r>
            <a:endParaRPr/>
          </a:p>
          <a:p>
            <a:pPr>
              <a:defRPr/>
            </a:pPr>
            <a:r>
              <a:rPr sz="1200">
                <a:latin typeface="Arial"/>
              </a:rPr>
              <a:t>[FORESHADOW] Stage 2's base class will normalize this for free. You'll see it in Block 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8736431" name="Slide Number Placeholder 1"/>
          <p:cNvSpPr>
            <a:spLocks noGrp="1"/>
          </p:cNvSpPr>
          <p:nvPr>
            <p:ph type="sldNum" sz="quarter" idx="5"/>
          </p:nvPr>
        </p:nvSpPr>
        <p:spPr bwMode="auto"/>
      </p:sp>
      <p:sp>
        <p:nvSpPr>
          <p:cNvPr id="1868924052" name="Slide Image Placeholder 2"/>
          <p:cNvSpPr>
            <a:spLocks noChangeAspect="1" noGrp="1" noRot="1"/>
          </p:cNvSpPr>
          <p:nvPr>
            <p:ph type="sldImg" idx="2"/>
          </p:nvPr>
        </p:nvSpPr>
        <p:spPr bwMode="auto"/>
      </p:sp>
      <p:sp>
        <p:nvSpPr>
          <p:cNvPr id="1791383150" name="Notes Placeholder 3"/>
          <p:cNvSpPr>
            <a:spLocks noGrp="1"/>
          </p:cNvSpPr>
          <p:nvPr>
            <p:ph type="body" sz="quarter" idx="3"/>
          </p:nvPr>
        </p:nvSpPr>
        <p:spPr bwMode="auto"/>
        <p:txBody>
          <a:bodyPr/>
          <a:lstStyle/>
          <a:p>
            <a:pPr>
              <a:defRPr/>
            </a:pPr>
            <a:r>
              <a:rPr sz="1200">
                <a:latin typeface="Arial"/>
              </a:rPr>
              <a:t>[DO] Don't dwell — show it and move on.</a:t>
            </a:r>
            <a:endParaRPr/>
          </a:p>
          <a:p>
            <a:pPr>
              <a:defRPr/>
            </a:pPr>
            <a:r>
              <a:rPr sz="1200">
                <a:latin typeface="Arial"/>
              </a:rPr>
              <a:t>[LESSON] In procedural code, dead state lingers because removing it requires reading every reference everywhere. Nobody owns the cleanup.</a:t>
            </a:r>
            <a:endParaRPr/>
          </a:p>
          <a:p>
            <a:pPr>
              <a:defRPr/>
            </a:pPr>
            <a:r>
              <a:rPr sz="1200">
                <a:latin typeface="Arial"/>
              </a:rPr>
              <a:t>[FORESHADOW] In Stage 2 the base class won't carry </a:t>
            </a:r>
            <a:r>
              <a:rPr sz="1200">
                <a:latin typeface="Arial"/>
              </a:rPr>
              <a:t>ManualStep</a:t>
            </a:r>
            <a:r>
              <a:rPr sz="1200">
                <a:latin typeface="Arial"/>
              </a:rPr>
              <a:t>, so it can't propagate. In Stage 3 the FB has explicit dependencies; an unused field is loud.</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2948122" name="Slide Number Placeholder 1"/>
          <p:cNvSpPr>
            <a:spLocks noGrp="1"/>
          </p:cNvSpPr>
          <p:nvPr>
            <p:ph type="sldNum" sz="quarter" idx="5"/>
          </p:nvPr>
        </p:nvSpPr>
        <p:spPr bwMode="auto"/>
      </p:sp>
      <p:sp>
        <p:nvSpPr>
          <p:cNvPr id="470851503" name="Slide Image Placeholder 2"/>
          <p:cNvSpPr>
            <a:spLocks noChangeAspect="1" noGrp="1" noRot="1"/>
          </p:cNvSpPr>
          <p:nvPr>
            <p:ph type="sldImg" idx="2"/>
          </p:nvPr>
        </p:nvSpPr>
        <p:spPr bwMode="auto">
          <a:xfrm>
            <a:off x="0" y="0"/>
            <a:ext cx="6796088" cy="3822700"/>
          </a:xfrm>
        </p:spPr>
      </p:sp>
      <p:sp>
        <p:nvSpPr>
          <p:cNvPr id="1714708699" name="Notes Placeholder 3"/>
          <p:cNvSpPr>
            <a:spLocks noGrp="1"/>
          </p:cNvSpPr>
          <p:nvPr>
            <p:ph type="body" sz="quarter" idx="3"/>
          </p:nvPr>
        </p:nvSpPr>
        <p:spPr bwMode="auto"/>
        <p:txBody>
          <a:bodyPr/>
          <a:lstStyle/>
          <a:p>
            <a:pPr>
              <a:defRPr/>
            </a:pPr>
            <a:r>
              <a:rPr sz="1200">
                <a:latin typeface="Arial"/>
              </a:rPr>
              <a:t>[ASK — three-step audience hands-up]</a:t>
            </a:r>
            <a:br>
              <a:rPr sz="1200">
                <a:latin typeface="Arial"/>
              </a:rPr>
            </a:br>
            <a:r>
              <a:rPr sz="1200">
                <a:latin typeface="Arial"/>
              </a:rPr>
              <a:t>1. "Anyone written something that looks like this in the last six months?" → most hands.</a:t>
            </a:r>
            <a:br>
              <a:rPr sz="1200">
                <a:latin typeface="Arial"/>
              </a:rPr>
            </a:br>
            <a:r>
              <a:rPr sz="1200">
                <a:latin typeface="Arial"/>
              </a:rPr>
              <a:t>2. "Anyone written EXACTLY five files like this?" → some hands stay up.</a:t>
            </a:r>
            <a:br>
              <a:rPr sz="1200">
                <a:latin typeface="Arial"/>
              </a:rPr>
            </a:br>
            <a:r>
              <a:rPr sz="1200">
                <a:latin typeface="Arial"/>
              </a:rPr>
              <a:t>3. "Anyone copied station 5 from station 4 and then had to fix four things?" → more hands.</a:t>
            </a:r>
            <a:endParaRPr/>
          </a:p>
          <a:p>
            <a:pPr>
              <a:defRPr/>
            </a:pPr>
            <a:r>
              <a:rPr sz="1200">
                <a:latin typeface="Arial"/>
              </a:rPr>
              <a:t>[CLOSE] "Good. Hold on to that feeling. We're about to make it worse with CR-1."</a:t>
            </a:r>
            <a:endParaRPr/>
          </a:p>
          <a:p>
            <a:pPr>
              <a:defRPr/>
            </a:pPr>
            <a:r>
              <a:rPr sz="1200">
                <a:latin typeface="Arial"/>
              </a:rPr>
              <a:t>[DO] Don't rush past this slide — earn the audience commitment before starting the timer. The first reveal is coming.</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0926642" name="Slide Number Placeholder 1"/>
          <p:cNvSpPr>
            <a:spLocks noGrp="1"/>
          </p:cNvSpPr>
          <p:nvPr>
            <p:ph type="sldNum" sz="quarter" idx="5"/>
          </p:nvPr>
        </p:nvSpPr>
        <p:spPr bwMode="auto"/>
      </p:sp>
      <p:sp>
        <p:nvSpPr>
          <p:cNvPr id="953892884" name="Slide Image Placeholder 2"/>
          <p:cNvSpPr>
            <a:spLocks noChangeAspect="1" noGrp="1" noRot="1"/>
          </p:cNvSpPr>
          <p:nvPr>
            <p:ph type="sldImg" idx="2"/>
          </p:nvPr>
        </p:nvSpPr>
        <p:spPr bwMode="auto">
          <a:xfrm>
            <a:off x="0" y="0"/>
            <a:ext cx="6796088" cy="3822700"/>
          </a:xfrm>
        </p:spPr>
      </p:sp>
      <p:sp>
        <p:nvSpPr>
          <p:cNvPr id="1875480079" name="Notes Placeholder 3"/>
          <p:cNvSpPr>
            <a:spLocks noGrp="1"/>
          </p:cNvSpPr>
          <p:nvPr>
            <p:ph type="body" sz="quarter" idx="3"/>
          </p:nvPr>
        </p:nvSpPr>
        <p:spPr bwMode="auto"/>
        <p:txBody>
          <a:bodyPr/>
          <a:lstStyle/>
          <a:p>
            <a:pPr>
              <a:defRPr/>
            </a:pPr>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endParaRPr/>
          </a:p>
          <a:p>
            <a:pPr>
              <a:defRPr/>
            </a:pPr>
            <a:r>
              <a:rPr sz="1200">
                <a:latin typeface="Arial"/>
              </a:rPr>
              <a:t>[WHY THIS ONE MATTERS] Most common objection FAEs get from senior controls engineers.</a:t>
            </a:r>
            <a:endParaRPr/>
          </a:p>
          <a:p>
            <a:pPr>
              <a:defRPr/>
            </a:pPr>
            <a:r>
              <a:rPr sz="1200">
                <a:latin typeface="Arial"/>
              </a:rPr>
              <a:t>[CUSTOMER-CONVERSATION PATTERN] Note the structure: respect the customer ("you're right") before pivoting to the cost ("what happens when…"). Flag this as a template for any pushback rebuttal.</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8025369" name="Slide Number Placeholder 1"/>
          <p:cNvSpPr>
            <a:spLocks noGrp="1"/>
          </p:cNvSpPr>
          <p:nvPr>
            <p:ph type="sldNum" sz="quarter" idx="5"/>
          </p:nvPr>
        </p:nvSpPr>
        <p:spPr bwMode="auto"/>
      </p:sp>
      <p:sp>
        <p:nvSpPr>
          <p:cNvPr id="269565863" name="Slide Image Placeholder 2"/>
          <p:cNvSpPr>
            <a:spLocks noChangeAspect="1" noGrp="1" noRot="1"/>
          </p:cNvSpPr>
          <p:nvPr>
            <p:ph type="sldImg" idx="2"/>
          </p:nvPr>
        </p:nvSpPr>
        <p:spPr bwMode="auto">
          <a:xfrm>
            <a:off x="0" y="0"/>
            <a:ext cx="6796088" cy="3822700"/>
          </a:xfrm>
        </p:spPr>
      </p:sp>
      <p:sp>
        <p:nvSpPr>
          <p:cNvPr id="1911264125" name="Notes Placeholder 3"/>
          <p:cNvSpPr>
            <a:spLocks noGrp="1"/>
          </p:cNvSpPr>
          <p:nvPr>
            <p:ph type="body" sz="quarter" idx="3"/>
          </p:nvPr>
        </p:nvSpPr>
        <p:spPr bwMode="auto"/>
        <p:txBody>
          <a:bodyPr/>
          <a:lstStyle/>
          <a:p>
            <a:pPr>
              <a:defRPr/>
            </a:pPr>
            <a:r>
              <a:rPr sz="1200">
                <a:latin typeface="Arial"/>
              </a:rPr>
              <a:t>[SAY — read CR-1 verbatim]</a:t>
            </a:r>
            <a:br>
              <a:rPr sz="1200">
                <a:latin typeface="Arial"/>
              </a:rPr>
            </a:br>
            <a:r>
              <a:rPr sz="1200">
                <a:latin typeface="Arial"/>
              </a:rPr>
              <a:t>"Add a global Pause input. When </a:t>
            </a:r>
            <a:r>
              <a:rPr sz="1200">
                <a:latin typeface="Arial"/>
              </a:rPr>
              <a:t>ModePause</a:t>
            </a:r>
            <a:r>
              <a:rPr sz="1200">
                <a:latin typeface="Arial"/>
              </a:rPr>
              <a:t> is TRUE, every station should hold. Exception: the Fill station must ignore Pause mid-cycle — pausing a half-filled bottle ruins the product."</a:t>
            </a:r>
            <a:endParaRPr/>
          </a:p>
          <a:p>
            <a:pPr>
              <a:defRPr/>
            </a:pPr>
            <a:r>
              <a:rPr sz="1200">
                <a:latin typeface="Arial"/>
              </a:rPr>
              <a:t>[THE TRAP] Most attendees miss the Fill exception on first read and write a uniform Pause guard.</a:t>
            </a:r>
            <a:endParaRPr/>
          </a:p>
          <a:p>
            <a:pPr>
              <a:defRPr/>
            </a:pPr>
            <a:r>
              <a:rPr sz="1200">
                <a:latin typeface="Arial"/>
              </a:rPr>
              <a:t>[DO]</a:t>
            </a:r>
            <a:br>
              <a:rPr sz="1200">
                <a:latin typeface="Arial"/>
              </a:rPr>
            </a:br>
            <a:r>
              <a:rPr sz="1200">
                <a:latin typeface="Arial"/>
              </a:rPr>
              <a:t>1. Switch presenter to `stage-1-broken`. Show the compile error in MAIN.</a:t>
            </a:r>
            <a:br>
              <a:rPr sz="1200">
                <a:latin typeface="Arial"/>
              </a:rPr>
            </a:br>
            <a:r>
              <a:rPr sz="1200">
                <a:latin typeface="Arial"/>
              </a:rPr>
              <a:t>2. "30 seconds to read the broken state, then 15 minutes to fix it."</a:t>
            </a:r>
            <a:br>
              <a:rPr sz="1200">
                <a:latin typeface="Arial"/>
              </a:rPr>
            </a:br>
            <a:r>
              <a:rPr sz="1200">
                <a:latin typeface="Arial"/>
              </a:rPr>
              <a:t>3. Set the timer. Walk the room. DON'T HELP. Wait until people are ~10 minutes in before you interrupt for the reveal slide.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7336267" name="Slide Number Placeholder 1"/>
          <p:cNvSpPr>
            <a:spLocks noGrp="1"/>
          </p:cNvSpPr>
          <p:nvPr>
            <p:ph type="sldNum" sz="quarter" idx="5"/>
          </p:nvPr>
        </p:nvSpPr>
        <p:spPr bwMode="auto"/>
      </p:sp>
      <p:sp>
        <p:nvSpPr>
          <p:cNvPr id="54020669" name="Slide Image Placeholder 2"/>
          <p:cNvSpPr>
            <a:spLocks noChangeAspect="1" noGrp="1" noRot="1"/>
          </p:cNvSpPr>
          <p:nvPr>
            <p:ph type="sldImg" idx="2"/>
          </p:nvPr>
        </p:nvSpPr>
        <p:spPr bwMode="auto">
          <a:xfrm>
            <a:off x="0" y="0"/>
            <a:ext cx="6796088" cy="3822700"/>
          </a:xfrm>
        </p:spPr>
      </p:sp>
      <p:sp>
        <p:nvSpPr>
          <p:cNvPr id="330715268" name="Notes Placeholder 3"/>
          <p:cNvSpPr>
            <a:spLocks noGrp="1"/>
          </p:cNvSpPr>
          <p:nvPr>
            <p:ph type="body" sz="quarter" idx="3"/>
          </p:nvPr>
        </p:nvSpPr>
        <p:spPr bwMode="auto"/>
        <p:txBody>
          <a:bodyPr/>
          <a:lstStyle/>
          <a:p>
            <a:pPr>
              <a:defRPr/>
            </a:pPr>
            <a:r>
              <a:rPr sz="1200">
                <a:latin typeface="Arial"/>
              </a:rPr>
              <a:t>[BEFORE] After attendees finish (or you call time): `git switch stage-1-cr1-applied` and `git diff stage-1-procedural --stat` on screen.</a:t>
            </a:r>
            <a:endParaRPr/>
          </a:p>
          <a:p>
            <a:pPr>
              <a:defRPr/>
            </a:pPr>
            <a:r>
              <a:rPr sz="1200">
                <a:latin typeface="Arial"/>
              </a:rPr>
              <a:t>[DO] Write the 5 / +50 / −13 number on the physical scoreboard whiteboard.</a:t>
            </a:r>
            <a:endParaRPr/>
          </a:p>
          <a:p>
            <a:pPr>
              <a:defRPr/>
            </a:pPr>
            <a:r>
              <a:rPr sz="1200">
                <a:latin typeface="Arial"/>
              </a:rPr>
              <a:t>[SAY] "This is what your codebase looks like after one CR."</a:t>
            </a:r>
            <a:endParaRPr/>
          </a:p>
          <a:p>
            <a:pPr>
              <a:defRPr/>
            </a:pPr>
            <a:r>
              <a:rPr sz="1200">
                <a:latin typeface="Arial"/>
              </a:rPr>
              <a:t>[ASK] "Show of hands — who got Fill's mid-cycle exception right on the first try?" Most won't.</a:t>
            </a:r>
            <a:endParaRPr/>
          </a:p>
          <a:p>
            <a:pPr>
              <a:defRPr/>
            </a:pPr>
            <a:r>
              <a:rPr sz="1200">
                <a:latin typeface="Arial"/>
              </a:rPr>
              <a:t>[FOLLOW-UP] "That's not a comment on you; it's a comment on the design. The exception is buried in the same Pause-guard logic every other station uses. You couldn't write it once and apply it correctly four ways."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9390639" name="Slide Number Placeholder 1"/>
          <p:cNvSpPr>
            <a:spLocks noGrp="1"/>
          </p:cNvSpPr>
          <p:nvPr>
            <p:ph type="sldNum" sz="quarter" idx="5"/>
          </p:nvPr>
        </p:nvSpPr>
        <p:spPr bwMode="auto"/>
      </p:sp>
      <p:sp>
        <p:nvSpPr>
          <p:cNvPr id="52961364" name="Slide Image Placeholder 2"/>
          <p:cNvSpPr>
            <a:spLocks noChangeAspect="1" noGrp="1" noRot="1"/>
          </p:cNvSpPr>
          <p:nvPr>
            <p:ph type="sldImg" idx="2"/>
          </p:nvPr>
        </p:nvSpPr>
        <p:spPr bwMode="auto">
          <a:xfrm>
            <a:off x="0" y="0"/>
            <a:ext cx="6796088" cy="3822700"/>
          </a:xfrm>
        </p:spPr>
      </p:sp>
      <p:sp>
        <p:nvSpPr>
          <p:cNvPr id="734426496" name="Notes Placeholder 3"/>
          <p:cNvSpPr>
            <a:spLocks noGrp="1"/>
          </p:cNvSpPr>
          <p:nvPr>
            <p:ph type="body" sz="quarter" idx="3"/>
          </p:nvPr>
        </p:nvSpPr>
        <p:spPr bwMode="auto"/>
        <p:txBody>
          <a:bodyPr/>
          <a:lstStyle/>
          <a:p>
            <a:pPr>
              <a:defRPr/>
            </a:pPr>
            <a:r>
              <a:rPr sz="1200">
                <a:latin typeface="Arial"/>
              </a:rPr>
              <a:t>[WHEN] After ~10 minutes, when most attendees are mid-fix. INTERRUPT.</a:t>
            </a:r>
            <a:endParaRPr/>
          </a:p>
          <a:p>
            <a:pPr>
              <a:defRPr/>
            </a:pPr>
            <a:r>
              <a:rPr sz="1200">
                <a:latin typeface="Arial"/>
              </a:rPr>
              <a:t>[ASK — two questions, in sequence]</a:t>
            </a:r>
            <a:br>
              <a:rPr sz="1200">
                <a:latin typeface="Arial"/>
              </a:rPr>
            </a:br>
            <a:r>
              <a:rPr sz="1200">
                <a:latin typeface="Arial"/>
              </a:rPr>
              <a:t>1. "How many of you copied your Pause logic into Label from Cap? From Fill? From Inspect?" → mixed hands.</a:t>
            </a:r>
            <a:br>
              <a:rPr sz="1200">
                <a:latin typeface="Arial"/>
              </a:rPr>
            </a:br>
            <a:r>
              <a:rPr sz="1200">
                <a:latin typeface="Arial"/>
              </a:rPr>
              <a:t>2. "Now: who has a level-based </a:t>
            </a:r>
            <a:r>
              <a:rPr sz="1200">
                <a:latin typeface="Arial"/>
              </a:rPr>
              <a:t>AlarmAck</a:t>
            </a:r>
            <a:r>
              <a:rPr sz="1200">
                <a:latin typeface="Arial"/>
              </a:rPr>
              <a:t> and who has an R_TRIG?" → the room goes quiet because some attendees realize they copied from a station with one ack style and pasted into one with the other.</a:t>
            </a:r>
            <a:r>
              <a:rPr lang="en-US" sz="1200">
                <a:latin typeface="Arial"/>
              </a:rPr>
              <a:t>  </a:t>
            </a:r>
            <a:endParaRPr/>
          </a:p>
          <a:p>
            <a:pPr marL="180000" marR="0" lvl="0" indent="-180000" algn="l" defTabSz="914400" rtl="0">
              <a:lnSpc>
                <a:spcPct val="100000"/>
              </a:lnSpc>
              <a:spcBef>
                <a:spcPts val="0"/>
              </a:spcBef>
              <a:spcAft>
                <a:spcPts val="0"/>
              </a:spcAft>
              <a:buClrTx/>
              <a:buSzTx/>
              <a:buFont typeface="Wingdings"/>
              <a:buChar char="§"/>
              <a:defRPr/>
            </a:pPr>
            <a:r>
              <a:rPr lang="en-US" sz="1200">
                <a:latin typeface="+mn-lt"/>
              </a:rPr>
              <a:t>3. In concentrating on Pause, you may have missed the alarm ack behavior differences.</a:t>
            </a:r>
            <a:endParaRPr sz="1200">
              <a:latin typeface="Arial"/>
            </a:endParaRPr>
          </a:p>
          <a:p>
            <a:pPr>
              <a:defRPr/>
            </a:pPr>
            <a:r>
              <a:rPr sz="1200">
                <a:latin typeface="Arial"/>
              </a:rPr>
              <a:t>[DELIVER THE LESSON]</a:t>
            </a:r>
            <a:br>
              <a:rPr sz="1200">
                <a:latin typeface="Arial"/>
              </a:rPr>
            </a:br>
            <a:r>
              <a:rPr sz="1200">
                <a:latin typeface="Arial"/>
              </a:rPr>
              <a:t>"That's the procedural maintenance trap. Drift you didn't know was there. The system itself failed to enforce consistency. You weren't writing buggy code — the architecture failed to help you."</a:t>
            </a:r>
            <a:endParaRPr/>
          </a:p>
          <a:p>
            <a:pPr>
              <a:defRPr/>
            </a:pPr>
            <a:r>
              <a:rPr sz="1200">
                <a:latin typeface="Arial"/>
              </a:rPr>
              <a:t>[DO] Let the silence sit for 5 seconds before moving on. The realization IS the lesson; don't trample it.</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4074856" name="Slide Number Placeholder 1"/>
          <p:cNvSpPr>
            <a:spLocks noGrp="1"/>
          </p:cNvSpPr>
          <p:nvPr>
            <p:ph type="sldNum" sz="quarter" idx="5"/>
          </p:nvPr>
        </p:nvSpPr>
        <p:spPr bwMode="auto"/>
      </p:sp>
      <p:sp>
        <p:nvSpPr>
          <p:cNvPr id="536651837" name="Slide Image Placeholder 2"/>
          <p:cNvSpPr>
            <a:spLocks noChangeAspect="1" noGrp="1" noRot="1"/>
          </p:cNvSpPr>
          <p:nvPr>
            <p:ph type="sldImg" idx="2"/>
          </p:nvPr>
        </p:nvSpPr>
        <p:spPr bwMode="auto">
          <a:xfrm>
            <a:off x="0" y="0"/>
            <a:ext cx="6796088" cy="3822700"/>
          </a:xfrm>
        </p:spPr>
      </p:sp>
      <p:sp>
        <p:nvSpPr>
          <p:cNvPr id="1015021791" name="Notes Placeholder 3"/>
          <p:cNvSpPr>
            <a:spLocks noGrp="1"/>
          </p:cNvSpPr>
          <p:nvPr>
            <p:ph type="body" sz="quarter" idx="3"/>
          </p:nvPr>
        </p:nvSpPr>
        <p:spPr bwMode="auto"/>
        <p:txBody>
          <a:bodyPr/>
          <a:lstStyle/>
          <a:p>
            <a:pPr>
              <a:defRPr/>
            </a:pPr>
            <a:r>
              <a:rPr sz="1200">
                <a:latin typeface="Arial"/>
              </a:rPr>
              <a:t>[FRAME] Acknowledge that process catches some drift — then sharpen the point: process catches drift you notice; architecture catches the drift you don’t.</a:t>
            </a:r>
            <a:endParaRPr lang="en-US" sz="1200">
              <a:latin typeface="Arial"/>
            </a:endParaRPr>
          </a:p>
          <a:p>
            <a:pPr>
              <a:defRPr/>
            </a:pPr>
            <a:r>
              <a:rPr sz="1200">
                <a:latin typeface="Arial"/>
              </a:rPr>
              <a:t>[CALLBACK] Pair this with the line "Discipline is bounded; architecture is unbounded." You'll use it again in Block 2.</a:t>
            </a:r>
            <a:endParaRPr lang="en-US" sz="1200">
              <a:latin typeface="Arial"/>
            </a:endParaRPr>
          </a:p>
          <a:p>
            <a:pPr>
              <a:defRPr/>
            </a:pPr>
            <a:r>
              <a:rPr lang="en-US" sz="1200">
                <a:latin typeface="Arial"/>
              </a:rPr>
              <a:t>Bounded means limited.  There is a limit to how effective team discipline is, the limit being human error.  </a:t>
            </a:r>
            <a:endParaRPr sz="1200">
              <a:latin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6423515" name="Slide Number Placeholder 1"/>
          <p:cNvSpPr>
            <a:spLocks noGrp="1"/>
          </p:cNvSpPr>
          <p:nvPr>
            <p:ph type="sldNum" sz="quarter" idx="5"/>
          </p:nvPr>
        </p:nvSpPr>
        <p:spPr bwMode="auto"/>
      </p:sp>
      <p:sp>
        <p:nvSpPr>
          <p:cNvPr id="616928199" name="Slide Image Placeholder 2"/>
          <p:cNvSpPr>
            <a:spLocks noChangeAspect="1" noGrp="1" noRot="1"/>
          </p:cNvSpPr>
          <p:nvPr>
            <p:ph type="sldImg" idx="2"/>
          </p:nvPr>
        </p:nvSpPr>
        <p:spPr bwMode="auto">
          <a:xfrm>
            <a:off x="0" y="0"/>
            <a:ext cx="6796088" cy="3822700"/>
          </a:xfrm>
        </p:spPr>
      </p:sp>
      <p:sp>
        <p:nvSpPr>
          <p:cNvPr id="282105661" name="Notes Placeholder 3"/>
          <p:cNvSpPr>
            <a:spLocks noGrp="1"/>
          </p:cNvSpPr>
          <p:nvPr>
            <p:ph type="body" sz="quarter" idx="3"/>
          </p:nvPr>
        </p:nvSpPr>
        <p:spPr bwMode="auto"/>
        <p:txBody>
          <a:bodyPr/>
          <a:lstStyle/>
          <a:p>
            <a:pPr>
              <a:defRPr/>
            </a:pPr>
            <a:r>
              <a:rPr sz="1200">
                <a:latin typeface="Arial"/>
              </a:rPr>
              <a:t>[SAY — read CR-2 aloud, emphasize the phrase]</a:t>
            </a:r>
            <a:br>
              <a:rPr sz="1200">
                <a:latin typeface="Arial"/>
              </a:rPr>
            </a:br>
            <a:r>
              <a:rPr sz="1200">
                <a:latin typeface="Arial"/>
              </a:rPr>
              <a:t>"Two axes of variation at once. Alarm policy AND sequencer topology. Only one station, but the patterns have to coexist with the others."</a:t>
            </a:r>
            <a:endParaRPr/>
          </a:p>
          <a:p>
            <a:pPr>
              <a:defRPr/>
            </a:pPr>
            <a:r>
              <a:rPr sz="1200">
                <a:latin typeface="Arial"/>
              </a:rPr>
              <a:t>[DO] Set 15-minute timer. Walk the room.</a:t>
            </a:r>
            <a:endParaRPr/>
          </a:p>
          <a:p>
            <a:pPr>
              <a:defRPr/>
            </a:pPr>
            <a:r>
              <a:rPr sz="1200">
                <a:latin typeface="Arial"/>
              </a:rPr>
              <a:t>[WATCH FOR] The attempt: rewriting </a:t>
            </a:r>
            <a:r>
              <a:rPr sz="1200">
                <a:latin typeface="Arial"/>
              </a:rPr>
              <a:t>Inspect's</a:t>
            </a:r>
            <a:r>
              <a:rPr sz="1200">
                <a:latin typeface="Arial"/>
              </a:rPr>
              <a:t> CASE machine end-to-end with </a:t>
            </a:r>
            <a:r>
              <a:rPr sz="1200">
                <a:latin typeface="Arial"/>
              </a:rPr>
              <a:t>QualityFlag</a:t>
            </a:r>
            <a:r>
              <a:rPr sz="1200">
                <a:latin typeface="Arial"/>
              </a:rPr>
              <a:t>/</a:t>
            </a:r>
            <a:r>
              <a:rPr sz="1200">
                <a:latin typeface="Arial"/>
              </a:rPr>
              <a:t>QualityCode</a:t>
            </a:r>
            <a:r>
              <a:rPr sz="1200">
                <a:latin typeface="Arial"/>
              </a:rPr>
              <a:t>/</a:t>
            </a:r>
            <a:r>
              <a:rPr sz="1200">
                <a:latin typeface="Arial"/>
              </a:rPr>
              <a:t>QualityText</a:t>
            </a:r>
            <a:r>
              <a:rPr sz="1200">
                <a:latin typeface="Arial"/>
              </a:rPr>
              <a:t> outputs and </a:t>
            </a:r>
            <a:r>
              <a:rPr sz="1200">
                <a:latin typeface="Arial"/>
              </a:rPr>
              <a:t>CameraDone</a:t>
            </a:r>
            <a:r>
              <a:rPr sz="1200">
                <a:latin typeface="Arial"/>
              </a:rPr>
              <a:t>/</a:t>
            </a:r>
            <a:r>
              <a:rPr sz="1200">
                <a:latin typeface="Arial"/>
              </a:rPr>
              <a:t>RejectDone</a:t>
            </a:r>
            <a:r>
              <a:rPr sz="1200">
                <a:latin typeface="Arial"/>
              </a:rPr>
              <a:t> parallel coordination inside step 10.</a:t>
            </a:r>
            <a:endParaRPr/>
          </a:p>
          <a:p>
            <a:pPr>
              <a:defRPr/>
            </a:pPr>
            <a:r>
              <a:rPr sz="1200">
                <a:latin typeface="Arial"/>
              </a:rPr>
              <a:t>[STRETCH WHEN DONE]</a:t>
            </a:r>
            <a:br>
              <a:rPr sz="1200">
                <a:latin typeface="Arial"/>
              </a:rPr>
            </a:br>
            <a:r>
              <a:rPr sz="1200">
                <a:latin typeface="Arial"/>
              </a:rPr>
              <a:t>"How many of you ended up with a 60+ line rewrite of one CASE machine?" (Most.) "Now: think about the next station that needs parallel branches. How much of what you just wrote can the next person reuse?" (Almost none — the parallel coordination is buried in </a:t>
            </a:r>
            <a:r>
              <a:rPr sz="1200">
                <a:latin typeface="Arial"/>
              </a:rPr>
              <a:t>Inspect's</a:t>
            </a:r>
            <a:r>
              <a:rPr sz="1200">
                <a:latin typeface="Arial"/>
              </a:rPr>
              <a:t> CASE.)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1134381" name="Slide Number Placeholder 1"/>
          <p:cNvSpPr>
            <a:spLocks noGrp="1"/>
          </p:cNvSpPr>
          <p:nvPr>
            <p:ph type="sldNum" sz="quarter" idx="5"/>
          </p:nvPr>
        </p:nvSpPr>
        <p:spPr bwMode="auto"/>
      </p:sp>
      <p:sp>
        <p:nvSpPr>
          <p:cNvPr id="325059211" name="Slide Image Placeholder 2"/>
          <p:cNvSpPr>
            <a:spLocks noChangeAspect="1" noGrp="1" noRot="1"/>
          </p:cNvSpPr>
          <p:nvPr>
            <p:ph type="sldImg" idx="2"/>
          </p:nvPr>
        </p:nvSpPr>
        <p:spPr bwMode="auto">
          <a:xfrm>
            <a:off x="0" y="0"/>
            <a:ext cx="6796088" cy="3822700"/>
          </a:xfrm>
        </p:spPr>
      </p:sp>
      <p:sp>
        <p:nvSpPr>
          <p:cNvPr id="1169773800" name="Notes Placeholder 3"/>
          <p:cNvSpPr>
            <a:spLocks noGrp="1"/>
          </p:cNvSpPr>
          <p:nvPr>
            <p:ph type="body" sz="quarter" idx="3"/>
          </p:nvPr>
        </p:nvSpPr>
        <p:spPr bwMode="auto"/>
        <p:txBody>
          <a:bodyPr/>
          <a:lstStyle/>
          <a:p>
            <a:pPr>
              <a:defRPr/>
            </a:pPr>
            <a:r>
              <a:rPr sz="1200">
                <a:latin typeface="Arial"/>
              </a:rPr>
              <a:t>[SAY] "This isn't just duplication of the base — it's duplication of NEW patterns each time they appear. Stage 2 will help with this. Stage 3 will help even more."</a:t>
            </a:r>
            <a:endParaRPr/>
          </a:p>
          <a:p>
            <a:pPr>
              <a:defRPr/>
            </a:pPr>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9322539" name="Slide Number Placeholder 1"/>
          <p:cNvSpPr>
            <a:spLocks noGrp="1"/>
          </p:cNvSpPr>
          <p:nvPr>
            <p:ph type="sldNum" sz="quarter" idx="5"/>
          </p:nvPr>
        </p:nvSpPr>
        <p:spPr bwMode="auto"/>
      </p:sp>
      <p:sp>
        <p:nvSpPr>
          <p:cNvPr id="293333593" name="Slide Image Placeholder 2"/>
          <p:cNvSpPr>
            <a:spLocks noChangeAspect="1" noGrp="1" noRot="1"/>
          </p:cNvSpPr>
          <p:nvPr>
            <p:ph type="sldImg" idx="2"/>
          </p:nvPr>
        </p:nvSpPr>
        <p:spPr bwMode="auto">
          <a:xfrm>
            <a:off x="0" y="0"/>
            <a:ext cx="6796088" cy="3822700"/>
          </a:xfrm>
        </p:spPr>
      </p:sp>
      <p:sp>
        <p:nvSpPr>
          <p:cNvPr id="1791768748" name="Notes Placeholder 3"/>
          <p:cNvSpPr>
            <a:spLocks noGrp="1"/>
          </p:cNvSpPr>
          <p:nvPr>
            <p:ph type="body" sz="quarter" idx="3"/>
          </p:nvPr>
        </p:nvSpPr>
        <p:spPr bwMode="auto"/>
        <p:txBody>
          <a:bodyPr/>
          <a:lstStyle/>
          <a:p>
            <a:pPr>
              <a:defRPr/>
            </a:pPr>
            <a:r>
              <a:rPr sz="1200">
                <a:latin typeface="Arial"/>
              </a:rPr>
              <a:t>[DO] Read it, set a 10-minute timer, let them go. Most attendees finish in 7-8 minutes.</a:t>
            </a:r>
            <a:endParaRPr/>
          </a:p>
          <a:p>
            <a:pPr>
              <a:defRPr/>
            </a:pPr>
            <a:r>
              <a:rPr sz="1200">
                <a:latin typeface="Arial"/>
              </a:rPr>
              <a:t>[THE TRAP] It looks small. They'll write 13 lines and feel done. The cost — duplication that will be paid every time the logging requirement evolves — is invisible until it bites.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6327497" name="Slide Number Placeholder 1"/>
          <p:cNvSpPr>
            <a:spLocks noGrp="1"/>
          </p:cNvSpPr>
          <p:nvPr>
            <p:ph type="sldNum" sz="quarter" idx="5"/>
          </p:nvPr>
        </p:nvSpPr>
        <p:spPr bwMode="auto"/>
      </p:sp>
      <p:sp>
        <p:nvSpPr>
          <p:cNvPr id="1183597191" name="Slide Image Placeholder 2"/>
          <p:cNvSpPr>
            <a:spLocks noChangeAspect="1" noGrp="1" noRot="1"/>
          </p:cNvSpPr>
          <p:nvPr>
            <p:ph type="sldImg" idx="2"/>
          </p:nvPr>
        </p:nvSpPr>
        <p:spPr bwMode="auto">
          <a:xfrm>
            <a:off x="0" y="0"/>
            <a:ext cx="6796088" cy="3822700"/>
          </a:xfrm>
        </p:spPr>
      </p:sp>
      <p:sp>
        <p:nvSpPr>
          <p:cNvPr id="160182095" name="Notes Placeholder 3"/>
          <p:cNvSpPr>
            <a:spLocks noGrp="1"/>
          </p:cNvSpPr>
          <p:nvPr>
            <p:ph type="body" sz="quarter" idx="3"/>
          </p:nvPr>
        </p:nvSpPr>
        <p:spPr bwMode="auto"/>
        <p:txBody>
          <a:bodyPr/>
          <a:lstStyle/>
          <a:p>
            <a:pPr>
              <a:defRPr/>
            </a:pPr>
            <a:r>
              <a:rPr sz="1200">
                <a:latin typeface="Arial"/>
              </a:rPr>
              <a:t>[ASK] "That looked small. Anyone want to defend it as 'fine'?" Some attendees will defend it. Let them — then sharpen.</a:t>
            </a:r>
            <a:endParaRPr/>
          </a:p>
          <a:p>
            <a:pPr>
              <a:defRPr/>
            </a:pPr>
            <a:r>
              <a:rPr sz="1200">
                <a:latin typeface="Arial"/>
              </a:rPr>
              <a:t>[FOLLOW-UP] "Now imagine the logging requirements change in six months — say we want to write to a file instead of an in-memory buffer. Where do you change the code?" (Two places.) "And if you forget one of them?" (Drift.)</a:t>
            </a:r>
            <a:endParaRPr/>
          </a:p>
          <a:p>
            <a:pPr>
              <a:defRPr/>
            </a:pPr>
            <a:r>
              <a:rPr sz="1200">
                <a:latin typeface="Arial"/>
              </a:rPr>
              <a:t>[PUSHBACK if asked] "It's literally 13 lines. Stop making it a big deal." → "It's 13 lines today. The cost isn't the lines; it's the duplication. Every future change to that logic happens twice. Stage 3 — same lines, but only one place to change."</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7026712" name="Slide Number Placeholder 1"/>
          <p:cNvSpPr>
            <a:spLocks noGrp="1"/>
          </p:cNvSpPr>
          <p:nvPr>
            <p:ph type="sldNum" sz="quarter" idx="5"/>
          </p:nvPr>
        </p:nvSpPr>
        <p:spPr bwMode="auto"/>
      </p:sp>
      <p:sp>
        <p:nvSpPr>
          <p:cNvPr id="663194166" name="Slide Image Placeholder 2"/>
          <p:cNvSpPr>
            <a:spLocks noChangeAspect="1" noGrp="1" noRot="1"/>
          </p:cNvSpPr>
          <p:nvPr>
            <p:ph type="sldImg" idx="2"/>
          </p:nvPr>
        </p:nvSpPr>
        <p:spPr bwMode="auto">
          <a:xfrm>
            <a:off x="0" y="0"/>
            <a:ext cx="6796088" cy="3822700"/>
          </a:xfrm>
        </p:spPr>
      </p:sp>
      <p:sp>
        <p:nvSpPr>
          <p:cNvPr id="1326778568" name="Notes Placeholder 3"/>
          <p:cNvSpPr>
            <a:spLocks noGrp="1"/>
          </p:cNvSpPr>
          <p:nvPr>
            <p:ph type="body" sz="quarter" idx="3"/>
          </p:nvPr>
        </p:nvSpPr>
        <p:spPr bwMode="auto"/>
        <p:txBody>
          <a:bodyPr/>
          <a:lstStyle/>
          <a:p>
            <a:pPr>
              <a:defRPr/>
            </a:pPr>
            <a:r>
              <a:rPr sz="1200">
                <a:latin typeface="Arial"/>
              </a:rPr>
              <a:t>[BEFORE] Switch presenter to `stage-1-complete`. Show `git diff stage-1-procedural --stat` live.</a:t>
            </a:r>
            <a:endParaRPr/>
          </a:p>
          <a:p>
            <a:pPr>
              <a:defRPr/>
            </a:pPr>
            <a:r>
              <a:rPr sz="1200">
                <a:latin typeface="Arial"/>
              </a:rPr>
              <a:t>[SAY] "That's what your codebase looks like after a year of cross-cutting CRs. Five files modified, growth concentrated in Inspect, duplication on every cross-cutting concern."</a:t>
            </a:r>
            <a:endParaRPr/>
          </a:p>
          <a:p>
            <a:pPr>
              <a:defRPr/>
            </a:pPr>
            <a:r>
              <a:rPr sz="1200">
                <a:latin typeface="Arial"/>
              </a:rPr>
              <a:t>[ASK — the bridge to Block 2] "Stage 1 isn't broken. It works. So why are we moving on?"</a:t>
            </a:r>
            <a:endParaRPr/>
          </a:p>
          <a:p>
            <a:pPr>
              <a:defRPr/>
            </a:pPr>
            <a:r>
              <a:rPr sz="1200">
                <a:latin typeface="Arial"/>
              </a:rPr>
              <a:t>[ANTICIPATED ANSWERS — capture on whiteboard]</a:t>
            </a:r>
            <a:br>
              <a:rPr sz="1200">
                <a:latin typeface="Arial"/>
              </a:rPr>
            </a:br>
            <a:r>
              <a:rPr sz="1200">
                <a:latin typeface="Arial"/>
              </a:rPr>
              <a:t>- "Drift between files."</a:t>
            </a:r>
            <a:br>
              <a:rPr sz="1200">
                <a:latin typeface="Arial"/>
              </a:rPr>
            </a:br>
            <a:r>
              <a:rPr sz="1200">
                <a:latin typeface="Arial"/>
              </a:rPr>
              <a:t>- "Can't enforce consistency."</a:t>
            </a:r>
            <a:br>
              <a:rPr sz="1200">
                <a:latin typeface="Arial"/>
              </a:rPr>
            </a:br>
            <a:r>
              <a:rPr sz="1200">
                <a:latin typeface="Arial"/>
              </a:rPr>
              <a:t>- "Duplication compounds."</a:t>
            </a:r>
            <a:endParaRPr/>
          </a:p>
          <a:p>
            <a:pPr>
              <a:defRPr/>
            </a:pPr>
            <a:r>
              <a:rPr sz="1200">
                <a:latin typeface="Arial"/>
              </a:rPr>
              <a:t>[CLOSE] "Right. Now we'll see what happens when we try to fix all of that with a base class. Spoiler: we'll fix some of it. We'll create new problems too."</a:t>
            </a:r>
            <a:endParaRPr/>
          </a:p>
          <a:p>
            <a:pPr>
              <a:defRPr/>
            </a:pPr>
            <a:r>
              <a:rPr sz="1200">
                <a:latin typeface="Arial"/>
              </a:rPr>
              <a:t>[PACING] If behind, cut CR-3 hands-on (smallest CR, easiest to walk declaratively). If ahead, extend the CR-1 reveal into a longer drift discussion.</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1922049" name="Slide Number Placeholder 1"/>
          <p:cNvSpPr>
            <a:spLocks noGrp="1"/>
          </p:cNvSpPr>
          <p:nvPr>
            <p:ph type="sldNum" sz="quarter" idx="5"/>
          </p:nvPr>
        </p:nvSpPr>
        <p:spPr bwMode="auto"/>
      </p:sp>
      <p:sp>
        <p:nvSpPr>
          <p:cNvPr id="1556918362" name="Slide Image Placeholder 2"/>
          <p:cNvSpPr>
            <a:spLocks noChangeAspect="1" noGrp="1" noRot="1"/>
          </p:cNvSpPr>
          <p:nvPr>
            <p:ph type="sldImg" idx="2"/>
          </p:nvPr>
        </p:nvSpPr>
        <p:spPr bwMode="auto">
          <a:xfrm>
            <a:off x="0" y="0"/>
            <a:ext cx="6796088" cy="3822700"/>
          </a:xfrm>
        </p:spPr>
      </p:sp>
      <p:sp>
        <p:nvSpPr>
          <p:cNvPr id="706877944" name="Notes Placeholder 3"/>
          <p:cNvSpPr>
            <a:spLocks noGrp="1"/>
          </p:cNvSpPr>
          <p:nvPr>
            <p:ph type="body" sz="quarter" idx="3"/>
          </p:nvPr>
        </p:nvSpPr>
        <p:spPr bwMode="auto"/>
        <p:txBody>
          <a:bodyPr/>
          <a:lstStyle/>
          <a:p>
            <a:pPr>
              <a:defRPr/>
            </a:pPr>
            <a:r>
              <a:rPr sz="1200">
                <a:latin typeface="Arial"/>
              </a:rPr>
              <a:t>[DO NOT SHORTEN] Don't compress to 5 minutes — you'll pay for it in Block 2's CR-2 attention crash.</a:t>
            </a:r>
            <a:endParaRPr/>
          </a:p>
          <a:p>
            <a:pPr>
              <a:defRPr/>
            </a:pPr>
            <a:r>
              <a:rPr sz="1200">
                <a:latin typeface="Arial"/>
              </a:rPr>
              <a:t>[USE THE BREAK] Pull `stage-2-inheritance` on the presenter machine. Open FB_StationBase and FB_StationFill in side-by-side tabs.</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5996469" name="Slide Number Placeholder 1"/>
          <p:cNvSpPr>
            <a:spLocks noGrp="1"/>
          </p:cNvSpPr>
          <p:nvPr>
            <p:ph type="sldNum" sz="quarter" idx="5"/>
          </p:nvPr>
        </p:nvSpPr>
        <p:spPr bwMode="auto"/>
      </p:sp>
      <p:sp>
        <p:nvSpPr>
          <p:cNvPr id="732422693" name="Slide Image Placeholder 2"/>
          <p:cNvSpPr>
            <a:spLocks noChangeAspect="1" noGrp="1" noRot="1"/>
          </p:cNvSpPr>
          <p:nvPr>
            <p:ph type="sldImg" idx="2"/>
          </p:nvPr>
        </p:nvSpPr>
        <p:spPr bwMode="auto">
          <a:xfrm>
            <a:off x="0" y="0"/>
            <a:ext cx="6796088" cy="3822700"/>
          </a:xfrm>
        </p:spPr>
      </p:sp>
      <p:sp>
        <p:nvSpPr>
          <p:cNvPr id="387522340" name="Notes Placeholder 3"/>
          <p:cNvSpPr>
            <a:spLocks noGrp="1"/>
          </p:cNvSpPr>
          <p:nvPr>
            <p:ph type="body" sz="quarter" idx="3"/>
          </p:nvPr>
        </p:nvSpPr>
        <p:spPr bwMode="auto"/>
        <p:txBody>
          <a:bodyPr/>
          <a:lstStyle/>
          <a:p>
            <a:pPr>
              <a:defRPr/>
            </a:pPr>
            <a:r>
              <a:rPr lang="en-US" sz="1200">
                <a:latin typeface="Arial"/>
              </a:rPr>
              <a:t>[BEFORE] Ask the audience for information on their skill level of OOP because that will dictate how much to dwell on some pages</a:t>
            </a:r>
            <a:endParaRPr/>
          </a:p>
          <a:p>
            <a:pPr>
              <a:defRPr/>
            </a:pPr>
            <a:r>
              <a:rPr sz="1200">
                <a:latin typeface="Arial"/>
              </a:rPr>
              <a:t>[BEFORE] Presenter on `stage-2-inheritance`. </a:t>
            </a:r>
            <a:r>
              <a:rPr sz="1200">
                <a:latin typeface="Arial"/>
              </a:rPr>
              <a:t>FB_StationBase</a:t>
            </a:r>
            <a:r>
              <a:rPr sz="1200">
                <a:latin typeface="Arial"/>
              </a:rPr>
              <a:t> and </a:t>
            </a:r>
            <a:r>
              <a:rPr sz="1200">
                <a:latin typeface="Arial"/>
              </a:rPr>
              <a:t>FB_StationFill</a:t>
            </a:r>
            <a:r>
              <a:rPr sz="1200">
                <a:latin typeface="Arial"/>
              </a:rPr>
              <a:t> side by side.</a:t>
            </a:r>
            <a:endParaRPr/>
          </a:p>
          <a:p>
            <a:pPr>
              <a:defRPr/>
            </a:pPr>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a:latin typeface="Arial"/>
            </a:endParaRPr>
          </a:p>
          <a:p>
            <a:pPr marL="0" indent="0">
              <a:buNone/>
              <a:defRPr/>
            </a:pPr>
            <a:endParaRPr sz="120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7124279" name="Slide Number Placeholder 1"/>
          <p:cNvSpPr>
            <a:spLocks noGrp="1"/>
          </p:cNvSpPr>
          <p:nvPr>
            <p:ph type="sldNum" sz="quarter" idx="5"/>
          </p:nvPr>
        </p:nvSpPr>
        <p:spPr bwMode="auto"/>
      </p:sp>
      <p:sp>
        <p:nvSpPr>
          <p:cNvPr id="1546487127" name="Slide Image Placeholder 2"/>
          <p:cNvSpPr>
            <a:spLocks noChangeAspect="1" noGrp="1" noRot="1"/>
          </p:cNvSpPr>
          <p:nvPr>
            <p:ph type="sldImg" idx="2"/>
          </p:nvPr>
        </p:nvSpPr>
        <p:spPr bwMode="auto">
          <a:xfrm>
            <a:off x="0" y="0"/>
            <a:ext cx="6796088" cy="3822700"/>
          </a:xfrm>
        </p:spPr>
      </p:sp>
      <p:sp>
        <p:nvSpPr>
          <p:cNvPr id="1875956687" name="Notes Placeholder 3"/>
          <p:cNvSpPr>
            <a:spLocks noGrp="1"/>
          </p:cNvSpPr>
          <p:nvPr>
            <p:ph type="body" sz="quarter" idx="3"/>
          </p:nvPr>
        </p:nvSpPr>
        <p:spPr bwMode="auto"/>
        <p:txBody>
          <a:bodyPr/>
          <a:lstStyle/>
          <a:p>
            <a:pPr>
              <a:defRPr/>
            </a:pPr>
            <a:r>
              <a:rPr sz="1200">
                <a:latin typeface="Arial"/>
              </a:rPr>
              <a:t>[DON'T LECTURE] Read the bullets, gesture at the </a:t>
            </a:r>
            <a:r>
              <a:rPr sz="1200">
                <a:latin typeface="Arial"/>
              </a:rPr>
              <a:t>FB_StationBase</a:t>
            </a:r>
            <a:r>
              <a:rPr sz="1200">
                <a:latin typeface="Arial"/>
              </a:rPr>
              <a:t> tab, move on.</a:t>
            </a:r>
            <a:endParaRPr/>
          </a:p>
          <a:p>
            <a:pPr>
              <a:defRPr/>
            </a:pPr>
            <a:r>
              <a:rPr sz="1200">
                <a:latin typeface="Arial"/>
              </a:rPr>
              <a:t>[SEED] "The common path becomes a constraint when ANY child needs to opt out." Plant it now — water it on the CR-2 slides.</a:t>
            </a:r>
            <a:endParaRPr/>
          </a:p>
          <a:p>
            <a:pPr>
              <a:defRPr/>
            </a:pPr>
            <a:r>
              <a:rPr sz="1200">
                <a:latin typeface="Arial"/>
              </a:rPr>
              <a:t>[CONTEXT — only if asked] </a:t>
            </a:r>
            <a:r>
              <a:rPr sz="1200">
                <a:latin typeface="Arial"/>
              </a:rPr>
              <a:t>FB_init</a:t>
            </a:r>
            <a:r>
              <a:rPr sz="1200">
                <a:latin typeface="Arial"/>
              </a:rPr>
              <a:t> is </a:t>
            </a:r>
            <a:r>
              <a:rPr sz="1200">
                <a:latin typeface="Arial"/>
              </a:rPr>
              <a:t>TwinCAT's</a:t>
            </a:r>
            <a:r>
              <a:rPr sz="1200">
                <a:latin typeface="Arial"/>
              </a:rPr>
              <a:t> constructor: runs once at instantiation, takes parameters that never change. Use it for names, sizes, references the FB will hold for its lifetime.</a:t>
            </a:r>
            <a:endParaRPr/>
          </a:p>
          <a:p>
            <a:pPr>
              <a:defRPr/>
            </a:pPr>
            <a:r>
              <a:rPr sz="1200">
                <a:latin typeface="Arial"/>
              </a:rPr>
              <a:t>[FRAMEWORK] Stage 2 builds on Beckhoff USA's SPT-Libraries (</a:t>
            </a:r>
            <a:r>
              <a:rPr sz="1200">
                <a:latin typeface="Arial"/>
              </a:rPr>
              <a:t>FB_ComponentBase</a:t>
            </a:r>
            <a:r>
              <a:rPr sz="1200">
                <a:latin typeface="Arial"/>
              </a:rPr>
              <a:t>). Production-grade, not academic.</a:t>
            </a:r>
            <a:endParaRPr lang="en-US" sz="1200">
              <a:latin typeface="Arial"/>
            </a:endParaRPr>
          </a:p>
          <a:p>
            <a:pPr>
              <a:defRPr/>
            </a:pPr>
            <a:r>
              <a:rPr lang="en-US" sz="1200">
                <a:latin typeface="Arial"/>
              </a:rPr>
              <a:t>PS There is a fourth edition of IEC 61131-3 (2025)</a:t>
            </a:r>
            <a:endParaRPr sz="1200">
              <a:latin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3858018" name="Slide Number Placeholder 1"/>
          <p:cNvSpPr>
            <a:spLocks noGrp="1"/>
          </p:cNvSpPr>
          <p:nvPr>
            <p:ph type="sldNum" sz="quarter" idx="5"/>
          </p:nvPr>
        </p:nvSpPr>
        <p:spPr bwMode="auto"/>
      </p:sp>
      <p:sp>
        <p:nvSpPr>
          <p:cNvPr id="1407126695" name="Slide Image Placeholder 2"/>
          <p:cNvSpPr>
            <a:spLocks noGrp="1"/>
          </p:cNvSpPr>
          <p:nvPr>
            <p:ph type="sldImg" idx="2"/>
          </p:nvPr>
        </p:nvSpPr>
        <p:spPr bwMode="auto"/>
      </p:sp>
      <p:sp>
        <p:nvSpPr>
          <p:cNvPr id="422327740" name="Notes Placeholder 3"/>
          <p:cNvSpPr>
            <a:spLocks noGrp="1"/>
          </p:cNvSpPr>
          <p:nvPr>
            <p:ph type="body" sz="quarter" idx="3"/>
          </p:nvPr>
        </p:nvSpPr>
        <p:spPr bwMode="auto"/>
        <p:txBody>
          <a:bodyPr/>
          <a:lstStyle/>
          <a:p>
            <a:pPr>
              <a:defRPr/>
            </a:pPr>
            <a:r>
              <a:rPr/>
              <a:t>[BEFORE] `git switch Release` on the presenter, FillingLine_Inheritance loaded. FB_StationBase and FB_StationFill open side by side.</a:t>
            </a:r>
            <a:endParaRPr/>
          </a:p>
          <a:p>
            <a:pPr>
              <a:defRPr/>
            </a:pPr>
            <a:r>
              <a:rPr/>
              <a:t>[ASK FIRST] "How comfortable are you with EXTENDS / THIS^ / SUPER^? Hand up if you've used these in TwinCAT before." This calibrates the pace for the block — most rooms split.</a:t>
            </a:r>
            <a:endParaRPr/>
          </a:p>
          <a:p>
            <a:pPr>
              <a:defRPr/>
            </a:pPr>
            <a:r>
              <a:rPr/>
              <a:t>[SAY] "Same behavior. Same five sections. Different architecture. The shared parts moved into the base; the differentiated state machine stayed in each child."</a:t>
            </a:r>
            <a:endParaRPr/>
          </a:p>
          <a:p>
            <a:pPr>
              <a:defRPr/>
            </a:pPr>
            <a:r>
              <a:rPr/>
              <a:t>[DO] Walk Fill's ~67 lines vs the procedural ~107. The visible shrinkage IS half the lesson — the other half is the new concepts on the next four slides.</a:t>
            </a:r>
            <a:endParaRPr/>
          </a:p>
          <a:p>
            <a:pPr>
              <a:defRPr/>
            </a:pPr>
            <a:r>
              <a:rPr/>
              <a:t>[TIME] 5 minutes. Don't editorialize on the trade-offs yet — slide 38 does that.</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1624494" name="Slide Number Placeholder 1"/>
          <p:cNvSpPr>
            <a:spLocks noGrp="1"/>
          </p:cNvSpPr>
          <p:nvPr>
            <p:ph type="sldNum" sz="quarter" idx="5"/>
          </p:nvPr>
        </p:nvSpPr>
        <p:spPr bwMode="auto"/>
      </p:sp>
      <p:sp>
        <p:nvSpPr>
          <p:cNvPr id="2124282280" name="Slide Image Placeholder 2"/>
          <p:cNvSpPr>
            <a:spLocks noGrp="1"/>
          </p:cNvSpPr>
          <p:nvPr>
            <p:ph type="sldImg" idx="2"/>
          </p:nvPr>
        </p:nvSpPr>
        <p:spPr bwMode="auto"/>
      </p:sp>
      <p:sp>
        <p:nvSpPr>
          <p:cNvPr id="1945855248" name="Notes Placeholder 3"/>
          <p:cNvSpPr>
            <a:spLocks noGrp="1"/>
          </p:cNvSpPr>
          <p:nvPr>
            <p:ph type="body" sz="quarter" idx="3"/>
          </p:nvPr>
        </p:nvSpPr>
        <p:spPr bwMode="auto"/>
        <p:txBody>
          <a:bodyPr/>
          <a:lstStyle/>
          <a:p>
            <a:pPr>
              <a:defRPr/>
            </a:pPr>
            <a:r>
              <a:rPr/>
              <a:t>[BEFORE CLICK FORWARD] This slide is a question. The next slide has the answers. Do NOT click forward until the room has answered.</a:t>
            </a:r>
            <a:endParaRPr/>
          </a:p>
          <a:p>
            <a:pPr>
              <a:defRPr/>
            </a:pPr>
            <a:r>
              <a:rPr/>
              <a:t>[ASK] "Each procedural code block became a method on the base class. Which method? Take a guess for each — Mode, Alarm-ack, Reset, HMI mapping, State machine."</a:t>
            </a:r>
            <a:endParaRPr/>
          </a:p>
          <a:p>
            <a:pPr>
              <a:defRPr/>
            </a:pPr>
            <a:r>
              <a:rPr/>
              <a:t>[DO] Take answers verbally. If the room is silent, prime with "Reset is the obvious one. What's it called?" → Reset(). The others follow.</a:t>
            </a:r>
            <a:endParaRPr/>
          </a:p>
          <a:p>
            <a:pPr>
              <a:defRPr/>
            </a:pPr>
            <a:r>
              <a:rPr/>
              <a:t>[SEGUE] "Hold your guesses. Next slide has the mapping."</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1637137" name="Slide Number Placeholder 1"/>
          <p:cNvSpPr>
            <a:spLocks noGrp="1"/>
          </p:cNvSpPr>
          <p:nvPr>
            <p:ph type="sldNum" sz="quarter" idx="5"/>
          </p:nvPr>
        </p:nvSpPr>
        <p:spPr bwMode="auto"/>
      </p:sp>
      <p:sp>
        <p:nvSpPr>
          <p:cNvPr id="291590095" name="Slide Image Placeholder 2"/>
          <p:cNvSpPr>
            <a:spLocks noGrp="1"/>
          </p:cNvSpPr>
          <p:nvPr>
            <p:ph type="sldImg" idx="2"/>
          </p:nvPr>
        </p:nvSpPr>
        <p:spPr bwMode="auto"/>
      </p:sp>
      <p:sp>
        <p:nvSpPr>
          <p:cNvPr id="2057463194" name="Notes Placeholder 3"/>
          <p:cNvSpPr>
            <a:spLocks noGrp="1"/>
          </p:cNvSpPr>
          <p:nvPr>
            <p:ph type="body" sz="quarter" idx="3"/>
          </p:nvPr>
        </p:nvSpPr>
        <p:spPr bwMode="auto"/>
        <p:txBody>
          <a:bodyPr/>
          <a:lstStyle/>
          <a:p>
            <a:pPr>
              <a:defRPr/>
            </a:pPr>
            <a:r>
              <a:rPr/>
              <a:t>[DO] Reveal the four answers. Notice: Mode AND Alarm-ack both went into Monitoring() — that's intentional. Both are "stuff the base does every cycle, independent of which station this is."</a:t>
            </a:r>
            <a:endParaRPr/>
          </a:p>
          <a:p>
            <a:pPr>
              <a:defRPr/>
            </a:pPr>
            <a:r>
              <a:rPr/>
              <a:t>[SAY] "Four out of five fit. The state machine — the one section that genuinely differs between stations — is the one left over. That's the inheritance pattern in one image: shared parts go up; differentiated parts stay down."</a:t>
            </a:r>
            <a:endParaRPr/>
          </a:p>
          <a:p>
            <a:pPr>
              <a:defRPr/>
            </a:pPr>
            <a:r>
              <a:rPr/>
              <a:t>[ASK] "Anyone guess that the state machine becomes an override?" Take hands. Next slide names it.</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0077003" name="Slide Number Placeholder 1"/>
          <p:cNvSpPr>
            <a:spLocks noGrp="1"/>
          </p:cNvSpPr>
          <p:nvPr>
            <p:ph type="sldNum" sz="quarter" idx="5"/>
          </p:nvPr>
        </p:nvSpPr>
        <p:spPr bwMode="auto"/>
      </p:sp>
      <p:sp>
        <p:nvSpPr>
          <p:cNvPr id="16684651" name="Slide Image Placeholder 2"/>
          <p:cNvSpPr>
            <a:spLocks noGrp="1"/>
          </p:cNvSpPr>
          <p:nvPr>
            <p:ph type="sldImg" idx="2"/>
          </p:nvPr>
        </p:nvSpPr>
        <p:spPr bwMode="auto"/>
      </p:sp>
      <p:sp>
        <p:nvSpPr>
          <p:cNvPr id="381822089" name="Notes Placeholder 3"/>
          <p:cNvSpPr>
            <a:spLocks noGrp="1"/>
          </p:cNvSpPr>
          <p:nvPr>
            <p:ph type="body" sz="quarter" idx="3"/>
          </p:nvPr>
        </p:nvSpPr>
        <p:spPr bwMode="auto"/>
        <p:txBody>
          <a:bodyPr/>
          <a:lstStyle/>
          <a:p>
            <a:pPr>
              <a:defRPr/>
            </a:pPr>
            <a:r>
              <a:rPr/>
              <a:t>[DO] Reveal the answer: ExecuteSequence() is virtual on the base; each derived FB provides its own implementation.</a:t>
            </a:r>
            <a:endParaRPr/>
          </a:p>
          <a:p>
            <a:pPr>
              <a:defRPr/>
            </a:pPr>
            <a:r>
              <a:rPr/>
              <a:t>[KEY POINT] "Override" is the new vocabulary. The base calls ExecuteSequence() inside its lifecycle; the derived FB's version is what actually runs. That's the inheritance superpower — write the lifecycle once, vary the body per child.</a:t>
            </a:r>
            <a:endParaRPr/>
          </a:p>
          <a:p>
            <a:pPr>
              <a:defRPr/>
            </a:pPr>
            <a:r>
              <a:rPr/>
              <a:t>[BRIDGE] "We've now named all four constructs you need to read Stage 2 code: EXTENDS, SUPER^, override, FB_init. The next slide drops them into actual ST."</a:t>
            </a:r>
            <a:endParaRPr/>
          </a:p>
          <a:p>
            <a:pPr>
              <a:defRPr/>
            </a:pPr>
            <a:r>
              <a:rPr/>
              <a:t>[FAE NOTE] When you teach this to controls engineers without OOP background, dwell here. The mechanics are easier than the mental model — the mental model takes practice.</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5275170" name="Slide Number Placeholder 1"/>
          <p:cNvSpPr>
            <a:spLocks noGrp="1"/>
          </p:cNvSpPr>
          <p:nvPr>
            <p:ph type="sldNum" sz="quarter" idx="5"/>
          </p:nvPr>
        </p:nvSpPr>
        <p:spPr bwMode="auto"/>
      </p:sp>
      <p:sp>
        <p:nvSpPr>
          <p:cNvPr id="1788938364" name="Slide Image Placeholder 2"/>
          <p:cNvSpPr>
            <a:spLocks noChangeAspect="1" noGrp="1" noRot="1"/>
          </p:cNvSpPr>
          <p:nvPr>
            <p:ph type="sldImg" idx="2"/>
          </p:nvPr>
        </p:nvSpPr>
        <p:spPr bwMode="auto"/>
      </p:sp>
      <p:sp>
        <p:nvSpPr>
          <p:cNvPr id="1465290673" name="Notes Placeholder 3"/>
          <p:cNvSpPr>
            <a:spLocks noGrp="1"/>
          </p:cNvSpPr>
          <p:nvPr>
            <p:ph type="body" sz="quarter" idx="3"/>
          </p:nvPr>
        </p:nvSpPr>
        <p:spPr bwMode="auto"/>
        <p:txBody>
          <a:bodyPr/>
          <a:lstStyle/>
          <a:p>
            <a:pPr>
              <a:defRPr/>
            </a:pPr>
            <a:r>
              <a:rPr sz="1200">
                <a:latin typeface="Arial"/>
              </a:rPr>
              <a:t>[DO] Walk all four constructs by name (EXTENDS, SUPER^, override, FB_init).</a:t>
            </a:r>
            <a:endParaRPr/>
          </a:p>
          <a:p>
            <a:pPr>
              <a:defRPr/>
            </a:pPr>
            <a:r>
              <a:rPr sz="1200">
                <a:latin typeface="Arial"/>
              </a:rPr>
              <a:t>[FAE-SPECIFIC] For FAEs this is review at the conceptual level. The reason you're naming them: they'll have to TEACH this to controls engineers who haven't used inheritance, and the vocabulary matters.</a:t>
            </a:r>
            <a:endParaRPr/>
          </a:p>
          <a:p>
            <a:pPr>
              <a:defRPr/>
            </a:pPr>
            <a:r>
              <a:rPr sz="1200">
                <a:latin typeface="Arial"/>
              </a:rPr>
              <a:t>[SAY] "If you're going to teach Stage 2 to your customers, this slide is what you'll spend 5 minutes on. The audience needs to recognize all four constructs by sight before CR-1."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509150" name="Slide Number Placeholder 1"/>
          <p:cNvSpPr>
            <a:spLocks noGrp="1"/>
          </p:cNvSpPr>
          <p:nvPr>
            <p:ph type="sldNum" sz="quarter" idx="5"/>
          </p:nvPr>
        </p:nvSpPr>
        <p:spPr bwMode="auto"/>
      </p:sp>
      <p:sp>
        <p:nvSpPr>
          <p:cNvPr id="802332357" name="Slide Image Placeholder 2"/>
          <p:cNvSpPr>
            <a:spLocks noChangeAspect="1" noGrp="1" noRot="1"/>
          </p:cNvSpPr>
          <p:nvPr>
            <p:ph type="sldImg" idx="2"/>
          </p:nvPr>
        </p:nvSpPr>
        <p:spPr bwMode="auto">
          <a:xfrm>
            <a:off x="0" y="0"/>
            <a:ext cx="6796088" cy="3822700"/>
          </a:xfrm>
        </p:spPr>
      </p:sp>
      <p:sp>
        <p:nvSpPr>
          <p:cNvPr id="870644654" name="Notes Placeholder 3"/>
          <p:cNvSpPr>
            <a:spLocks noGrp="1"/>
          </p:cNvSpPr>
          <p:nvPr>
            <p:ph type="body" sz="quarter" idx="3"/>
          </p:nvPr>
        </p:nvSpPr>
        <p:spPr bwMode="auto"/>
        <p:txBody>
          <a:bodyPr/>
          <a:lstStyle/>
          <a:p>
            <a:pPr>
              <a:defRPr/>
            </a:pPr>
            <a:r>
              <a:rPr sz="1200">
                <a:latin typeface="Arial"/>
              </a:rPr>
              <a:t>[DO] Open FB_StationFill, walk the shrinkage. Then open FB_StationBase and show where each section moved.</a:t>
            </a:r>
            <a:endParaRPr/>
          </a:p>
          <a:p>
            <a:pPr>
              <a:defRPr/>
            </a:pPr>
            <a:r>
              <a:rPr sz="1200">
                <a:latin typeface="Arial"/>
              </a:rPr>
              <a:t>[EARN THE WIN] The drift fixes are the headline win for Stage 2. Walk through them slowly — earn the win before you puncture it.</a:t>
            </a:r>
            <a:endParaRPr/>
          </a:p>
          <a:p>
            <a:pPr>
              <a:defRPr/>
            </a:pPr>
            <a:r>
              <a:rPr sz="1200">
                <a:latin typeface="Arial"/>
              </a:rPr>
              <a:t>[ASK] "What did this refactor cost?" Take answers. First answers will be: nothing visible, lower line count, etc.</a:t>
            </a:r>
            <a:endParaRPr/>
          </a:p>
          <a:p>
            <a:pPr>
              <a:defRPr/>
            </a:pPr>
            <a:r>
              <a:rPr sz="1200">
                <a:latin typeface="Arial"/>
              </a:rPr>
              <a:t>[PUSH TO THE RIGHT ANSWER] "It cost an extra concept. Now you have to understand 'base class' and 'override' and 'THIS vs SUPER' to read this code. That's the real cost. Be honest about it."</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6296856" name="Slide Number Placeholder 1"/>
          <p:cNvSpPr>
            <a:spLocks noGrp="1"/>
          </p:cNvSpPr>
          <p:nvPr>
            <p:ph type="sldNum" sz="quarter" idx="5"/>
          </p:nvPr>
        </p:nvSpPr>
        <p:spPr bwMode="auto"/>
      </p:sp>
      <p:sp>
        <p:nvSpPr>
          <p:cNvPr id="1297843434" name="Slide Image Placeholder 2"/>
          <p:cNvSpPr>
            <a:spLocks noChangeAspect="1" noGrp="1" noRot="1"/>
          </p:cNvSpPr>
          <p:nvPr>
            <p:ph type="sldImg" idx="2"/>
          </p:nvPr>
        </p:nvSpPr>
        <p:spPr bwMode="auto">
          <a:xfrm>
            <a:off x="0" y="0"/>
            <a:ext cx="6796088" cy="3822700"/>
          </a:xfrm>
        </p:spPr>
      </p:sp>
      <p:sp>
        <p:nvSpPr>
          <p:cNvPr id="532835564" name="Notes Placeholder 3"/>
          <p:cNvSpPr>
            <a:spLocks noGrp="1"/>
          </p:cNvSpPr>
          <p:nvPr>
            <p:ph type="body" sz="quarter" idx="3"/>
          </p:nvPr>
        </p:nvSpPr>
        <p:spPr bwMode="auto"/>
        <p:txBody>
          <a:bodyPr/>
          <a:lstStyle/>
          <a:p>
            <a:pPr>
              <a:defRPr/>
            </a:pPr>
            <a:r>
              <a:rPr/>
              <a:t>[ASK] "Where is Monitoring() called? Trace it." Take guesses.</a:t>
            </a:r>
            <a:endParaRPr/>
          </a:p>
          <a:p>
            <a:pPr>
              <a:defRPr/>
            </a:pPr>
            <a:r>
              <a:rPr/>
              <a:t>[ANTICIPATED ANSWERS]</a:t>
            </a:r>
            <a:endParaRPr/>
          </a:p>
          <a:p>
            <a:pPr>
              <a:defRPr/>
            </a:pPr>
            <a:r>
              <a:rPr/>
              <a:t>  - "From the station's body call." → partial; the body call drives the FB but doesn't directly invoke Monitoring().</a:t>
            </a:r>
            <a:endParaRPr/>
          </a:p>
          <a:p>
            <a:pPr>
              <a:defRPr/>
            </a:pPr>
            <a:r>
              <a:rPr/>
              <a:t>  - "From CyclicLogic()." → closer.</a:t>
            </a:r>
            <a:endParaRPr/>
          </a:p>
          <a:p>
            <a:pPr>
              <a:defRPr/>
            </a:pPr>
            <a:r>
              <a:rPr/>
              <a:t>  - "From FB_ComponentBase's framework lifecycle." → correct.</a:t>
            </a:r>
            <a:endParaRPr/>
          </a:p>
          <a:p>
            <a:pPr>
              <a:defRPr/>
            </a:pPr>
            <a:r>
              <a:rPr/>
              <a:t>[DO] Open FB_ComponentBase (SPT) in the library tree. Show that CyclicLogic() — provided by the framework — invokes the virtual hooks in order: Monitoring(), ExecuteSequence(), UpdateHmiStatus().</a:t>
            </a:r>
            <a:endParaRPr/>
          </a:p>
          <a:p>
            <a:pPr>
              <a:defRPr/>
            </a:pPr>
            <a:r>
              <a:rPr/>
              <a:t>[KEY POINT] You don't call Monitoring() yourself. The framework calls it for you, every cycle. That's the Template Method pattern — we'll name it in Block 4.</a:t>
            </a:r>
            <a:endParaRPr/>
          </a:p>
          <a:p>
            <a:pPr>
              <a:defRPr/>
            </a:pPr>
            <a:r>
              <a:rPr/>
              <a:t>[IF ASKED] "What if I don't want Monitoring() to run?" → "Override it and return early. There's no opt-out shorter than that." Plant this — it's the seam CR-2 will exploit and then break.</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7746232" name="Slide Number Placeholder 1"/>
          <p:cNvSpPr>
            <a:spLocks noGrp="1"/>
          </p:cNvSpPr>
          <p:nvPr>
            <p:ph type="sldNum" sz="quarter" idx="5"/>
          </p:nvPr>
        </p:nvSpPr>
        <p:spPr bwMode="auto"/>
      </p:sp>
      <p:sp>
        <p:nvSpPr>
          <p:cNvPr id="38847970" name="Slide Image Placeholder 2"/>
          <p:cNvSpPr>
            <a:spLocks noChangeAspect="1" noGrp="1" noRot="1"/>
          </p:cNvSpPr>
          <p:nvPr>
            <p:ph type="sldImg" idx="2"/>
          </p:nvPr>
        </p:nvSpPr>
        <p:spPr bwMode="auto">
          <a:xfrm>
            <a:off x="0" y="0"/>
            <a:ext cx="6796088" cy="3822700"/>
          </a:xfrm>
        </p:spPr>
      </p:sp>
      <p:sp>
        <p:nvSpPr>
          <p:cNvPr id="128584628" name="Notes Placeholder 3"/>
          <p:cNvSpPr>
            <a:spLocks noGrp="1"/>
          </p:cNvSpPr>
          <p:nvPr>
            <p:ph type="body" sz="quarter" idx="3"/>
          </p:nvPr>
        </p:nvSpPr>
        <p:spPr bwMode="auto"/>
        <p:txBody>
          <a:bodyPr/>
          <a:lstStyle/>
          <a:p>
            <a:pPr>
              <a:defRPr/>
            </a:pPr>
            <a:r>
              <a:rPr sz="1200">
                <a:latin typeface="Arial"/>
              </a:rPr>
              <a:t>[DON'T DISMISS] The customer is correct that inheritance has a learning cost. The honest framing is the trade-off, not the dismissal.</a:t>
            </a:r>
            <a:endParaRPr/>
          </a:p>
          <a:p>
            <a:pPr>
              <a:defRPr/>
            </a:pPr>
            <a:r>
              <a:rPr sz="1200">
                <a:latin typeface="Arial"/>
              </a:rPr>
              <a:t>[VARIANT — common follow-up] "We don't have time to train the team." → "Then Stage 1 is your right answer for now. The workshop's value isn't 'always pick Stage 3.' It's 'know which stage fits your situation.'"</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5919231" name="Slide Number Placeholder 1"/>
          <p:cNvSpPr>
            <a:spLocks noGrp="1"/>
          </p:cNvSpPr>
          <p:nvPr>
            <p:ph type="sldNum" sz="quarter" idx="5"/>
          </p:nvPr>
        </p:nvSpPr>
        <p:spPr bwMode="auto"/>
      </p:sp>
      <p:sp>
        <p:nvSpPr>
          <p:cNvPr id="1686422000" name="Slide Image Placeholder 2"/>
          <p:cNvSpPr>
            <a:spLocks noChangeAspect="1" noGrp="1" noRot="1"/>
          </p:cNvSpPr>
          <p:nvPr>
            <p:ph type="sldImg" idx="2"/>
          </p:nvPr>
        </p:nvSpPr>
        <p:spPr bwMode="auto">
          <a:xfrm>
            <a:off x="0" y="0"/>
            <a:ext cx="6796088" cy="3822700"/>
          </a:xfrm>
        </p:spPr>
      </p:sp>
      <p:sp>
        <p:nvSpPr>
          <p:cNvPr id="1505362522" name="Notes Placeholder 3"/>
          <p:cNvSpPr>
            <a:spLocks noGrp="1"/>
          </p:cNvSpPr>
          <p:nvPr>
            <p:ph type="body" sz="quarter" idx="3"/>
          </p:nvPr>
        </p:nvSpPr>
        <p:spPr bwMode="auto"/>
        <p:txBody>
          <a:bodyPr/>
          <a:lstStyle/>
          <a:p>
            <a:pPr>
              <a:defRPr/>
            </a:pPr>
            <a:r>
              <a:rPr lang="en-US" sz="1200">
                <a:latin typeface="+mn-lt"/>
              </a:rPr>
              <a:t>[DO] Read the requirement. Set 10-minute timer. Walk the room. Most attendees start with Option A — feels more "inheritance-y."</a:t>
            </a:r>
            <a:endParaRPr/>
          </a:p>
          <a:p>
            <a:pPr>
              <a:defRPr/>
            </a:pPr>
            <a:r>
              <a:rPr lang="en-US" sz="1200">
                <a:latin typeface="+mn-lt"/>
              </a:rPr>
              <a:t>[ASK MID-EXERCISE] When attendees are stuck, walk and ask: "How are you handling the exception?" Both options will surface.</a:t>
            </a:r>
            <a:endParaRPr/>
          </a:p>
          <a:p>
            <a:pPr>
              <a:defRPr/>
            </a:pPr>
            <a:r>
              <a:rPr lang="en-US" sz="1200">
                <a:latin typeface="+mn-lt"/>
              </a:rPr>
              <a:t>[SAY OUT LOUD WHEN BOTH SURFACE]</a:t>
            </a:r>
            <a:br>
              <a:rPr lang="en-US" sz="1200">
                <a:latin typeface="+mn-lt"/>
              </a:rPr>
            </a:br>
            <a:r>
              <a:rPr lang="en-US" sz="1200">
                <a:latin typeface="+mn-lt"/>
              </a:rPr>
              <a:t>"Option A — </a:t>
            </a:r>
            <a:r>
              <a:rPr lang="en-US" sz="1200">
                <a:latin typeface="+mn-lt"/>
              </a:rPr>
              <a:t>AllowPause</a:t>
            </a:r>
            <a:r>
              <a:rPr lang="en-US" sz="1200">
                <a:latin typeface="+mn-lt"/>
              </a:rPr>
              <a:t> exists for ONE child's exception, but Cap, Label, Inspect inherit it forever. Pollution. Option B — duplicates base mode logic in Fill. Drift risk. Pick your poison."</a:t>
            </a:r>
            <a:endParaRPr/>
          </a:p>
          <a:p>
            <a:pPr>
              <a:defRPr/>
            </a:pPr>
            <a:r>
              <a:rPr lang="en-US" sz="1200">
                <a:latin typeface="+mn-lt"/>
              </a:rPr>
              <a:t>[REVEAL #2] This is the workshop's second reveal: inheritance trades one cost for another. Stage 1 had per-station pollution; Stage 2 puts the pollution on the base.</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6780121" name="Slide Number Placeholder 1"/>
          <p:cNvSpPr>
            <a:spLocks noGrp="1"/>
          </p:cNvSpPr>
          <p:nvPr>
            <p:ph type="sldNum" sz="quarter" idx="5"/>
          </p:nvPr>
        </p:nvSpPr>
        <p:spPr bwMode="auto"/>
      </p:sp>
      <p:sp>
        <p:nvSpPr>
          <p:cNvPr id="716896055" name="Slide Image Placeholder 2"/>
          <p:cNvSpPr>
            <a:spLocks noChangeAspect="1" noGrp="1" noRot="1"/>
          </p:cNvSpPr>
          <p:nvPr>
            <p:ph type="sldImg" idx="2"/>
          </p:nvPr>
        </p:nvSpPr>
        <p:spPr bwMode="auto">
          <a:xfrm>
            <a:off x="0" y="0"/>
            <a:ext cx="6796088" cy="3822700"/>
          </a:xfrm>
        </p:spPr>
      </p:sp>
      <p:sp>
        <p:nvSpPr>
          <p:cNvPr id="130457589" name="Notes Placeholder 3"/>
          <p:cNvSpPr>
            <a:spLocks noGrp="1"/>
          </p:cNvSpPr>
          <p:nvPr>
            <p:ph type="body" sz="quarter" idx="3"/>
          </p:nvPr>
        </p:nvSpPr>
        <p:spPr bwMode="auto"/>
        <p:txBody>
          <a:bodyPr/>
          <a:lstStyle/>
          <a:p>
            <a:r>
              <a:t>[SHOW] Live diff vs Stage 1 (5 files / +50 / −13) → Stage 2 (3 files / +65 / −48).</a:t>
            </a:r>
          </a:p>
          <a:p>
            <a:r>
              <a:t>[ASK — discussion] "Which is worse — scattered pollution paid by 4 stations, or centralized pollution paid by every reader of the base?"</a:t>
            </a:r>
          </a:p>
          <a:p>
            <a:r>
              <a:t>[POINT] There's no right answer. That's the point. Inheritance didn't eliminate the cost; it relocated it.</a:t>
            </a:r>
          </a:p>
          <a:p>
            <a:r>
              <a:t>[BRIDGE] This sets up CR-2, where the relocation becomes a trap.</a:t>
            </a:r>
          </a:p>
          <a:p>
            <a:r>
              <a:t>[OPTION A — pollution explanation] AllowPause() is included in every derived FB just to accommodate one exception for Fill. Cap, Label, Inspect inherit a flag that exists ONLY because Fill has a mid-cycle exception. Pollution paid by every reader of FB_StationBase, forever.</a:t>
            </a:r>
          </a:p>
          <a:p>
            <a:r>
              <a:t>[OPTION B — drift explanation] Overriding Monitoring() means keeping track of duplicate code in multiple locations. The override has to re-implement mode resolution and alarm-ack from scratch because SUPER can't be called cleanly. Every future base change is now a question of "did we update Fill's override?"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6469368" name="Slide Number Placeholder 1"/>
          <p:cNvSpPr>
            <a:spLocks noGrp="1"/>
          </p:cNvSpPr>
          <p:nvPr>
            <p:ph type="sldNum" sz="quarter" idx="5"/>
          </p:nvPr>
        </p:nvSpPr>
        <p:spPr bwMode="auto"/>
      </p:sp>
      <p:sp>
        <p:nvSpPr>
          <p:cNvPr id="1753094681" name="Slide Image Placeholder 2"/>
          <p:cNvSpPr>
            <a:spLocks noChangeAspect="1" noGrp="1" noRot="1"/>
          </p:cNvSpPr>
          <p:nvPr>
            <p:ph type="sldImg" idx="2"/>
          </p:nvPr>
        </p:nvSpPr>
        <p:spPr bwMode="auto"/>
      </p:sp>
      <p:sp>
        <p:nvSpPr>
          <p:cNvPr id="1285468732" name="Notes Placeholder 3"/>
          <p:cNvSpPr>
            <a:spLocks noGrp="1"/>
          </p:cNvSpPr>
          <p:nvPr>
            <p:ph type="body" sz="quarter" idx="3"/>
          </p:nvPr>
        </p:nvSpPr>
        <p:spPr bwMode="auto"/>
        <p:txBody>
          <a:bodyPr/>
          <a:lstStyle/>
          <a:p>
            <a:pPr>
              <a:defRPr/>
            </a:pPr>
            <a:r>
              <a:rPr sz="1200">
                <a:latin typeface="Arial"/>
              </a:rPr>
              <a:t>[PLAN TO SLOW DOWN] This block is the workshop's hardest moment.</a:t>
            </a:r>
            <a:endParaRPr/>
          </a:p>
          <a:p>
            <a:pPr>
              <a:defRPr/>
            </a:pPr>
            <a:r>
              <a:rPr sz="1200">
                <a:latin typeface="Arial"/>
              </a:rPr>
              <a:t>[DO]</a:t>
            </a:r>
            <a:br>
              <a:rPr sz="1200">
                <a:latin typeface="Arial"/>
              </a:rPr>
            </a:br>
            <a:r>
              <a:rPr sz="1200">
                <a:latin typeface="Arial"/>
              </a:rPr>
              <a:t>1. Read CR-2 again — same requirement as Stage 1.</a:t>
            </a:r>
            <a:br>
              <a:rPr sz="1200">
                <a:latin typeface="Arial"/>
              </a:rPr>
            </a:br>
            <a:r>
              <a:rPr sz="1200">
                <a:latin typeface="Arial"/>
              </a:rPr>
              <a:t>2. Set 15-minute timer. "I'll be available — this one's harder."</a:t>
            </a:r>
            <a:br>
              <a:rPr sz="1200">
                <a:latin typeface="Arial"/>
              </a:rPr>
            </a:br>
            <a:r>
              <a:rPr sz="1200">
                <a:latin typeface="Arial"/>
              </a:rPr>
              <a:t>3. Walk the room.</a:t>
            </a:r>
            <a:endParaRPr/>
          </a:p>
          <a:p>
            <a:pPr>
              <a:defRPr/>
            </a:pPr>
            <a:r>
              <a:rPr sz="1200">
                <a:latin typeface="Arial"/>
              </a:rPr>
              <a:t>[WATCH FOR] Most attendees start by overriding Monitoring and adding their quality-flag logic AFTER calling SUPER^.Monitoring(). This produces broken behavior — the base latches the alarm before their override can flag it as quality.</a:t>
            </a:r>
            <a:endParaRPr/>
          </a:p>
          <a:p>
            <a:pPr>
              <a:defRPr/>
            </a:pPr>
            <a:r>
              <a:rPr sz="1200">
                <a:latin typeface="Arial"/>
              </a:rPr>
              <a:t>[NEXT SLIDE] The leading-questions slide is for when they're stuck. Use it to walk them to the realization.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1539473" name="Slide Number Placeholder 1"/>
          <p:cNvSpPr>
            <a:spLocks noGrp="1"/>
          </p:cNvSpPr>
          <p:nvPr>
            <p:ph type="sldNum" sz="quarter" idx="5"/>
          </p:nvPr>
        </p:nvSpPr>
        <p:spPr bwMode="auto"/>
      </p:sp>
      <p:sp>
        <p:nvSpPr>
          <p:cNvPr id="33774195" name="Slide Image Placeholder 2"/>
          <p:cNvSpPr>
            <a:spLocks noChangeAspect="1" noGrp="1" noRot="1"/>
          </p:cNvSpPr>
          <p:nvPr>
            <p:ph type="sldImg" idx="2"/>
          </p:nvPr>
        </p:nvSpPr>
        <p:spPr bwMode="auto">
          <a:xfrm>
            <a:off x="0" y="0"/>
            <a:ext cx="6796088" cy="3822700"/>
          </a:xfrm>
        </p:spPr>
      </p:sp>
      <p:sp>
        <p:nvSpPr>
          <p:cNvPr id="1215550102" name="Notes Placeholder 3"/>
          <p:cNvSpPr>
            <a:spLocks noGrp="1"/>
          </p:cNvSpPr>
          <p:nvPr>
            <p:ph type="body" sz="quarter" idx="3"/>
          </p:nvPr>
        </p:nvSpPr>
        <p:spPr bwMode="auto"/>
        <p:txBody>
          <a:bodyPr/>
          <a:lstStyle/>
          <a:p>
            <a:pPr>
              <a:defRPr/>
            </a:pPr>
            <a:r>
              <a:rPr/>
              <a:t>[PLAN TO SLOW DOWN] This is the workshop's hardest moment. Budget 25 min, not the printed 20.</a:t>
            </a:r>
            <a:endParaRPr/>
          </a:p>
          <a:p>
            <a:pPr>
              <a:defRPr/>
            </a:pPr>
            <a:r>
              <a:rPr/>
              <a:t>[BEFORE] Read CR-2 aloud again: "Inspect needs a non-faulting alarm AND parallel state-10. Same requirement as Stage 1, applied via inheritance."</a:t>
            </a:r>
            <a:endParaRPr/>
          </a:p>
          <a:p>
            <a:pPr>
              <a:defRPr/>
            </a:pPr>
            <a:r>
              <a:rPr/>
              <a:t>[DO] Set a 15-minute timer. "I'll be available — this one's harder." Walk the room.</a:t>
            </a:r>
            <a:endParaRPr/>
          </a:p>
          <a:p>
            <a:pPr>
              <a:defRPr/>
            </a:pPr>
            <a:r>
              <a:rPr/>
              <a:t>[WATCH FOR] Most attendees start by overriding Monitoring() and adding quality-flag logic AFTER calling SUPER^.Monitoring(). That's broken — the base latches the alarm before the override can intercept.</a:t>
            </a:r>
            <a:endParaRPr/>
          </a:p>
          <a:p>
            <a:pPr>
              <a:defRPr/>
            </a:pPr>
            <a:r>
              <a:rPr/>
              <a:t>[LEADING QUESTIONS — use only when stuck]</a:t>
            </a:r>
            <a:endParaRPr/>
          </a:p>
          <a:p>
            <a:pPr>
              <a:defRPr/>
            </a:pPr>
            <a:r>
              <a:rPr/>
              <a:t>  1. "When does SUPER^.Monitoring() latch the alarm?" → every time RaiseStationAlarm() is called.</a:t>
            </a:r>
            <a:endParaRPr/>
          </a:p>
          <a:p>
            <a:pPr>
              <a:defRPr/>
            </a:pPr>
            <a:r>
              <a:rPr/>
              <a:t>  2. "What does the quality-flag policy say should happen on a defect?" → don't latch.</a:t>
            </a:r>
            <a:endParaRPr/>
          </a:p>
          <a:p>
            <a:pPr>
              <a:defRPr/>
            </a:pPr>
            <a:r>
              <a:rPr/>
              <a:t>  3. "So what does that imply about calling SUPER?" → you can't.</a:t>
            </a:r>
            <a:endParaRPr/>
          </a:p>
          <a:p>
            <a:pPr>
              <a:defRPr/>
            </a:pPr>
            <a:r>
              <a:rPr/>
              <a:t>  4. "If you don't call SUPER, what do you lose?" → mode resolution and alarm-ack from the base — duplicate them in the override.</a:t>
            </a:r>
            <a:endParaRPr/>
          </a:p>
          <a:p>
            <a:pPr>
              <a:defRPr/>
            </a:pPr>
            <a:r>
              <a:rPr/>
              <a:t>[REVEAL] The discovery is on slide 45. DON'T deliver it here — they have to feel the corner first.</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7345245" name="Slide Number Placeholder 1"/>
          <p:cNvSpPr>
            <a:spLocks noGrp="1"/>
          </p:cNvSpPr>
          <p:nvPr>
            <p:ph type="sldNum" sz="quarter" idx="5"/>
          </p:nvPr>
        </p:nvSpPr>
        <p:spPr bwMode="auto"/>
      </p:sp>
      <p:sp>
        <p:nvSpPr>
          <p:cNvPr id="519213809" name="Slide Image Placeholder 2"/>
          <p:cNvSpPr>
            <a:spLocks noChangeAspect="1" noGrp="1" noRot="1"/>
          </p:cNvSpPr>
          <p:nvPr>
            <p:ph type="sldImg" idx="2"/>
          </p:nvPr>
        </p:nvSpPr>
        <p:spPr bwMode="auto">
          <a:xfrm>
            <a:off x="0" y="0"/>
            <a:ext cx="6796088" cy="3822700"/>
          </a:xfrm>
        </p:spPr>
      </p:sp>
      <p:sp>
        <p:nvSpPr>
          <p:cNvPr id="1350233904" name="Notes Placeholder 3"/>
          <p:cNvSpPr>
            <a:spLocks noGrp="1"/>
          </p:cNvSpPr>
          <p:nvPr>
            <p:ph type="body" sz="quarter" idx="3"/>
          </p:nvPr>
        </p:nvSpPr>
        <p:spPr bwMode="auto"/>
        <p:txBody>
          <a:bodyPr/>
          <a:lstStyle/>
          <a:p>
            <a:pPr>
              <a:defRPr/>
            </a:pPr>
            <a:r>
              <a:rPr sz="1200">
                <a:latin typeface="Arial"/>
              </a:rPr>
              <a:t>[DO] Walk the room while attendees are stuck. Use these four leading questions IN ORDER. Let them arrive at the realization themselves.</a:t>
            </a:r>
            <a:endParaRPr/>
          </a:p>
          <a:p>
            <a:pPr>
              <a:defRPr/>
            </a:pPr>
            <a:r>
              <a:rPr sz="1200">
                <a:latin typeface="Arial"/>
              </a:rPr>
              <a:t>[ANTICIPATED ANSWERS]</a:t>
            </a:r>
            <a:br>
              <a:rPr sz="1200">
                <a:latin typeface="Arial"/>
              </a:rPr>
            </a:br>
            <a:r>
              <a:rPr sz="1200">
                <a:latin typeface="Arial"/>
              </a:rPr>
              <a:t>1. "Every time </a:t>
            </a:r>
            <a:r>
              <a:rPr sz="1200">
                <a:latin typeface="Arial"/>
              </a:rPr>
              <a:t>RaiseStationAlarm</a:t>
            </a:r>
            <a:r>
              <a:rPr sz="1200">
                <a:latin typeface="Arial"/>
              </a:rPr>
              <a:t> is called."</a:t>
            </a:r>
            <a:br>
              <a:rPr sz="1200">
                <a:latin typeface="Arial"/>
              </a:rPr>
            </a:br>
            <a:r>
              <a:rPr sz="1200">
                <a:latin typeface="Arial"/>
              </a:rPr>
              <a:t>2. "Don't latch."</a:t>
            </a:r>
            <a:br>
              <a:rPr sz="1200">
                <a:latin typeface="Arial"/>
              </a:rPr>
            </a:br>
            <a:r>
              <a:rPr sz="1200">
                <a:latin typeface="Arial"/>
              </a:rPr>
              <a:t>3. "You can't call SUPER."</a:t>
            </a:r>
            <a:br>
              <a:rPr sz="1200">
                <a:latin typeface="Arial"/>
              </a:rPr>
            </a:br>
            <a:r>
              <a:rPr sz="1200">
                <a:latin typeface="Arial"/>
              </a:rPr>
              <a:t>4. "You have to duplicate them in your override."</a:t>
            </a:r>
            <a:endParaRPr/>
          </a:p>
          <a:p>
            <a:pPr>
              <a:defRPr/>
            </a:pPr>
            <a:r>
              <a:rPr sz="1200">
                <a:latin typeface="Arial"/>
              </a:rPr>
              <a:t>[GATHER ATTENTION AND DELIVER]</a:t>
            </a:r>
            <a:br>
              <a:rPr sz="1200">
                <a:latin typeface="Arial"/>
              </a:rPr>
            </a:br>
            <a:r>
              <a:rPr sz="1200">
                <a:latin typeface="Arial"/>
              </a:rPr>
              <a:t>"There's no way to say 'inherit everything except the alarm policy.' Inheritance is all-or-nothing. Whatever the base does, every child gets — unless the child reimplements that behavior in an override."</a:t>
            </a:r>
            <a:endParaRPr/>
          </a:p>
          <a:p>
            <a:pPr>
              <a:defRPr/>
            </a:pPr>
            <a:r>
              <a:rPr sz="1200">
                <a:latin typeface="Arial"/>
              </a:rPr>
              <a:t>[DO] Show stage-2-broken: "This is what mid-fix looks like in real life — a partially overridden Monitoring with TODO comments." Leave the TODOs visible; they're the visual evidence of the design fight.</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361053" name="Slide Number Placeholder 1"/>
          <p:cNvSpPr>
            <a:spLocks noGrp="1"/>
          </p:cNvSpPr>
          <p:nvPr>
            <p:ph type="sldNum" sz="quarter" idx="5"/>
          </p:nvPr>
        </p:nvSpPr>
        <p:spPr bwMode="auto"/>
      </p:sp>
      <p:sp>
        <p:nvSpPr>
          <p:cNvPr id="824042121" name="Slide Image Placeholder 2"/>
          <p:cNvSpPr>
            <a:spLocks noChangeAspect="1" noGrp="1" noRot="1"/>
          </p:cNvSpPr>
          <p:nvPr>
            <p:ph type="sldImg" idx="2"/>
          </p:nvPr>
        </p:nvSpPr>
        <p:spPr bwMode="auto"/>
      </p:sp>
      <p:sp>
        <p:nvSpPr>
          <p:cNvPr id="2093667988" name="Notes Placeholder 3"/>
          <p:cNvSpPr>
            <a:spLocks noGrp="1"/>
          </p:cNvSpPr>
          <p:nvPr>
            <p:ph type="body" sz="quarter" idx="3"/>
          </p:nvPr>
        </p:nvSpPr>
        <p:spPr bwMode="auto"/>
        <p:txBody>
          <a:bodyPr/>
          <a:lstStyle/>
          <a:p>
            <a:pPr>
              <a:defRPr/>
            </a:pPr>
            <a:r>
              <a:rPr sz="1200">
                <a:latin typeface="Arial"/>
              </a:rPr>
              <a:t>[DO] Show the diff. Highlight the ~80-line override on the projector if you have time.</a:t>
            </a:r>
            <a:endParaRPr/>
          </a:p>
          <a:p>
            <a:pPr>
              <a:defRPr/>
            </a:pPr>
            <a:r>
              <a:rPr sz="1200">
                <a:latin typeface="Arial"/>
              </a:rPr>
              <a:t>[SAY] "The visible cost is the line count. The invisible cost is the future-change burden every time the base evolves."</a:t>
            </a:r>
            <a:endParaRPr/>
          </a:p>
          <a:p>
            <a:pPr>
              <a:defRPr/>
            </a:pPr>
            <a:r>
              <a:rPr sz="1200">
                <a:latin typeface="Arial"/>
              </a:rPr>
              <a:t>[COMPARE] Stage 1 CR-2 was 92 lines of inline rewrite. Stage 2 CR-2 is 121 lines of override fight. The architecture made it WORSE on lines, not better.</a:t>
            </a:r>
            <a:endParaRPr/>
          </a:p>
          <a:p>
            <a:pPr>
              <a:defRPr/>
            </a:pPr>
            <a:r>
              <a:rPr sz="1200">
                <a:latin typeface="Arial"/>
              </a:rPr>
              <a:t>[NEXT SLIDE] The most important pushback in the workshop. Don't skip it.</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037248" name="Slide Number Placeholder 1"/>
          <p:cNvSpPr>
            <a:spLocks noGrp="1"/>
          </p:cNvSpPr>
          <p:nvPr>
            <p:ph type="sldNum" sz="quarter" idx="5"/>
          </p:nvPr>
        </p:nvSpPr>
        <p:spPr bwMode="auto"/>
      </p:sp>
      <p:sp>
        <p:nvSpPr>
          <p:cNvPr id="1410117550" name="Slide Image Placeholder 2"/>
          <p:cNvSpPr>
            <a:spLocks noChangeAspect="1" noGrp="1" noRot="1"/>
          </p:cNvSpPr>
          <p:nvPr>
            <p:ph type="sldImg" idx="2"/>
          </p:nvPr>
        </p:nvSpPr>
        <p:spPr bwMode="auto">
          <a:xfrm>
            <a:off x="0" y="0"/>
            <a:ext cx="6796088" cy="3822700"/>
          </a:xfrm>
        </p:spPr>
      </p:sp>
      <p:sp>
        <p:nvSpPr>
          <p:cNvPr id="906778058" name="Notes Placeholder 3"/>
          <p:cNvSpPr>
            <a:spLocks noGrp="1"/>
          </p:cNvSpPr>
          <p:nvPr>
            <p:ph type="body" sz="quarter" idx="3"/>
          </p:nvPr>
        </p:nvSpPr>
        <p:spPr bwMode="auto"/>
        <p:txBody>
          <a:bodyPr/>
          <a:lstStyle/>
          <a:p>
            <a:pPr>
              <a:defRPr/>
            </a:pPr>
            <a:r>
              <a:rPr sz="1200">
                <a:latin typeface="Arial"/>
              </a:rPr>
              <a:t>[REVEAL #3] Workshop's third reveal. Climax of Block 2.</a:t>
            </a:r>
            <a:endParaRPr/>
          </a:p>
          <a:p>
            <a:pPr>
              <a:defRPr/>
            </a:pPr>
            <a:r>
              <a:rPr sz="1200">
                <a:latin typeface="Arial"/>
              </a:rPr>
              <a:t>[DO] Read the quote slowly. Wait. Let it land. The room should be uncomfortable — that's the lesson working.</a:t>
            </a:r>
            <a:endParaRPr/>
          </a:p>
          <a:p>
            <a:pPr>
              <a:defRPr/>
            </a:pPr>
            <a:r>
              <a:rPr sz="1200">
                <a:latin typeface="Arial"/>
              </a:rPr>
              <a:t>[DO NOT FILL THE SILENCE] Senior controls engineers in the room are recognizing this pattern from their own codebases right now.</a:t>
            </a:r>
            <a:endParaRPr/>
          </a:p>
          <a:p>
            <a:pPr>
              <a:defRPr/>
            </a:pPr>
            <a:r>
              <a:rPr sz="1200">
                <a:latin typeface="Arial"/>
              </a:rPr>
              <a:t>[CALLBACK SETUP] Mark this in your head: in Block 3 we'll call back to this exact moment when the CR-2 swap is one line.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1787237" name="Slide Number Placeholder 1"/>
          <p:cNvSpPr>
            <a:spLocks noGrp="1"/>
          </p:cNvSpPr>
          <p:nvPr>
            <p:ph type="sldNum" sz="quarter" idx="5"/>
          </p:nvPr>
        </p:nvSpPr>
        <p:spPr bwMode="auto"/>
      </p:sp>
      <p:sp>
        <p:nvSpPr>
          <p:cNvPr id="84300334" name="Slide Image Placeholder 2"/>
          <p:cNvSpPr>
            <a:spLocks noChangeAspect="1" noGrp="1" noRot="1"/>
          </p:cNvSpPr>
          <p:nvPr>
            <p:ph type="sldImg" idx="2"/>
          </p:nvPr>
        </p:nvSpPr>
        <p:spPr bwMode="auto">
          <a:xfrm>
            <a:off x="0" y="0"/>
            <a:ext cx="6796088" cy="3822700"/>
          </a:xfrm>
        </p:spPr>
      </p:sp>
      <p:sp>
        <p:nvSpPr>
          <p:cNvPr id="1023829341" name="Notes Placeholder 3"/>
          <p:cNvSpPr>
            <a:spLocks noGrp="1"/>
          </p:cNvSpPr>
          <p:nvPr>
            <p:ph type="body" sz="quarter" idx="3"/>
          </p:nvPr>
        </p:nvSpPr>
        <p:spPr bwMode="auto"/>
        <p:txBody>
          <a:bodyPr/>
          <a:lstStyle/>
          <a:p>
            <a:pPr>
              <a:defRPr/>
            </a:pPr>
            <a:r>
              <a:rPr sz="1200">
                <a:latin typeface="Arial"/>
              </a:rPr>
              <a:t>[MOST IMPORTANT PUSHBACK] If only one customer-conversation Q&amp;A sticks, this is the one you want.</a:t>
            </a:r>
            <a:endParaRPr/>
          </a:p>
          <a:p>
            <a:pPr>
              <a:defRPr/>
            </a:pPr>
            <a:r>
              <a:rPr sz="1200">
                <a:latin typeface="Arial"/>
              </a:rPr>
              <a:t>[KEY LINE] "Discipline is bounded; architecture is unbounded." The workshop's central thesis in seven words. Mark it. Repeat it in Block 3 and Block 4. Make it the line attendees go home quoting.</a:t>
            </a:r>
            <a:endParaRPr/>
          </a:p>
          <a:p>
            <a:pPr>
              <a:defRPr/>
            </a:pPr>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3261094" name="Slide Number Placeholder 1"/>
          <p:cNvSpPr>
            <a:spLocks noGrp="1"/>
          </p:cNvSpPr>
          <p:nvPr>
            <p:ph type="sldNum" sz="quarter" idx="5"/>
          </p:nvPr>
        </p:nvSpPr>
        <p:spPr bwMode="auto"/>
      </p:sp>
      <p:sp>
        <p:nvSpPr>
          <p:cNvPr id="817138123" name="Slide Image Placeholder 2"/>
          <p:cNvSpPr>
            <a:spLocks noChangeAspect="1" noGrp="1" noRot="1"/>
          </p:cNvSpPr>
          <p:nvPr>
            <p:ph type="sldImg" idx="2"/>
          </p:nvPr>
        </p:nvSpPr>
        <p:spPr bwMode="auto">
          <a:xfrm>
            <a:off x="0" y="0"/>
            <a:ext cx="6796088" cy="3822700"/>
          </a:xfrm>
        </p:spPr>
      </p:sp>
      <p:sp>
        <p:nvSpPr>
          <p:cNvPr id="493158307" name="Notes Placeholder 3"/>
          <p:cNvSpPr>
            <a:spLocks noGrp="1"/>
          </p:cNvSpPr>
          <p:nvPr>
            <p:ph type="body" sz="quarter" idx="3"/>
          </p:nvPr>
        </p:nvSpPr>
        <p:spPr bwMode="auto"/>
        <p:txBody>
          <a:bodyPr/>
          <a:lstStyle/>
          <a:p>
            <a:pPr>
              <a:defRPr/>
            </a:pPr>
            <a:r>
              <a:rPr/>
              <a:t>[BEFORE] `git switch cr3-applied` on the presenter. FB_StationBase open; Fill and Inspect in adjacent tabs.</a:t>
            </a:r>
            <a:endParaRPr/>
          </a:p>
          <a:p>
            <a:pPr>
              <a:defRPr/>
            </a:pPr>
            <a:r>
              <a:rPr/>
              <a:t>[SAY] "Selective logging — only Fill and Inspect need it. Cap and Label don't. The inheritance path: storage on the base, virtual LoggingEnabled flag, override to TRUE in Fill and Inspect."</a:t>
            </a:r>
            <a:endParaRPr/>
          </a:p>
          <a:p>
            <a:pPr>
              <a:defRPr/>
            </a:pPr>
            <a:r>
              <a:rPr/>
              <a:t>[TIME] 5 minutes of reading, not writing. They're comparing branches.</a:t>
            </a:r>
            <a:endParaRPr/>
          </a:p>
          <a:p>
            <a:pPr>
              <a:defRPr/>
            </a:pPr>
            <a:r>
              <a:rPr/>
              <a:t>[ASK — the discussion prompt] "Where does Cap's LogBuffer storage live in memory?" → in every Cap and Label instance, even though they never write to it. "Is that a problem?" → in 4 stations, no. In a 50-station factory, the memory cost shows up — but the BIGGER cost is cognitive: every reader of FB_StationBase has to figure out why LogBuffer exists when half the children don't use it.</a:t>
            </a:r>
            <a:endParaRPr/>
          </a:p>
          <a:p>
            <a:pPr>
              <a:defRPr/>
            </a:pPr>
            <a:r>
              <a:rPr/>
              <a:t>[PACING] If behind, cut this to a 60-second instructor walkthrough — no hands-on. CR-2 was the lesson; CR-3 is reinforcement.</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7243217" name="Slide Number Placeholder 1"/>
          <p:cNvSpPr>
            <a:spLocks noGrp="1"/>
          </p:cNvSpPr>
          <p:nvPr>
            <p:ph type="sldNum" sz="quarter" idx="5"/>
          </p:nvPr>
        </p:nvSpPr>
        <p:spPr bwMode="auto"/>
      </p:sp>
      <p:sp>
        <p:nvSpPr>
          <p:cNvPr id="1026298985" name="Slide Image Placeholder 2"/>
          <p:cNvSpPr>
            <a:spLocks noChangeAspect="1" noGrp="1" noRot="1"/>
          </p:cNvSpPr>
          <p:nvPr>
            <p:ph type="sldImg" idx="2"/>
          </p:nvPr>
        </p:nvSpPr>
        <p:spPr bwMode="auto"/>
      </p:sp>
      <p:sp>
        <p:nvSpPr>
          <p:cNvPr id="1632064515" name="Notes Placeholder 3"/>
          <p:cNvSpPr>
            <a:spLocks noGrp="1"/>
          </p:cNvSpPr>
          <p:nvPr>
            <p:ph type="body" sz="quarter" idx="3"/>
          </p:nvPr>
        </p:nvSpPr>
        <p:spPr bwMode="auto"/>
        <p:txBody>
          <a:bodyPr/>
          <a:lstStyle/>
          <a:p>
            <a:pPr>
              <a:defRPr/>
            </a:pPr>
            <a:r>
              <a:rPr sz="1200">
                <a:latin typeface="Arial"/>
              </a:rPr>
              <a:t>[DO] Read the requirement. 5-minute timer. The attempt: </a:t>
            </a:r>
            <a:r>
              <a:rPr sz="1200">
                <a:latin typeface="Arial"/>
              </a:rPr>
              <a:t>LogBuffer</a:t>
            </a:r>
            <a:r>
              <a:rPr sz="1200">
                <a:latin typeface="Arial"/>
              </a:rPr>
              <a:t> + </a:t>
            </a:r>
            <a:r>
              <a:rPr sz="1200">
                <a:latin typeface="Arial"/>
              </a:rPr>
              <a:t>LoggingEnabled</a:t>
            </a:r>
            <a:r>
              <a:rPr sz="1200">
                <a:latin typeface="Arial"/>
              </a:rPr>
              <a:t> virtual on the base; Fill and Inspect override to TRUE.</a:t>
            </a:r>
            <a:endParaRPr/>
          </a:p>
          <a:p>
            <a:pPr>
              <a:defRPr/>
            </a:pPr>
            <a:r>
              <a:rPr sz="1200">
                <a:latin typeface="Arial"/>
              </a:rPr>
              <a:t>[ASK] "Where does Cap's </a:t>
            </a:r>
            <a:r>
              <a:rPr sz="1200">
                <a:latin typeface="Arial"/>
              </a:rPr>
              <a:t>LogBuffer</a:t>
            </a:r>
            <a:r>
              <a:rPr sz="1200">
                <a:latin typeface="Arial"/>
              </a:rPr>
              <a:t> storage live in memory?" → in every Cap and Label instance, even though they never write to it. "Is that a problem?" → in 4 stations, no. In a 50-station factory, yes.</a:t>
            </a:r>
            <a:endParaRPr/>
          </a:p>
          <a:p>
            <a:pPr>
              <a:defRPr/>
            </a:pPr>
            <a:r>
              <a:rPr sz="1200">
                <a:latin typeface="Arial"/>
              </a:rPr>
              <a:t>[PUSHBACK if asked] "100 strings × 120 chars × 2 unused stations = 24KB. Why are we obsessing about this?" → "You're right — for this scale, the memory cost is academic. The bigger problem is COGNITIVE. Every reader of </a:t>
            </a:r>
            <a:r>
              <a:rPr sz="1200">
                <a:latin typeface="Arial"/>
              </a:rPr>
              <a:t>FB_StationBase</a:t>
            </a:r>
            <a:r>
              <a:rPr sz="1200">
                <a:latin typeface="Arial"/>
              </a:rPr>
              <a:t> has to understand why </a:t>
            </a:r>
            <a:r>
              <a:rPr sz="1200">
                <a:latin typeface="Arial"/>
              </a:rPr>
              <a:t>LogBuffer</a:t>
            </a:r>
            <a:r>
              <a:rPr sz="1200">
                <a:latin typeface="Arial"/>
              </a:rPr>
              <a:t> exists when half the children don't use it. As your codebase grows, that noise compounds."</a:t>
            </a:r>
            <a:endParaRPr/>
          </a:p>
          <a:p>
            <a:pPr>
              <a:defRPr/>
            </a:pPr>
            <a:r>
              <a:rPr sz="1200">
                <a:latin typeface="Arial"/>
              </a:rPr>
              <a:t>[PACING] If behind, cut this hands-on entirely (just show the diff). The CR-2 breakdown is the lesson; CR-3 is supplementary.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8835218" name="Slide Number Placeholder 1"/>
          <p:cNvSpPr>
            <a:spLocks noGrp="1"/>
          </p:cNvSpPr>
          <p:nvPr>
            <p:ph type="sldNum" sz="quarter" idx="5"/>
          </p:nvPr>
        </p:nvSpPr>
        <p:spPr bwMode="auto"/>
      </p:sp>
      <p:sp>
        <p:nvSpPr>
          <p:cNvPr id="942920677" name="Slide Image Placeholder 2"/>
          <p:cNvSpPr>
            <a:spLocks noChangeAspect="1" noGrp="1" noRot="1"/>
          </p:cNvSpPr>
          <p:nvPr>
            <p:ph type="sldImg" idx="2"/>
          </p:nvPr>
        </p:nvSpPr>
        <p:spPr bwMode="auto">
          <a:xfrm>
            <a:off x="0" y="0"/>
            <a:ext cx="6796088" cy="3822700"/>
          </a:xfrm>
        </p:spPr>
      </p:sp>
      <p:sp>
        <p:nvSpPr>
          <p:cNvPr id="528016633" name="Notes Placeholder 3"/>
          <p:cNvSpPr>
            <a:spLocks noGrp="1"/>
          </p:cNvSpPr>
          <p:nvPr>
            <p:ph type="body" sz="quarter" idx="3"/>
          </p:nvPr>
        </p:nvSpPr>
        <p:spPr bwMode="auto"/>
        <p:txBody>
          <a:bodyPr/>
          <a:lstStyle/>
          <a:p>
            <a:pPr>
              <a:defRPr/>
            </a:pPr>
            <a:r>
              <a:rPr sz="1200">
                <a:latin typeface="Arial"/>
              </a:rPr>
              <a:t>[DO] Switch presenter to stage-2-complete. Show the diff stat live. Walk the FB_StationBase tab — point to each new accumulation: ModePause field, AllowPause virtual, LogBuffer, LoggingEnabled virtual, LogCycleData helper.</a:t>
            </a:r>
            <a:endParaRPr/>
          </a:p>
          <a:p>
            <a:pPr>
              <a:defRPr/>
            </a:pPr>
            <a:r>
              <a:rPr sz="1200">
                <a:latin typeface="Arial"/>
              </a:rPr>
              <a:t>[SAY] "It started clean. Now it's a junk drawer. Every CR added another carve-out the base wasn't designed for."</a:t>
            </a:r>
            <a:endParaRPr/>
          </a:p>
          <a:p>
            <a:pPr>
              <a:defRPr/>
            </a:pPr>
            <a:r>
              <a:rPr sz="1200">
                <a:latin typeface="Arial"/>
              </a:rPr>
              <a:t>[ASK] "Stage 2 fixed real Stage 1 problems. What new problems did it create?"</a:t>
            </a:r>
            <a:endParaRPr/>
          </a:p>
          <a:p>
            <a:pPr>
              <a:defRPr/>
            </a:pPr>
            <a:r>
              <a:rPr sz="1200">
                <a:latin typeface="Arial"/>
              </a:rPr>
              <a:t>[ANTICIPATED ANSWERS — capture on whiteboard]</a:t>
            </a:r>
            <a:br>
              <a:rPr sz="1200">
                <a:latin typeface="Arial"/>
              </a:rPr>
            </a:br>
            <a:r>
              <a:rPr sz="1200">
                <a:latin typeface="Arial"/>
              </a:rPr>
              <a:t>- "Base-class pollution."</a:t>
            </a:r>
            <a:br>
              <a:rPr sz="1200">
                <a:latin typeface="Arial"/>
              </a:rPr>
            </a:br>
            <a:r>
              <a:rPr sz="1200">
                <a:latin typeface="Arial"/>
              </a:rPr>
              <a:t>- "SUPER-can't-be-called fragility."</a:t>
            </a:r>
            <a:br>
              <a:rPr sz="1200">
                <a:latin typeface="Arial"/>
              </a:rPr>
            </a:br>
            <a:r>
              <a:rPr sz="1200">
                <a:latin typeface="Arial"/>
              </a:rPr>
              <a:t>- "Dead weight in unrelated children."</a:t>
            </a:r>
            <a:endParaRPr/>
          </a:p>
          <a:p>
            <a:pPr>
              <a:defRPr/>
            </a:pPr>
            <a:r>
              <a:rPr sz="1200">
                <a:latin typeface="Arial"/>
              </a:rPr>
              <a:t>[BRIDGE] "Stage 3 will keep what's good — clean abstractions, consistency enforcement — and fix what's wrong. Let's go."</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0257147" name="Slide Number Placeholder 1"/>
          <p:cNvSpPr>
            <a:spLocks noGrp="1"/>
          </p:cNvSpPr>
          <p:nvPr>
            <p:ph type="sldNum" sz="quarter" idx="5"/>
          </p:nvPr>
        </p:nvSpPr>
        <p:spPr bwMode="auto"/>
      </p:sp>
      <p:sp>
        <p:nvSpPr>
          <p:cNvPr id="960715337" name="Slide Image Placeholder 2"/>
          <p:cNvSpPr>
            <a:spLocks noChangeAspect="1" noGrp="1" noRot="1"/>
          </p:cNvSpPr>
          <p:nvPr>
            <p:ph type="sldImg" idx="2"/>
          </p:nvPr>
        </p:nvSpPr>
        <p:spPr bwMode="auto"/>
      </p:sp>
      <p:sp>
        <p:nvSpPr>
          <p:cNvPr id="821734287" name="Notes Placeholder 3"/>
          <p:cNvSpPr>
            <a:spLocks noGrp="1"/>
          </p:cNvSpPr>
          <p:nvPr>
            <p:ph type="body" sz="quarter" idx="3"/>
          </p:nvPr>
        </p:nvSpPr>
        <p:spPr bwMode="auto"/>
        <p:txBody>
          <a:bodyPr/>
          <a:lstStyle/>
          <a:p>
            <a:pPr>
              <a:defRPr/>
            </a:pPr>
            <a:r>
              <a:rPr sz="1200">
                <a:latin typeface="Arial"/>
              </a:rPr>
              <a:t>[USE THE BREAK] Pull `stage-3-composition` on the presenter machine. Open the file tree, then I_AlarmHandler.TcPOU and FB_AlarmHandler_LineFault.TcPOU side by side.</a:t>
            </a:r>
            <a:endParaRPr/>
          </a:p>
          <a:p>
            <a:pPr>
              <a:defRPr/>
            </a:pPr>
            <a:r>
              <a:rPr sz="1200">
                <a:latin typeface="Arial"/>
              </a:rPr>
              <a:t>[SECOND LAPTOP] If you have one: open MAIN.TcPOU on it. The MAIN swap demo in Block 3 is the workshop's emotional climax — preparing it now saves a switching delay later.</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949958" name="Slide Number Placeholder 1"/>
          <p:cNvSpPr>
            <a:spLocks noGrp="1"/>
          </p:cNvSpPr>
          <p:nvPr>
            <p:ph type="sldNum" sz="quarter" idx="5"/>
          </p:nvPr>
        </p:nvSpPr>
        <p:spPr bwMode="auto"/>
      </p:sp>
      <p:sp>
        <p:nvSpPr>
          <p:cNvPr id="915629037" name="Slide Image Placeholder 2"/>
          <p:cNvSpPr>
            <a:spLocks noChangeAspect="1" noGrp="1" noRot="1"/>
          </p:cNvSpPr>
          <p:nvPr>
            <p:ph type="sldImg" idx="2"/>
          </p:nvPr>
        </p:nvSpPr>
        <p:spPr bwMode="auto"/>
      </p:sp>
      <p:sp>
        <p:nvSpPr>
          <p:cNvPr id="1002028155" name="Notes Placeholder 3"/>
          <p:cNvSpPr>
            <a:spLocks noGrp="1"/>
          </p:cNvSpPr>
          <p:nvPr>
            <p:ph type="body" sz="quarter" idx="3"/>
          </p:nvPr>
        </p:nvSpPr>
        <p:spPr bwMode="auto"/>
        <p:txBody>
          <a:bodyPr/>
          <a:lstStyle/>
          <a:p>
            <a:pPr>
              <a:defRPr/>
            </a:pPr>
            <a:r>
              <a:rPr sz="1200">
                <a:latin typeface="Arial"/>
              </a:rPr>
              <a:t>[BEFORE] Presenter on `stage-3-composition`. File tree visible — 18 files in three directories.</a:t>
            </a:r>
            <a:endParaRPr/>
          </a:p>
          <a:p>
            <a:pPr>
              <a:defRPr/>
            </a:pPr>
            <a:r>
              <a:rPr sz="1200">
                <a:latin typeface="Arial"/>
              </a:rPr>
              <a:t>[FRAMING] This block is the EMOTIONAL PAYOFF of the workshop. Pace it so the room has time to FEEL the win, not just observe it. Don't rush past CR-2.</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00767" name="Slide Number Placeholder 1"/>
          <p:cNvSpPr>
            <a:spLocks noGrp="1"/>
          </p:cNvSpPr>
          <p:nvPr>
            <p:ph type="sldNum" sz="quarter" idx="5"/>
          </p:nvPr>
        </p:nvSpPr>
        <p:spPr bwMode="auto"/>
      </p:sp>
      <p:sp>
        <p:nvSpPr>
          <p:cNvPr id="2052790712" name="Slide Image Placeholder 2"/>
          <p:cNvSpPr>
            <a:spLocks noChangeAspect="1" noGrp="1" noRot="1"/>
          </p:cNvSpPr>
          <p:nvPr>
            <p:ph type="sldImg" idx="2"/>
          </p:nvPr>
        </p:nvSpPr>
        <p:spPr bwMode="auto"/>
      </p:sp>
      <p:sp>
        <p:nvSpPr>
          <p:cNvPr id="1728075228" name="Notes Placeholder 3"/>
          <p:cNvSpPr>
            <a:spLocks noGrp="1"/>
          </p:cNvSpPr>
          <p:nvPr>
            <p:ph type="body" sz="quarter" idx="3"/>
          </p:nvPr>
        </p:nvSpPr>
        <p:spPr bwMode="auto"/>
        <p:txBody>
          <a:bodyPr/>
          <a:lstStyle/>
          <a:p>
            <a:pPr>
              <a:defRPr/>
            </a:pPr>
            <a:r>
              <a:rPr sz="1200">
                <a:latin typeface="Arial"/>
              </a:rPr>
              <a:t>[DON'T LECTURE] Read the bullets, gesture at the file tree, move on.</a:t>
            </a:r>
            <a:endParaRPr/>
          </a:p>
          <a:p>
            <a:pPr>
              <a:defRPr/>
            </a:pPr>
            <a:r>
              <a:rPr sz="1200">
                <a:latin typeface="Arial"/>
              </a:rPr>
              <a:t>[SEED] "Variation by injection." That's the seed of CR-2's swap demo. Plant it now — they'll see it in 30 minutes.</a:t>
            </a:r>
            <a:endParaRPr/>
          </a:p>
          <a:p>
            <a:pPr>
              <a:defRPr/>
            </a:pPr>
            <a:r>
              <a:rPr sz="1200">
                <a:latin typeface="Arial"/>
              </a:rPr>
              <a:t>[FRAMEWORK] Beckhoff USA's Core / CoreComponents libraries. I_Cyclic, I_Diagnostic component pattern. Production code.</a:t>
            </a:r>
            <a:endParaRPr/>
          </a:p>
          <a:p>
            <a:pPr>
              <a:defRPr/>
            </a:pPr>
            <a:r>
              <a:rPr sz="1200">
                <a:latin typeface="Arial"/>
              </a:rPr>
              <a:t>[IF ASKED] "Is this just dependency injection?" → "Yes. DI is one of the patterns. We'll name them all in Block 4."</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1888213" name="Slide Number Placeholder 1"/>
          <p:cNvSpPr>
            <a:spLocks noGrp="1"/>
          </p:cNvSpPr>
          <p:nvPr>
            <p:ph type="sldNum" sz="quarter" idx="5"/>
          </p:nvPr>
        </p:nvSpPr>
        <p:spPr bwMode="auto"/>
      </p:sp>
      <p:sp>
        <p:nvSpPr>
          <p:cNvPr id="45842499" name="Slide Image Placeholder 2"/>
          <p:cNvSpPr>
            <a:spLocks noChangeAspect="1" noGrp="1" noRot="1"/>
          </p:cNvSpPr>
          <p:nvPr>
            <p:ph type="sldImg" idx="2"/>
          </p:nvPr>
        </p:nvSpPr>
        <p:spPr bwMode="auto"/>
      </p:sp>
      <p:sp>
        <p:nvSpPr>
          <p:cNvPr id="2129418055" name="Notes Placeholder 3"/>
          <p:cNvSpPr>
            <a:spLocks noGrp="1"/>
          </p:cNvSpPr>
          <p:nvPr>
            <p:ph type="body" sz="quarter" idx="3"/>
          </p:nvPr>
        </p:nvSpPr>
        <p:spPr bwMode="auto"/>
        <p:txBody>
          <a:bodyPr/>
          <a:lstStyle/>
          <a:p>
            <a:pPr>
              <a:defRPr/>
            </a:pPr>
            <a:r>
              <a:rPr sz="1200">
                <a:latin typeface="Arial"/>
              </a:rPr>
              <a:t>[DO] Open the file tree. Walk top to bottom.</a:t>
            </a:r>
            <a:endParaRPr/>
          </a:p>
          <a:p>
            <a:pPr>
              <a:defRPr/>
            </a:pPr>
            <a:r>
              <a:rPr sz="1200">
                <a:latin typeface="Arial"/>
              </a:rPr>
              <a:t>[PRE-EMPT] "This is more files than Stage 1 had." Acknowledge it explicitly.</a:t>
            </a:r>
            <a:endParaRPr/>
          </a:p>
          <a:p>
            <a:pPr>
              <a:defRPr/>
            </a:pPr>
            <a:r>
              <a:rPr sz="1200">
                <a:latin typeface="Arial"/>
              </a:rPr>
              <a:t>[SAY] "Hold that judgment for one slide. The architecture's payback comes in the next 40 minutes. Don't defend it now; let CR-2 defend it."</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4110625" name="Slide Number Placeholder 1"/>
          <p:cNvSpPr>
            <a:spLocks noGrp="1"/>
          </p:cNvSpPr>
          <p:nvPr>
            <p:ph type="sldNum" sz="quarter" idx="5"/>
          </p:nvPr>
        </p:nvSpPr>
        <p:spPr bwMode="auto"/>
      </p:sp>
      <p:sp>
        <p:nvSpPr>
          <p:cNvPr id="1028874660" name="Slide Image Placeholder 2"/>
          <p:cNvSpPr>
            <a:spLocks noChangeAspect="1" noGrp="1" noRot="1"/>
          </p:cNvSpPr>
          <p:nvPr>
            <p:ph type="sldImg" idx="2"/>
          </p:nvPr>
        </p:nvSpPr>
        <p:spPr bwMode="auto"/>
      </p:sp>
      <p:sp>
        <p:nvSpPr>
          <p:cNvPr id="1081299484" name="Notes Placeholder 3"/>
          <p:cNvSpPr>
            <a:spLocks noGrp="1"/>
          </p:cNvSpPr>
          <p:nvPr>
            <p:ph type="body" sz="quarter" idx="3"/>
          </p:nvPr>
        </p:nvSpPr>
        <p:spPr bwMode="auto"/>
        <p:txBody>
          <a:bodyPr/>
          <a:lstStyle/>
          <a:p>
            <a:pPr>
              <a:defRPr/>
            </a:pPr>
            <a:r>
              <a:rPr sz="1200">
                <a:latin typeface="Arial"/>
              </a:rPr>
              <a:t>[DO] Open I_AlarmHandler.TcPOU on the projector. Walk the four members.</a:t>
            </a:r>
            <a:endParaRPr/>
          </a:p>
          <a:p>
            <a:pPr>
              <a:defRPr/>
            </a:pPr>
            <a:r>
              <a:rPr sz="1200">
                <a:latin typeface="Arial"/>
              </a:rPr>
              <a:t>[KEY LINE] "Stations depend on I_AlarmHandler — they never know which implementation they have. That's the seam where CR-2's swap will happen."</a:t>
            </a:r>
            <a:endParaRPr/>
          </a:p>
          <a:p>
            <a:pPr>
              <a:defRPr/>
            </a:pPr>
            <a:r>
              <a:rPr sz="1200">
                <a:latin typeface="Arial"/>
              </a:rPr>
              <a:t>[FORESHADOW] Don't explain the swap yet. Just plant the seam. Reveal in 25 minutes.</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346122" name="Slide Number Placeholder 1"/>
          <p:cNvSpPr>
            <a:spLocks noGrp="1"/>
          </p:cNvSpPr>
          <p:nvPr>
            <p:ph type="sldNum" sz="quarter" idx="5"/>
          </p:nvPr>
        </p:nvSpPr>
        <p:spPr bwMode="auto"/>
      </p:sp>
      <p:sp>
        <p:nvSpPr>
          <p:cNvPr id="1901789951" name="Slide Image Placeholder 2"/>
          <p:cNvSpPr>
            <a:spLocks noChangeAspect="1" noGrp="1" noRot="1"/>
          </p:cNvSpPr>
          <p:nvPr>
            <p:ph type="sldImg" idx="2"/>
          </p:nvPr>
        </p:nvSpPr>
        <p:spPr bwMode="auto"/>
      </p:sp>
      <p:sp>
        <p:nvSpPr>
          <p:cNvPr id="804209359" name="Notes Placeholder 3"/>
          <p:cNvSpPr>
            <a:spLocks noGrp="1"/>
          </p:cNvSpPr>
          <p:nvPr>
            <p:ph type="body" sz="quarter" idx="3"/>
          </p:nvPr>
        </p:nvSpPr>
        <p:spPr bwMode="auto"/>
        <p:txBody>
          <a:bodyPr/>
          <a:lstStyle/>
          <a:p>
            <a:pPr>
              <a:defRPr/>
            </a:pPr>
            <a:r>
              <a:rPr sz="1200">
                <a:latin typeface="Arial"/>
              </a:rPr>
              <a:t>[DO] Open both files side by side on the projector. Walk the symmetry.</a:t>
            </a:r>
            <a:endParaRPr/>
          </a:p>
          <a:p>
            <a:pPr>
              <a:defRPr/>
            </a:pPr>
            <a:r>
              <a:rPr sz="1200">
                <a:latin typeface="Arial"/>
              </a:rPr>
              <a:t>[KEY LINE] "Same contract, opposite behavior. The station code can't tell them apart. The behavior change happens in MAIN, not in the station."</a:t>
            </a:r>
            <a:endParaRPr/>
          </a:p>
          <a:p>
            <a:pPr>
              <a:defRPr/>
            </a:pPr>
            <a:r>
              <a:rPr sz="1200">
                <a:latin typeface="Arial"/>
              </a:rPr>
              <a:t>[FORESHADOW] "In 25 minutes, CR-2 is going to ask 'change Inspect's alarm policy.' We'll do it by changing one line in MAIN."</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697998" name="Slide Number Placeholder 1"/>
          <p:cNvSpPr>
            <a:spLocks noGrp="1"/>
          </p:cNvSpPr>
          <p:nvPr>
            <p:ph type="sldNum" sz="quarter" idx="5"/>
          </p:nvPr>
        </p:nvSpPr>
        <p:spPr bwMode="auto"/>
      </p:sp>
      <p:sp>
        <p:nvSpPr>
          <p:cNvPr id="1205502616" name="Slide Image Placeholder 2"/>
          <p:cNvSpPr>
            <a:spLocks noChangeAspect="1" noGrp="1" noRot="1"/>
          </p:cNvSpPr>
          <p:nvPr>
            <p:ph type="sldImg" idx="2"/>
          </p:nvPr>
        </p:nvSpPr>
        <p:spPr bwMode="auto"/>
      </p:sp>
      <p:sp>
        <p:nvSpPr>
          <p:cNvPr id="1806215904" name="Notes Placeholder 3"/>
          <p:cNvSpPr>
            <a:spLocks noGrp="1"/>
          </p:cNvSpPr>
          <p:nvPr>
            <p:ph type="body" sz="quarter" idx="3"/>
          </p:nvPr>
        </p:nvSpPr>
        <p:spPr bwMode="auto"/>
        <p:txBody>
          <a:bodyPr/>
          <a:lstStyle/>
          <a:p>
            <a:pPr>
              <a:defRPr/>
            </a:pPr>
            <a:r>
              <a:rPr sz="1200">
                <a:latin typeface="Arial"/>
              </a:rPr>
              <a:t>[DO] Open FB_StationFill on the projector. Walk the VAR block first — point at I_AlarmHandler / I_DataLogger fields. Then walk FB_init — point at AlarmHandler / DataLogger parameters.</a:t>
            </a:r>
            <a:endParaRPr/>
          </a:p>
          <a:p>
            <a:pPr>
              <a:defRPr/>
            </a:pPr>
            <a:r>
              <a:rPr sz="1200">
                <a:latin typeface="Arial"/>
              </a:rPr>
              <a:t>[KEY LINE] "The station never constructs its dependencies. It receives them. That's dependency injection — the seam that makes CR-2 trivial."</a:t>
            </a:r>
            <a:endParaRPr/>
          </a:p>
          <a:p>
            <a:pPr>
              <a:defRPr/>
            </a:pPr>
            <a:r>
              <a:rPr sz="1200">
                <a:latin typeface="Arial"/>
              </a:rPr>
              <a:t>[IF ASKED] "What's REFERENCE TO?" → "TwinCAT's pointer-with-syntax-sugar. Use REF= to bind, then dereference with .field syntax. We use it for FB_ModeManager because there's exactly one shared instance."</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77732040" name="Slide Number Placeholder 1"/>
          <p:cNvSpPr>
            <a:spLocks noGrp="1"/>
          </p:cNvSpPr>
          <p:nvPr>
            <p:ph type="sldNum" sz="quarter" idx="5"/>
          </p:nvPr>
        </p:nvSpPr>
        <p:spPr bwMode="auto"/>
      </p:sp>
      <p:sp>
        <p:nvSpPr>
          <p:cNvPr id="195530813" name="Slide Image Placeholder 2"/>
          <p:cNvSpPr>
            <a:spLocks noChangeAspect="1" noGrp="1" noRot="1"/>
          </p:cNvSpPr>
          <p:nvPr>
            <p:ph type="sldImg" idx="2"/>
          </p:nvPr>
        </p:nvSpPr>
        <p:spPr bwMode="auto"/>
      </p:sp>
      <p:sp>
        <p:nvSpPr>
          <p:cNvPr id="574012969" name="Notes Placeholder 3"/>
          <p:cNvSpPr>
            <a:spLocks noGrp="1"/>
          </p:cNvSpPr>
          <p:nvPr>
            <p:ph type="body" sz="quarter" idx="3"/>
          </p:nvPr>
        </p:nvSpPr>
        <p:spPr bwMode="auto"/>
        <p:txBody>
          <a:bodyPr/>
          <a:lstStyle/>
          <a:p>
            <a:pPr>
              <a:defRPr/>
            </a:pPr>
            <a:r>
              <a:rPr sz="1200">
                <a:latin typeface="Arial"/>
              </a:rPr>
              <a:t>[DO] Open MAIN on the projector. Walk the construction calls. Highlight `AlarmHandler := LineFault` on Inspect — call it the "swap point."</a:t>
            </a:r>
            <a:endParaRPr/>
          </a:p>
          <a:p>
            <a:pPr>
              <a:defRPr/>
            </a:pPr>
            <a:r>
              <a:rPr sz="1200">
                <a:latin typeface="Arial"/>
              </a:rPr>
              <a:t>[KEY LINE] "Read MAIN top-to-bottom — it IS the wiring diagram for the line. In Stage 1, MAIN was 'instantiate stations.' In Stage 3, MAIN is 'wire the dependency graph.' The architecture is realized at construction."</a:t>
            </a:r>
            <a:endParaRPr/>
          </a:p>
          <a:p>
            <a:pPr>
              <a:defRPr/>
            </a:pPr>
            <a:r>
              <a:rPr sz="1200">
                <a:latin typeface="Arial"/>
              </a:rPr>
              <a:t>[SETUP] This sets up CR-2 directly. The audience should be ready to predict what the swap looks like.</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7419825" name="Slide Number Placeholder 1"/>
          <p:cNvSpPr>
            <a:spLocks noGrp="1"/>
          </p:cNvSpPr>
          <p:nvPr>
            <p:ph type="sldNum" sz="quarter" idx="5"/>
          </p:nvPr>
        </p:nvSpPr>
        <p:spPr bwMode="auto"/>
      </p:sp>
      <p:sp>
        <p:nvSpPr>
          <p:cNvPr id="1885554959" name="Slide Image Placeholder 2"/>
          <p:cNvSpPr>
            <a:spLocks noChangeAspect="1" noGrp="1" noRot="1"/>
          </p:cNvSpPr>
          <p:nvPr>
            <p:ph type="sldImg" idx="2"/>
          </p:nvPr>
        </p:nvSpPr>
        <p:spPr bwMode="auto"/>
      </p:sp>
      <p:sp>
        <p:nvSpPr>
          <p:cNvPr id="1104514278" name="Notes Placeholder 3"/>
          <p:cNvSpPr>
            <a:spLocks noGrp="1"/>
          </p:cNvSpPr>
          <p:nvPr>
            <p:ph type="body" sz="quarter" idx="3"/>
          </p:nvPr>
        </p:nvSpPr>
        <p:spPr bwMode="auto"/>
        <p:txBody>
          <a:bodyPr/>
          <a:lstStyle/>
          <a:p>
            <a:pPr>
              <a:defRPr/>
            </a:pPr>
            <a:r>
              <a:rPr sz="1200">
                <a:latin typeface="Arial"/>
              </a:rPr>
              <a:t>[DO] Walk SOLID once, slowly, with the codebase as the example. This is the vocabulary attendees take to customer conversations.</a:t>
            </a:r>
            <a:endParaRPr/>
          </a:p>
          <a:p>
            <a:pPr>
              <a:defRPr/>
            </a:pPr>
            <a:r>
              <a:rPr sz="1200">
                <a:latin typeface="Arial"/>
              </a:rPr>
              <a:t>[FAE-FRAMING] For an FAE audience, SOLID is review at the conceptual level. What's new is mapping each principle to a SPECIFIC TwinCAT file they just walked through.</a:t>
            </a:r>
            <a:endParaRPr/>
          </a:p>
          <a:p>
            <a:pPr>
              <a:defRPr/>
            </a:pPr>
            <a:r>
              <a:rPr sz="1200">
                <a:latin typeface="Arial"/>
              </a:rPr>
              <a:t>[ASK — if you have time] "Which SOLID principle is doing the heavy lifting in this codebase?" Best answer is D (Dependency Inversion) — that's the seam that makes CR-2 trivial. L (Liskov) is the property that makes D safe.</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0624894" name="Slide Number Placeholder 1"/>
          <p:cNvSpPr>
            <a:spLocks noGrp="1"/>
          </p:cNvSpPr>
          <p:nvPr>
            <p:ph type="sldNum" sz="quarter" idx="5"/>
          </p:nvPr>
        </p:nvSpPr>
        <p:spPr bwMode="auto"/>
      </p:sp>
      <p:sp>
        <p:nvSpPr>
          <p:cNvPr id="768275970" name="Slide Image Placeholder 2"/>
          <p:cNvSpPr>
            <a:spLocks noChangeAspect="1" noGrp="1" noRot="1"/>
          </p:cNvSpPr>
          <p:nvPr>
            <p:ph type="sldImg" idx="2"/>
          </p:nvPr>
        </p:nvSpPr>
        <p:spPr bwMode="auto"/>
      </p:sp>
      <p:sp>
        <p:nvSpPr>
          <p:cNvPr id="666005297" name="Notes Placeholder 3"/>
          <p:cNvSpPr>
            <a:spLocks noGrp="1"/>
          </p:cNvSpPr>
          <p:nvPr>
            <p:ph type="body" sz="quarter" idx="3"/>
          </p:nvPr>
        </p:nvSpPr>
        <p:spPr bwMode="auto"/>
        <p:txBody>
          <a:bodyPr/>
          <a:lstStyle/>
          <a:p>
            <a:pPr>
              <a:defRPr/>
            </a:pPr>
            <a:r>
              <a:rPr sz="1200">
                <a:latin typeface="Arial"/>
              </a:rPr>
              <a:t>[ACKNOWLEDGE] Critical to acknowledge — for the workshop's 4-station example, the customer is RIGHT. Stage 3 IS overkill at this scale.</a:t>
            </a:r>
            <a:endParaRPr/>
          </a:p>
          <a:p>
            <a:pPr>
              <a:defRPr/>
            </a:pPr>
            <a:r>
              <a:rPr sz="1200">
                <a:latin typeface="Arial"/>
              </a:rPr>
              <a:t>[FRAMING] Stage 3's payoff is at scale and over time. For a one-off machine, Stage 1 is correct. For a product family that ships 50 variants over 5 years, Stage 3 is the only sane answer.</a:t>
            </a:r>
            <a:endParaRPr/>
          </a:p>
          <a:p>
            <a:pPr>
              <a:defRPr/>
            </a:pPr>
            <a:r>
              <a:rPr sz="1200">
                <a:latin typeface="Arial"/>
              </a:rPr>
              <a:t>[DON'T OVERSELL] The workshop's value is the trade-off vocabulary, not religion.</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5581324" name="Slide Number Placeholder 1"/>
          <p:cNvSpPr>
            <a:spLocks noGrp="1"/>
          </p:cNvSpPr>
          <p:nvPr>
            <p:ph type="sldNum" sz="quarter" idx="5"/>
          </p:nvPr>
        </p:nvSpPr>
        <p:spPr bwMode="auto"/>
      </p:sp>
      <p:sp>
        <p:nvSpPr>
          <p:cNvPr id="386328281" name="Slide Image Placeholder 2"/>
          <p:cNvSpPr>
            <a:spLocks noChangeAspect="1" noGrp="1" noRot="1"/>
          </p:cNvSpPr>
          <p:nvPr>
            <p:ph type="sldImg" idx="2"/>
          </p:nvPr>
        </p:nvSpPr>
        <p:spPr bwMode="auto"/>
      </p:sp>
      <p:sp>
        <p:nvSpPr>
          <p:cNvPr id="564973523" name="Notes Placeholder 3"/>
          <p:cNvSpPr>
            <a:spLocks noGrp="1"/>
          </p:cNvSpPr>
          <p:nvPr>
            <p:ph type="body" sz="quarter" idx="3"/>
          </p:nvPr>
        </p:nvSpPr>
        <p:spPr bwMode="auto"/>
        <p:txBody>
          <a:bodyPr/>
          <a:lstStyle/>
          <a:p>
            <a:pPr>
              <a:defRPr/>
            </a:pPr>
            <a:r>
              <a:rPr sz="1200">
                <a:latin typeface="Arial"/>
              </a:rPr>
              <a:t>[DO] Read the requirement: same Pause requirement as Stage 1. 5-minute timer. The realization comes fast: just modify FB_ModeManager.</a:t>
            </a:r>
            <a:endParaRPr/>
          </a:p>
          <a:p>
            <a:pPr>
              <a:defRPr/>
            </a:pPr>
            <a:r>
              <a:rPr sz="1200">
                <a:latin typeface="Arial"/>
              </a:rPr>
              <a:t>[ASK] "Why is the Fill mid-cycle exception automatic in this architecture?"</a:t>
            </a:r>
            <a:endParaRPr/>
          </a:p>
          <a:p>
            <a:pPr>
              <a:defRPr/>
            </a:pPr>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endParaRPr/>
          </a:p>
          <a:p>
            <a:pPr>
              <a:defRPr/>
            </a:pPr>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0085332" name="Slide Number Placeholder 1"/>
          <p:cNvSpPr>
            <a:spLocks noGrp="1"/>
          </p:cNvSpPr>
          <p:nvPr>
            <p:ph type="sldNum" sz="quarter" idx="5"/>
          </p:nvPr>
        </p:nvSpPr>
        <p:spPr bwMode="auto"/>
      </p:sp>
      <p:sp>
        <p:nvSpPr>
          <p:cNvPr id="612973959" name="Slide Image Placeholder 2"/>
          <p:cNvSpPr>
            <a:spLocks noChangeAspect="1" noGrp="1" noRot="1"/>
          </p:cNvSpPr>
          <p:nvPr>
            <p:ph type="sldImg" idx="2"/>
          </p:nvPr>
        </p:nvSpPr>
        <p:spPr bwMode="auto"/>
      </p:sp>
      <p:sp>
        <p:nvSpPr>
          <p:cNvPr id="1088697834" name="Notes Placeholder 3"/>
          <p:cNvSpPr>
            <a:spLocks noGrp="1"/>
          </p:cNvSpPr>
          <p:nvPr>
            <p:ph type="body" sz="quarter" idx="3"/>
          </p:nvPr>
        </p:nvSpPr>
        <p:spPr bwMode="auto"/>
        <p:txBody>
          <a:bodyPr/>
          <a:lstStyle/>
          <a:p>
            <a:pPr>
              <a:defRPr/>
            </a:pPr>
            <a:r>
              <a:rPr sz="1200">
                <a:latin typeface="Arial"/>
              </a:rPr>
              <a:t>[PACE CAREFULLY] This is the workshop's emotional payoff.</a:t>
            </a:r>
            <a:endParaRPr/>
          </a:p>
          <a:p>
            <a:pPr>
              <a:defRPr/>
            </a:pPr>
            <a:r>
              <a:rPr sz="1200">
                <a:latin typeface="Arial"/>
              </a:rPr>
              <a:t>[SAY] Read CR-2 again: "Inspect: non-faulting alarm AND parallel state-10. Same as Stage 1 (60 inline lines) and Stage 2 (the override mess). Apply it the composition way."</a:t>
            </a:r>
            <a:endParaRPr/>
          </a:p>
          <a:p>
            <a:pPr>
              <a:defRPr/>
            </a:pPr>
            <a:r>
              <a:rPr sz="1200">
                <a:latin typeface="Arial"/>
              </a:rPr>
              <a:t>[DEMO FIRST] On the presenter machine, before they try. Next slide is the swap script.</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0618454" name="Slide Number Placeholder 1"/>
          <p:cNvSpPr>
            <a:spLocks noGrp="1"/>
          </p:cNvSpPr>
          <p:nvPr>
            <p:ph type="sldNum" sz="quarter" idx="5"/>
          </p:nvPr>
        </p:nvSpPr>
        <p:spPr bwMode="auto"/>
      </p:sp>
      <p:sp>
        <p:nvSpPr>
          <p:cNvPr id="1474655140" name="Slide Image Placeholder 2"/>
          <p:cNvSpPr>
            <a:spLocks noChangeAspect="1" noGrp="1" noRot="1"/>
          </p:cNvSpPr>
          <p:nvPr>
            <p:ph type="sldImg" idx="2"/>
          </p:nvPr>
        </p:nvSpPr>
        <p:spPr bwMode="auto"/>
      </p:sp>
      <p:sp>
        <p:nvSpPr>
          <p:cNvPr id="946118613" name="Notes Placeholder 3"/>
          <p:cNvSpPr>
            <a:spLocks noGrp="1"/>
          </p:cNvSpPr>
          <p:nvPr>
            <p:ph type="body" sz="quarter" idx="3"/>
          </p:nvPr>
        </p:nvSpPr>
        <p:spPr bwMode="auto"/>
        <p:txBody>
          <a:bodyPr/>
          <a:lstStyle/>
          <a:p>
            <a:pPr>
              <a:defRPr/>
            </a:pPr>
            <a:r>
              <a:rPr sz="1200">
                <a:latin typeface="Arial"/>
              </a:rPr>
              <a:t>[DEMO LIVE] The slide is the script — the demo is the lesson.</a:t>
            </a:r>
            <a:endParaRPr/>
          </a:p>
          <a:p>
            <a:pPr>
              <a:defRPr/>
            </a:pPr>
            <a:r>
              <a:rPr sz="1200">
                <a:latin typeface="Arial"/>
              </a:rPr>
              <a:t>[SEQUENCE]</a:t>
            </a:r>
            <a:br>
              <a:rPr sz="1200">
                <a:latin typeface="Arial"/>
              </a:rPr>
            </a:br>
            <a:r>
              <a:rPr sz="1200">
                <a:latin typeface="Arial"/>
              </a:rPr>
              <a:t>1. Open MAIN. Find the line.</a:t>
            </a:r>
            <a:br>
              <a:rPr sz="1200">
                <a:latin typeface="Arial"/>
              </a:rPr>
            </a:br>
            <a:r>
              <a:rPr sz="1200">
                <a:latin typeface="Arial"/>
              </a:rPr>
              <a:t>2. Change LineFault to QualityFlag.</a:t>
            </a:r>
            <a:br>
              <a:rPr sz="1200">
                <a:latin typeface="Arial"/>
              </a:rPr>
            </a:br>
            <a:r>
              <a:rPr sz="1200">
                <a:latin typeface="Arial"/>
              </a:rPr>
              <a:t>3. Save. Build.</a:t>
            </a:r>
            <a:br>
              <a:rPr sz="1200">
                <a:latin typeface="Arial"/>
              </a:rPr>
            </a:br>
            <a:r>
              <a:rPr sz="1200">
                <a:latin typeface="Arial"/>
              </a:rPr>
              <a:t>4. PAUSE. Don't speak. Let the implication land. Count to 10 silently.</a:t>
            </a:r>
            <a:endParaRPr/>
          </a:p>
          <a:p>
            <a:pPr>
              <a:defRPr/>
            </a:pPr>
            <a:r>
              <a:rPr sz="1200">
                <a:latin typeface="Arial"/>
              </a:rPr>
              <a:t>[AFTER THE SILENCE]</a:t>
            </a:r>
            <a:br>
              <a:rPr sz="1200">
                <a:latin typeface="Arial"/>
              </a:rPr>
            </a:br>
            <a:r>
              <a:rPr sz="1200">
                <a:latin typeface="Arial"/>
              </a:rPr>
              <a:t>- ASK: "Did Inspect's behavior just change?" (Yes — alarms are non-latching, line keeps running.)</a:t>
            </a:r>
            <a:br>
              <a:rPr sz="1200">
                <a:latin typeface="Arial"/>
              </a:rPr>
            </a:br>
            <a:r>
              <a:rPr sz="1200">
                <a:latin typeface="Arial"/>
              </a:rPr>
              <a:t>- ASK: "Did we modify any Inspect code?" (No.)</a:t>
            </a:r>
            <a:br>
              <a:rPr sz="1200">
                <a:latin typeface="Arial"/>
              </a:rPr>
            </a:br>
            <a:r>
              <a:rPr sz="1200">
                <a:latin typeface="Arial"/>
              </a:rPr>
              <a:t>- ASK: "How is this possible?" (Because the alarm strategy is INJECTED, not hardcoded. Inspect depends on I_AlarmHandler — anything implementing that interface plugs in.)</a:t>
            </a:r>
            <a:endParaRPr/>
          </a:p>
          <a:p>
            <a:pPr>
              <a:defRPr/>
            </a:pPr>
            <a:r>
              <a:rPr sz="1200">
                <a:latin typeface="Arial"/>
              </a:rPr>
              <a:t>[THE SILENCE IS THE LESSON.] Don't fill it.</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3797752" name="Slide Number Placeholder 1"/>
          <p:cNvSpPr>
            <a:spLocks noGrp="1"/>
          </p:cNvSpPr>
          <p:nvPr>
            <p:ph type="sldNum" sz="quarter" idx="5"/>
          </p:nvPr>
        </p:nvSpPr>
        <p:spPr bwMode="auto"/>
      </p:sp>
      <p:sp>
        <p:nvSpPr>
          <p:cNvPr id="329714640" name="Slide Image Placeholder 2"/>
          <p:cNvSpPr>
            <a:spLocks noChangeAspect="1" noGrp="1" noRot="1"/>
          </p:cNvSpPr>
          <p:nvPr>
            <p:ph type="sldImg" idx="2"/>
          </p:nvPr>
        </p:nvSpPr>
        <p:spPr bwMode="auto"/>
      </p:sp>
      <p:sp>
        <p:nvSpPr>
          <p:cNvPr id="1879022994" name="Notes Placeholder 3"/>
          <p:cNvSpPr>
            <a:spLocks noGrp="1"/>
          </p:cNvSpPr>
          <p:nvPr>
            <p:ph type="body" sz="quarter" idx="3"/>
          </p:nvPr>
        </p:nvSpPr>
        <p:spPr bwMode="auto"/>
        <p:txBody>
          <a:bodyPr/>
          <a:lstStyle/>
          <a:p>
            <a:pPr>
              <a:defRPr/>
            </a:pPr>
            <a:r>
              <a:rPr sz="1200">
                <a:latin typeface="Arial"/>
              </a:rPr>
              <a:t>[HEADLINE] Workshop's central claim. Read it slowly. Repeat it. This is the line attendees take home.</a:t>
            </a:r>
            <a:endParaRPr/>
          </a:p>
          <a:p>
            <a:pPr>
              <a:defRPr/>
            </a:pPr>
            <a:r>
              <a:rPr sz="1200">
                <a:latin typeface="Arial"/>
              </a:rPr>
              <a:t>[SAY] "If only one slide of the workshop sticks, this is it. The 92 → 121 → 1 progression is the receipt for the entire 4 hours."</a:t>
            </a:r>
            <a:endParaRPr/>
          </a:p>
          <a:p>
            <a:pPr>
              <a:defRPr/>
            </a:pPr>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1031950" name="Slide Number Placeholder 1"/>
          <p:cNvSpPr>
            <a:spLocks noGrp="1"/>
          </p:cNvSpPr>
          <p:nvPr>
            <p:ph type="sldNum" sz="quarter" idx="5"/>
          </p:nvPr>
        </p:nvSpPr>
        <p:spPr bwMode="auto"/>
      </p:sp>
      <p:sp>
        <p:nvSpPr>
          <p:cNvPr id="1368371930" name="Slide Image Placeholder 2"/>
          <p:cNvSpPr>
            <a:spLocks noChangeAspect="1" noGrp="1" noRot="1"/>
          </p:cNvSpPr>
          <p:nvPr>
            <p:ph type="sldImg" idx="2"/>
          </p:nvPr>
        </p:nvSpPr>
        <p:spPr bwMode="auto"/>
      </p:sp>
      <p:sp>
        <p:nvSpPr>
          <p:cNvPr id="1755181682" name="Notes Placeholder 3"/>
          <p:cNvSpPr>
            <a:spLocks noGrp="1"/>
          </p:cNvSpPr>
          <p:nvPr>
            <p:ph type="body" sz="quarter" idx="3"/>
          </p:nvPr>
        </p:nvSpPr>
        <p:spPr bwMode="auto"/>
        <p:txBody>
          <a:bodyPr/>
          <a:lstStyle/>
          <a:p>
            <a:pPr>
              <a:defRPr/>
            </a:pPr>
            <a:r>
              <a:rPr sz="1200">
                <a:latin typeface="Arial"/>
              </a:rPr>
              <a:t>[DO] After the swap demo, hand them the parallel-sequencer half. 10-minute timer.</a:t>
            </a:r>
            <a:endParaRPr/>
          </a:p>
          <a:p>
            <a:pPr>
              <a:defRPr/>
            </a:pPr>
            <a:r>
              <a:rPr sz="1200">
                <a:latin typeface="Arial"/>
              </a:rPr>
              <a:t>[PATTERN] What they're applying: COMPOSE a new building block (FB_ParallelSequencer) alongside an existing one (FB_StepSequencer). Not rewriting; composing.</a:t>
            </a:r>
            <a:endParaRPr/>
          </a:p>
          <a:p>
            <a:pPr>
              <a:defRPr/>
            </a:pPr>
            <a:r>
              <a:rPr sz="1200">
                <a:latin typeface="Arial"/>
              </a:rPr>
              <a:t>[WHEN DONE] `git switch stage-3-cr2-applied` and show the diff. ~30 lines added in 2 files.</a:t>
            </a:r>
            <a:endParaRPr/>
          </a:p>
          <a:p>
            <a:pPr>
              <a:defRPr/>
            </a:pPr>
            <a:r>
              <a:rPr sz="1200">
                <a:latin typeface="Arial"/>
              </a:rPr>
              <a:t>[PACING] If behind, skip this hands-on. The reveal moment is the swap on the presenter screen — that's the lesson. The parallel sequencer is supplementary.</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6274785" name="Slide Number Placeholder 1"/>
          <p:cNvSpPr>
            <a:spLocks noGrp="1"/>
          </p:cNvSpPr>
          <p:nvPr>
            <p:ph type="sldNum" sz="quarter" idx="5"/>
          </p:nvPr>
        </p:nvSpPr>
        <p:spPr bwMode="auto"/>
      </p:sp>
      <p:sp>
        <p:nvSpPr>
          <p:cNvPr id="1540147087" name="Slide Image Placeholder 2"/>
          <p:cNvSpPr>
            <a:spLocks noChangeAspect="1" noGrp="1" noRot="1"/>
          </p:cNvSpPr>
          <p:nvPr>
            <p:ph type="sldImg" idx="2"/>
          </p:nvPr>
        </p:nvSpPr>
        <p:spPr bwMode="auto"/>
      </p:sp>
      <p:sp>
        <p:nvSpPr>
          <p:cNvPr id="1767674000" name="Notes Placeholder 3"/>
          <p:cNvSpPr>
            <a:spLocks noGrp="1"/>
          </p:cNvSpPr>
          <p:nvPr>
            <p:ph type="body" sz="quarter" idx="3"/>
          </p:nvPr>
        </p:nvSpPr>
        <p:spPr bwMode="auto"/>
        <p:txBody>
          <a:bodyPr/>
          <a:lstStyle/>
          <a:p>
            <a:pPr>
              <a:defRPr/>
            </a:pPr>
            <a:r>
              <a:rPr sz="1200">
                <a:latin typeface="Arial"/>
              </a:rPr>
              <a:t>[DO] Read the requirement. 5-minute timer. The path: add I_DataLogger field + FB_init param to Fill and Inspect only.</a:t>
            </a:r>
            <a:endParaRPr/>
          </a:p>
          <a:p>
            <a:pPr>
              <a:defRPr/>
            </a:pPr>
            <a:r>
              <a:rPr sz="1200">
                <a:latin typeface="Arial"/>
              </a:rPr>
              <a:t>[ASK] "Where does Cap's logger storage live now?" → nowhere. Cap doesn't have the field.</a:t>
            </a:r>
            <a:endParaRPr/>
          </a:p>
          <a:p>
            <a:pPr>
              <a:defRPr/>
            </a:pPr>
            <a:r>
              <a:rPr sz="1200">
                <a:latin typeface="Arial"/>
              </a:rPr>
              <a:t>[ASK] "What changes if we swap from in-memory buffer to file-based logger?" → only FB_CycleDataLogger is replaced. Stations don't change. MAIN doesn't change.</a:t>
            </a:r>
            <a:endParaRPr/>
          </a:p>
          <a:p>
            <a:pPr>
              <a:defRPr/>
            </a:pPr>
            <a:r>
              <a:rPr sz="1200">
                <a:latin typeface="Arial"/>
              </a:rPr>
              <a:t>[COMPARE] Stage 2's logger refactor cost: base + every override + LogCycleData helper. Stage 3: just the building block.</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6375527" name="Slide Number Placeholder 1"/>
          <p:cNvSpPr>
            <a:spLocks noGrp="1"/>
          </p:cNvSpPr>
          <p:nvPr>
            <p:ph type="sldNum" sz="quarter" idx="5"/>
          </p:nvPr>
        </p:nvSpPr>
        <p:spPr bwMode="auto"/>
      </p:sp>
      <p:sp>
        <p:nvSpPr>
          <p:cNvPr id="1247965991" name="Slide Image Placeholder 2"/>
          <p:cNvSpPr>
            <a:spLocks noChangeAspect="1" noGrp="1" noRot="1"/>
          </p:cNvSpPr>
          <p:nvPr>
            <p:ph type="sldImg" idx="2"/>
          </p:nvPr>
        </p:nvSpPr>
        <p:spPr bwMode="auto"/>
      </p:sp>
      <p:sp>
        <p:nvSpPr>
          <p:cNvPr id="1939424687" name="Notes Placeholder 3"/>
          <p:cNvSpPr>
            <a:spLocks noGrp="1"/>
          </p:cNvSpPr>
          <p:nvPr>
            <p:ph type="body" sz="quarter" idx="3"/>
          </p:nvPr>
        </p:nvSpPr>
        <p:spPr bwMode="auto"/>
        <p:txBody>
          <a:bodyPr/>
          <a:lstStyle/>
          <a:p>
            <a:pPr>
              <a:defRPr/>
            </a:pPr>
            <a:r>
              <a:rPr sz="1200">
                <a:latin typeface="Arial"/>
              </a:rPr>
              <a:t>[DO] Show stage-3-broken on the projector. Walk the per-station guards. Then compare to stage-3-cr1-applied (FB_ModeManager-only).</a:t>
            </a:r>
            <a:endParaRPr/>
          </a:p>
          <a:p>
            <a:pPr>
              <a:defRPr/>
            </a:pPr>
            <a:r>
              <a:rPr sz="1200">
                <a:latin typeface="Arial"/>
              </a:rPr>
              <a:t>[LESSON] The right architecture makes the right thing easy and the wrong thing visible. Right answer is loud and small; wrong answer is loud and large.</a:t>
            </a:r>
            <a:endParaRPr/>
          </a:p>
          <a:p>
            <a:pPr>
              <a:defRPr/>
            </a:pPr>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401533" name="Slide Number Placeholder 1"/>
          <p:cNvSpPr>
            <a:spLocks noGrp="1"/>
          </p:cNvSpPr>
          <p:nvPr>
            <p:ph type="sldNum" sz="quarter" idx="5"/>
          </p:nvPr>
        </p:nvSpPr>
        <p:spPr bwMode="auto"/>
      </p:sp>
      <p:sp>
        <p:nvSpPr>
          <p:cNvPr id="1436040486" name="Slide Image Placeholder 2"/>
          <p:cNvSpPr>
            <a:spLocks noChangeAspect="1" noGrp="1" noRot="1"/>
          </p:cNvSpPr>
          <p:nvPr>
            <p:ph type="sldImg" idx="2"/>
          </p:nvPr>
        </p:nvSpPr>
        <p:spPr bwMode="auto"/>
      </p:sp>
      <p:sp>
        <p:nvSpPr>
          <p:cNvPr id="643649147" name="Notes Placeholder 3"/>
          <p:cNvSpPr>
            <a:spLocks noGrp="1"/>
          </p:cNvSpPr>
          <p:nvPr>
            <p:ph type="body" sz="quarter" idx="3"/>
          </p:nvPr>
        </p:nvSpPr>
        <p:spPr bwMode="auto"/>
        <p:txBody>
          <a:bodyPr/>
          <a:lstStyle/>
          <a:p>
            <a:pPr>
              <a:defRPr/>
            </a:pPr>
            <a:r>
              <a:rPr sz="1200">
                <a:latin typeface="Arial"/>
              </a:rPr>
              <a:t>[FRAMING] This is where the workshop cements. Plan to overshoot the 20-minute budget if discussion is gold — that's the workshop's value.</a:t>
            </a:r>
            <a:endParaRPr/>
          </a:p>
          <a:p>
            <a:pPr>
              <a:defRPr/>
            </a:pPr>
            <a:r>
              <a:rPr sz="1200">
                <a:latin typeface="Arial"/>
              </a:rPr>
              <a:t>[BEFORE] Pull up the scoreboard page on the projector OR reveal the whiteboard with cells pre-drawn.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726048" name="Slide Number Placeholder 1"/>
          <p:cNvSpPr>
            <a:spLocks noGrp="1"/>
          </p:cNvSpPr>
          <p:nvPr>
            <p:ph type="sldNum" sz="quarter" idx="5"/>
          </p:nvPr>
        </p:nvSpPr>
        <p:spPr bwMode="auto"/>
      </p:sp>
      <p:sp>
        <p:nvSpPr>
          <p:cNvPr id="2035857706" name="Slide Image Placeholder 2"/>
          <p:cNvSpPr>
            <a:spLocks noChangeAspect="1" noGrp="1" noRot="1"/>
          </p:cNvSpPr>
          <p:nvPr>
            <p:ph type="sldImg" idx="2"/>
          </p:nvPr>
        </p:nvSpPr>
        <p:spPr bwMode="auto"/>
      </p:sp>
      <p:sp>
        <p:nvSpPr>
          <p:cNvPr id="1696912616" name="Notes Placeholder 3"/>
          <p:cNvSpPr>
            <a:spLocks noGrp="1"/>
          </p:cNvSpPr>
          <p:nvPr>
            <p:ph type="body" sz="quarter" idx="3"/>
          </p:nvPr>
        </p:nvSpPr>
        <p:spPr bwMode="auto"/>
        <p:txBody>
          <a:bodyPr/>
          <a:lstStyle/>
          <a:p>
            <a:pPr>
              <a:defRPr/>
            </a:pPr>
            <a:r>
              <a:rPr sz="1200">
                <a:latin typeface="Arial"/>
              </a:rPr>
              <a:t>[DO] Walk the matrix cell-by-cell. The audience has DONE every cell — this is consolidation, not introduction.</a:t>
            </a:r>
            <a:endParaRPr/>
          </a:p>
          <a:p>
            <a:pPr>
              <a:defRPr/>
            </a:pPr>
            <a:r>
              <a:rPr sz="1200">
                <a:latin typeface="Arial"/>
              </a:rPr>
              <a:t>[READ ALOUD]</a:t>
            </a:r>
            <a:br>
              <a:rPr sz="1200">
                <a:latin typeface="Arial"/>
              </a:rPr>
            </a:br>
            <a:r>
              <a:rPr sz="1200">
                <a:latin typeface="Arial"/>
              </a:rPr>
              <a:t>- "CR-1 hits 5 files in procedural; 3 in inheritance; 2 in composition."</a:t>
            </a:r>
            <a:br>
              <a:rPr sz="1200">
                <a:latin typeface="Arial"/>
              </a:rPr>
            </a:br>
            <a:r>
              <a:rPr sz="1200">
                <a:latin typeface="Arial"/>
              </a:rPr>
              <a:t>- "CR-2 in procedural is a 92-line inline rewrite. In inheritance it's a 121-line override fight. In composition it's a 1-line swap."</a:t>
            </a:r>
            <a:br>
              <a:rPr sz="1200">
                <a:latin typeface="Arial"/>
              </a:rPr>
            </a:br>
            <a:r>
              <a:rPr sz="1200">
                <a:latin typeface="Arial"/>
              </a:rPr>
              <a:t>- "CR-3 looks small in procedural (13 lines) but the duplication is permanent. Inheritance fixes the duplication but adds dead weight. Composition has both proportional cost AND zero dead weight."</a:t>
            </a:r>
            <a:endParaRPr/>
          </a:p>
          <a:p>
            <a:pPr>
              <a:defRPr/>
            </a:pPr>
            <a:r>
              <a:rPr sz="1200">
                <a:latin typeface="Arial"/>
              </a:rPr>
              <a:t>[NEXT SLIDE] The deeper lessons.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7164623" name="Slide Number Placeholder 1"/>
          <p:cNvSpPr>
            <a:spLocks noGrp="1"/>
          </p:cNvSpPr>
          <p:nvPr>
            <p:ph type="sldNum" sz="quarter" idx="5"/>
          </p:nvPr>
        </p:nvSpPr>
        <p:spPr bwMode="auto"/>
      </p:sp>
      <p:sp>
        <p:nvSpPr>
          <p:cNvPr id="1384514433" name="Slide Image Placeholder 2"/>
          <p:cNvSpPr>
            <a:spLocks noChangeAspect="1" noGrp="1" noRot="1"/>
          </p:cNvSpPr>
          <p:nvPr>
            <p:ph type="sldImg" idx="2"/>
          </p:nvPr>
        </p:nvSpPr>
        <p:spPr bwMode="auto"/>
      </p:sp>
      <p:sp>
        <p:nvSpPr>
          <p:cNvPr id="835494103" name="Notes Placeholder 3"/>
          <p:cNvSpPr>
            <a:spLocks noGrp="1"/>
          </p:cNvSpPr>
          <p:nvPr>
            <p:ph type="body" sz="quarter" idx="3"/>
          </p:nvPr>
        </p:nvSpPr>
        <p:spPr bwMode="auto"/>
        <p:txBody>
          <a:bodyPr/>
          <a:lstStyle/>
          <a:p>
            <a:pPr>
              <a:defRPr/>
            </a:pPr>
            <a:r>
              <a:rPr sz="1200">
                <a:latin typeface="Arial"/>
              </a:rPr>
              <a:t>[KEY LINE] "Lines are the visible cost. BLAST RADIUS is the real cost."</a:t>
            </a:r>
            <a:endParaRPr/>
          </a:p>
          <a:p>
            <a:pPr>
              <a:defRPr/>
            </a:pPr>
            <a:r>
              <a:rPr sz="1200">
                <a:latin typeface="Arial"/>
              </a:rPr>
              <a:t>[CONTEXT — examples to work in]</a:t>
            </a:r>
            <a:br>
              <a:rPr sz="1200">
                <a:latin typeface="Arial"/>
              </a:rPr>
            </a:br>
            <a:r>
              <a:rPr sz="1200">
                <a:latin typeface="Arial"/>
              </a:rPr>
              <a:t>- Stage 1 wins on raw lines for CR-3 (13). But those 13 lines are duplicated identically. The duplicate is permanent.</a:t>
            </a:r>
            <a:br>
              <a:rPr sz="1200">
                <a:latin typeface="Arial"/>
              </a:rPr>
            </a:br>
            <a:r>
              <a:rPr sz="1200">
                <a:latin typeface="Arial"/>
              </a:rPr>
              <a:t>- Stage 2 CR-2 only adds ~80 lines of override, but those 80 lines re-implement mode resolution and alarm-ack from scratch. The 'lines' are cheap; the FRAGILITY is expensive.</a:t>
            </a:r>
            <a:endParaRPr/>
          </a:p>
          <a:p>
            <a:pPr>
              <a:defRPr/>
            </a:pPr>
            <a:r>
              <a:rPr sz="1200">
                <a:latin typeface="Arial"/>
              </a:rPr>
              <a:t>[FAE TAKEAWAY] The blast-radius framing is the language attendees take to customer conversations. Mark it. Repeat it.</a:t>
            </a:r>
            <a:endParaRPr/>
          </a:p>
          <a:p>
            <a:pPr>
              <a:defRPr/>
            </a:pPr>
            <a:r>
              <a:rPr sz="1200">
                <a:latin typeface="Arial"/>
              </a:rPr>
              <a:t>[VISUAL ANCHOR] If you have a whiteboard: write "BLAST RADIUS" in big letters next to the scoreboard matrix.</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3186776" name="Slide Number Placeholder 1"/>
          <p:cNvSpPr>
            <a:spLocks noGrp="1"/>
          </p:cNvSpPr>
          <p:nvPr>
            <p:ph type="sldNum" sz="quarter" idx="5"/>
          </p:nvPr>
        </p:nvSpPr>
        <p:spPr bwMode="auto"/>
      </p:sp>
      <p:sp>
        <p:nvSpPr>
          <p:cNvPr id="488209042" name="Slide Image Placeholder 2"/>
          <p:cNvSpPr>
            <a:spLocks noChangeAspect="1" noGrp="1" noRot="1"/>
          </p:cNvSpPr>
          <p:nvPr>
            <p:ph type="sldImg" idx="2"/>
          </p:nvPr>
        </p:nvSpPr>
        <p:spPr bwMode="auto"/>
      </p:sp>
      <p:sp>
        <p:nvSpPr>
          <p:cNvPr id="1870361248" name="Notes Placeholder 3"/>
          <p:cNvSpPr>
            <a:spLocks noGrp="1"/>
          </p:cNvSpPr>
          <p:nvPr>
            <p:ph type="body" sz="quarter" idx="3"/>
          </p:nvPr>
        </p:nvSpPr>
        <p:spPr bwMode="auto"/>
        <p:txBody>
          <a:bodyPr/>
          <a:lstStyle/>
          <a:p>
            <a:pPr>
              <a:defRPr/>
            </a:pPr>
            <a:r>
              <a:rPr sz="1200">
                <a:latin typeface="Arial"/>
              </a:rPr>
              <a:t>[FRAMING] The testability argument is the workshop's quiet long-tail value. Some attendees will care about this MORE than the blast-radius argument.</a:t>
            </a:r>
            <a:endParaRPr/>
          </a:p>
          <a:p>
            <a:pPr>
              <a:defRPr/>
            </a:pPr>
            <a:r>
              <a:rPr sz="1200">
                <a:latin typeface="Arial"/>
              </a:rPr>
              <a:t>[CONTEXT — to weave in]</a:t>
            </a:r>
            <a:br>
              <a:rPr sz="1200">
                <a:latin typeface="Arial"/>
              </a:rPr>
            </a:br>
            <a:r>
              <a:rPr sz="1200">
                <a:latin typeface="Arial"/>
              </a:rPr>
              <a:t>"In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endParaRPr/>
          </a:p>
          <a:p>
            <a:pPr>
              <a:defRPr/>
            </a:pPr>
            <a:r>
              <a:rPr sz="1200">
                <a:latin typeface="Arial"/>
              </a:rPr>
              <a:t>[FRAMEWORK LANDSCAPE — be ready, FAEs will ask]</a:t>
            </a:r>
            <a:br>
              <a:rPr sz="1200">
                <a:latin typeface="Arial"/>
              </a:rPr>
            </a:br>
            <a:r>
              <a:rPr sz="1200">
                <a:latin typeface="Arial"/>
              </a:rPr>
              <a:t>- PlcTestSuite (SimmelFlo, OSS) — what we use today. Lightest install, fastest to demo.</a:t>
            </a:r>
            <a:br>
              <a:rPr sz="1200">
                <a:latin typeface="Arial"/>
              </a:rPr>
            </a:br>
            <a:r>
              <a:rPr sz="1200">
                <a:latin typeface="Arial"/>
              </a:rPr>
              <a:t>- TcUnit (community, OSS) — the older / better-known option. More setup, more ceremony.</a:t>
            </a:r>
            <a:br>
              <a:rPr sz="1200">
                <a:latin typeface="Arial"/>
              </a:rPr>
            </a:br>
            <a:r>
              <a:rPr sz="1200">
                <a:latin typeface="Arial"/>
              </a:rPr>
              <a:t>- Beckhoff-native — first-party framework on the way. Like TcUnit, expect a heavier lift than PlcTestSuite. Worth tracking for shops standardizing later.</a:t>
            </a:r>
            <a:br>
              <a:rPr sz="1200">
                <a:latin typeface="Arial"/>
              </a:rPr>
            </a:br>
            <a:r>
              <a:rPr sz="1200">
                <a:latin typeface="Arial"/>
              </a:rPr>
              <a:t>- The architectural lesson is framework-independent: composition + DI is what makes ANY of them testable. Stage 1 / Stage 2 stations don't have the seam regardless of which framework you pick.</a:t>
            </a:r>
            <a:endParaRPr/>
          </a:p>
          <a:p>
            <a:pPr>
              <a:defRPr/>
            </a:pPr>
            <a:r>
              <a:rPr sz="1200">
                <a:latin typeface="Arial"/>
              </a:rPr>
              <a:t>[IF AHEAD] Springboard into the bonus PlcTestSuite demo (see backup slides).</a:t>
            </a:r>
            <a:endParaRPr/>
          </a:p>
          <a:p>
            <a:pPr>
              <a:defRPr/>
            </a:pPr>
            <a:r>
              <a:rPr sz="1200">
                <a:latin typeface="Arial"/>
              </a:rPr>
              <a:t>[IF ON TIME] Deliver as one sentence and move on. Next slide is the discussion that earns the workshop.</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9689202" name="Slide Number Placeholder 1"/>
          <p:cNvSpPr>
            <a:spLocks noGrp="1"/>
          </p:cNvSpPr>
          <p:nvPr>
            <p:ph type="sldNum" sz="quarter" idx="5"/>
          </p:nvPr>
        </p:nvSpPr>
        <p:spPr bwMode="auto"/>
      </p:sp>
      <p:sp>
        <p:nvSpPr>
          <p:cNvPr id="1896754533" name="Slide Image Placeholder 2"/>
          <p:cNvSpPr>
            <a:spLocks noChangeAspect="1" noGrp="1" noRot="1"/>
          </p:cNvSpPr>
          <p:nvPr>
            <p:ph type="sldImg" idx="2"/>
          </p:nvPr>
        </p:nvSpPr>
        <p:spPr bwMode="auto"/>
      </p:sp>
      <p:sp>
        <p:nvSpPr>
          <p:cNvPr id="1588216783" name="Notes Placeholder 3"/>
          <p:cNvSpPr>
            <a:spLocks noGrp="1"/>
          </p:cNvSpPr>
          <p:nvPr>
            <p:ph type="body" sz="quarter" idx="3"/>
          </p:nvPr>
        </p:nvSpPr>
        <p:spPr bwMode="auto"/>
        <p:txBody>
          <a:bodyPr/>
          <a:lstStyle/>
          <a:p>
            <a:pPr>
              <a:defRPr/>
            </a:pPr>
            <a:r>
              <a:rPr sz="1200">
                <a:latin typeface="Arial"/>
              </a:rPr>
              <a:t>[MOST IMPORTANT DISCUSSION OF THE WORKSHOP]</a:t>
            </a:r>
            <a:endParaRPr/>
          </a:p>
          <a:p>
            <a:pPr>
              <a:defRPr/>
            </a:pPr>
            <a:r>
              <a:rPr sz="1200">
                <a:latin typeface="Arial"/>
              </a:rPr>
              <a:t>[ASK] "Walk back to your shop. What machine, codebase, or customer is each stage right for? Be specific. Name names if you can."</a:t>
            </a:r>
            <a:endParaRPr/>
          </a:p>
          <a:p>
            <a:pPr>
              <a:defRPr/>
            </a:pPr>
            <a:r>
              <a:rPr sz="1200">
                <a:latin typeface="Arial"/>
              </a:rPr>
              <a:t>[DO] Take answers. Encourage debate. The slide is the framing — the workshop value is the customer-specific application.</a:t>
            </a:r>
            <a:endParaRPr/>
          </a:p>
          <a:p>
            <a:pPr>
              <a:defRPr/>
            </a:pPr>
            <a:r>
              <a:rPr sz="1200">
                <a:latin typeface="Arial"/>
              </a:rPr>
              <a:t>[IF ROOM IS SHY — prime with]</a:t>
            </a:r>
            <a:br>
              <a:rPr sz="1200">
                <a:latin typeface="Arial"/>
              </a:rPr>
            </a:br>
            <a:r>
              <a:rPr sz="1200">
                <a:latin typeface="Arial"/>
              </a:rPr>
              <a:t>- "Anyone here own a single-machine codebase that Stage 1 is fine for?" → hands.</a:t>
            </a:r>
            <a:br>
              <a:rPr sz="1200">
                <a:latin typeface="Arial"/>
              </a:rPr>
            </a:br>
            <a:r>
              <a:rPr sz="1200">
                <a:latin typeface="Arial"/>
              </a:rPr>
              <a:t>- "Anyone working on a product family where Stage 3 is the prerequisite?" → hands.</a:t>
            </a:r>
            <a:br>
              <a:rPr sz="1200">
                <a:latin typeface="Arial"/>
              </a:rPr>
            </a:br>
            <a:r>
              <a:rPr sz="1200">
                <a:latin typeface="Arial"/>
              </a:rPr>
              <a:t>- "Anyone in the messy middle where Stage 2 is what you're already doing and you're feeling the limits?" → most hands.</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6690753" name="Slide Number Placeholder 1"/>
          <p:cNvSpPr>
            <a:spLocks noGrp="1"/>
          </p:cNvSpPr>
          <p:nvPr>
            <p:ph type="sldNum" sz="quarter" idx="5"/>
          </p:nvPr>
        </p:nvSpPr>
        <p:spPr bwMode="auto"/>
      </p:sp>
      <p:sp>
        <p:nvSpPr>
          <p:cNvPr id="1704058506" name="Slide Image Placeholder 2"/>
          <p:cNvSpPr>
            <a:spLocks noChangeAspect="1" noGrp="1" noRot="1"/>
          </p:cNvSpPr>
          <p:nvPr>
            <p:ph type="sldImg" idx="2"/>
          </p:nvPr>
        </p:nvSpPr>
        <p:spPr bwMode="auto"/>
      </p:sp>
      <p:sp>
        <p:nvSpPr>
          <p:cNvPr id="529388164" name="Notes Placeholder 3"/>
          <p:cNvSpPr>
            <a:spLocks noGrp="1"/>
          </p:cNvSpPr>
          <p:nvPr>
            <p:ph type="body" sz="quarter" idx="3"/>
          </p:nvPr>
        </p:nvSpPr>
        <p:spPr bwMode="auto"/>
        <p:txBody>
          <a:bodyPr/>
          <a:lstStyle/>
          <a:p>
            <a:pPr>
              <a:defRPr/>
            </a:pPr>
            <a:r>
              <a:rPr sz="1200">
                <a:latin typeface="Arial"/>
              </a:rPr>
              <a:t>[DO] Pick three of the deck's pushback Q&amp;A pairs. Roleplay them with the room. Let attendees take the FAE side; you take the customer side.</a:t>
            </a:r>
            <a:endParaRPr/>
          </a:p>
          <a:p>
            <a:pPr>
              <a:defRPr/>
            </a:pPr>
            <a:r>
              <a:rPr sz="1200">
                <a:latin typeface="Arial"/>
              </a:rPr>
              <a:t>[POINT] The customer-conversation rehearsal is the workshop's transferable skill. They've heard the pushbacks all day; now they practice the answers.</a:t>
            </a:r>
            <a:endParaRPr/>
          </a:p>
          <a:p>
            <a:pPr>
              <a:defRPr/>
            </a:pPr>
            <a:r>
              <a:rPr sz="1200">
                <a:latin typeface="Arial"/>
              </a:rPr>
              <a:t>[PUSHBACKS WORTH PICKING — depending on audience composition]</a:t>
            </a:r>
            <a:br>
              <a:rPr sz="1200">
                <a:latin typeface="Arial"/>
              </a:rPr>
            </a:br>
            <a:r>
              <a:rPr sz="1200">
                <a:latin typeface="Arial"/>
              </a:rPr>
              <a:t>- "This is fine. We've shipped 50 machines like this." (most universal)</a:t>
            </a:r>
            <a:br>
              <a:rPr sz="1200">
                <a:latin typeface="Arial"/>
              </a:rPr>
            </a:br>
            <a:r>
              <a:rPr sz="1200">
                <a:latin typeface="Arial"/>
              </a:rPr>
              <a:t>- "I just need to remember to mirror base changes into Inspect's override." (the most important Q&amp;A)</a:t>
            </a:r>
            <a:br>
              <a:rPr sz="1200">
                <a:latin typeface="Arial"/>
              </a:rPr>
            </a:br>
            <a:r>
              <a:rPr sz="1200">
                <a:latin typeface="Arial"/>
              </a:rPr>
              <a:t>- "Eighteen files for a 4-station machine?" (the overkill objection)</a:t>
            </a:r>
            <a:br>
              <a:rPr sz="1200">
                <a:latin typeface="Arial"/>
              </a:rPr>
            </a:br>
            <a:r>
              <a:rPr sz="1200">
                <a:latin typeface="Arial"/>
              </a:rPr>
              <a:t>- "Use multiple inheritance, then." (the technically-knowledgeable customer)</a:t>
            </a:r>
            <a:endParaRPr/>
          </a:p>
          <a:p>
            <a:pPr>
              <a:defRPr/>
            </a:pPr>
            <a:r>
              <a:rPr sz="1200">
                <a:latin typeface="Arial"/>
              </a:rPr>
              <a:t>[CLOSE] "Discipline is bounded; architecture is unbounded." Repeat the line. Make sure they walk out quoting it.</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14877001" name="Slide Number Placeholder 1"/>
          <p:cNvSpPr>
            <a:spLocks noGrp="1"/>
          </p:cNvSpPr>
          <p:nvPr>
            <p:ph type="sldNum" sz="quarter" idx="5"/>
          </p:nvPr>
        </p:nvSpPr>
        <p:spPr bwMode="auto"/>
      </p:sp>
      <p:sp>
        <p:nvSpPr>
          <p:cNvPr id="669061398" name="Slide Image Placeholder 2"/>
          <p:cNvSpPr>
            <a:spLocks noChangeAspect="1" noGrp="1" noRot="1"/>
          </p:cNvSpPr>
          <p:nvPr>
            <p:ph type="sldImg" idx="2"/>
          </p:nvPr>
        </p:nvSpPr>
        <p:spPr bwMode="auto"/>
      </p:sp>
      <p:sp>
        <p:nvSpPr>
          <p:cNvPr id="1473546266" name="Notes Placeholder 3"/>
          <p:cNvSpPr>
            <a:spLocks noGrp="1"/>
          </p:cNvSpPr>
          <p:nvPr>
            <p:ph type="body" sz="quarter" idx="3"/>
          </p:nvPr>
        </p:nvSpPr>
        <p:spPr bwMode="auto"/>
        <p:txBody>
          <a:bodyPr/>
          <a:lstStyle/>
          <a:p>
            <a:pPr>
              <a:defRPr/>
            </a:pPr>
            <a:r>
              <a:rPr sz="1200">
                <a:latin typeface="Arial"/>
              </a:rPr>
              <a:t>[DO] Walk the four bullets in order.</a:t>
            </a:r>
            <a:endParaRPr/>
          </a:p>
          <a:p>
            <a:pPr>
              <a:defRPr/>
            </a:pPr>
            <a:r>
              <a:rPr sz="1200">
                <a:latin typeface="Arial"/>
              </a:rPr>
              <a:t>[REAL ASK] "Send me one specific machine, project, or customer this material applies to. I want to know what you'll teach it for. That's how I make this workshop better."</a:t>
            </a:r>
            <a:endParaRPr/>
          </a:p>
          <a:p>
            <a:pPr>
              <a:defRPr/>
            </a:pPr>
            <a:r>
              <a:rPr sz="1200">
                <a:latin typeface="Arial"/>
              </a:rPr>
              <a:t>[FRAMING] Senior FAEs who attend are the workshop's distribution channel — they need to teach it. Knowing what they'll teach it FOR makes the next iteration better.</a:t>
            </a:r>
            <a:endParaRPr/>
          </a:p>
          <a:p>
            <a:pPr>
              <a:defRPr/>
            </a:pPr>
            <a:r>
              <a:rPr sz="1200">
                <a:latin typeface="Arial"/>
              </a:rPr>
              <a:t>[NEXT SLIDE] The personal-recommendation pattern — what makes the workshop stick.</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5838520" name="Slide Number Placeholder 1"/>
          <p:cNvSpPr>
            <a:spLocks noGrp="1"/>
          </p:cNvSpPr>
          <p:nvPr>
            <p:ph type="sldNum" sz="quarter" idx="5"/>
          </p:nvPr>
        </p:nvSpPr>
        <p:spPr bwMode="auto"/>
      </p:sp>
      <p:sp>
        <p:nvSpPr>
          <p:cNvPr id="999489727" name="Slide Image Placeholder 2"/>
          <p:cNvSpPr>
            <a:spLocks noChangeAspect="1" noGrp="1" noRot="1"/>
          </p:cNvSpPr>
          <p:nvPr>
            <p:ph type="sldImg" idx="2"/>
          </p:nvPr>
        </p:nvSpPr>
        <p:spPr bwMode="auto"/>
      </p:sp>
      <p:sp>
        <p:nvSpPr>
          <p:cNvPr id="1903773137" name="Notes Placeholder 3"/>
          <p:cNvSpPr>
            <a:spLocks noGrp="1"/>
          </p:cNvSpPr>
          <p:nvPr>
            <p:ph type="body" sz="quarter" idx="3"/>
          </p:nvPr>
        </p:nvSpPr>
        <p:spPr bwMode="auto"/>
        <p:txBody>
          <a:bodyPr/>
          <a:lstStyle/>
          <a:p>
            <a:pPr>
              <a:defRPr/>
            </a:pPr>
            <a:r>
              <a:rPr sz="1200">
                <a:latin typeface="Arial"/>
              </a:rPr>
              <a:t>[FRAMING] The personal-recommendation pattern is what makes the workshop transferable. Generic advice ('use composition more') fades within a week; specific advice ('try the I_AlarmHandler swap on your test rigs next month') sticks.</a:t>
            </a:r>
            <a:endParaRPr/>
          </a:p>
          <a:p>
            <a:pPr>
              <a:defRPr/>
            </a:pPr>
            <a:r>
              <a:rPr sz="1200">
                <a:latin typeface="Arial"/>
              </a:rPr>
              <a:t>[USE THIS SLIDE AS A TEMPLATE] Copy the structure: name, observed situation, specific recommended action.</a:t>
            </a:r>
            <a:endParaRPr/>
          </a:p>
          <a:p>
            <a:pPr>
              <a:defRPr/>
            </a:pPr>
            <a:r>
              <a:rPr sz="1200">
                <a:latin typeface="Arial"/>
              </a:rPr>
              <a:t>[AUDIENCE-SIZE NOTE] If your audience is &gt; 20: the personal-recommendation pattern doesn't scale. Skip the per-attendee follow-up; send a group note instead.</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6344465" name="Slide Number Placeholder 1"/>
          <p:cNvSpPr>
            <a:spLocks noGrp="1"/>
          </p:cNvSpPr>
          <p:nvPr>
            <p:ph type="sldNum" sz="quarter" idx="5"/>
          </p:nvPr>
        </p:nvSpPr>
        <p:spPr bwMode="auto"/>
      </p:sp>
      <p:sp>
        <p:nvSpPr>
          <p:cNvPr id="1160394136" name="Slide Image Placeholder 2"/>
          <p:cNvSpPr>
            <a:spLocks noChangeAspect="1" noGrp="1" noRot="1"/>
          </p:cNvSpPr>
          <p:nvPr>
            <p:ph type="sldImg" idx="2"/>
          </p:nvPr>
        </p:nvSpPr>
        <p:spPr bwMode="auto"/>
      </p:sp>
      <p:sp>
        <p:nvSpPr>
          <p:cNvPr id="338586326" name="Notes Placeholder 3"/>
          <p:cNvSpPr>
            <a:spLocks noGrp="1"/>
          </p:cNvSpPr>
          <p:nvPr>
            <p:ph type="body" sz="quarter" idx="3"/>
          </p:nvPr>
        </p:nvSpPr>
        <p:spPr bwMode="auto"/>
        <p:txBody>
          <a:bodyPr/>
          <a:lstStyle/>
          <a:p>
            <a:r>
              <a:t>[DO] Read the body slowly.</a:t>
            </a:r>
          </a:p>
          <a:p>
            <a:r>
              <a:t>[BOOKEND] The "recognize themselves in Stage 1's drift" line is the emotional bookend to the CR-1 reveal in Block 1. Pull the thread explicitly:</a:t>
            </a:r>
          </a:p>
          <a:p>
            <a:r>
              <a:t>"Remember the silence in the room when half of you realized you'd copied from a station with one ack style? When you teach this, your attendees will have that same silence. That's the workshop working."</a:t>
            </a:r>
          </a:p>
          <a:p>
            <a:r>
              <a:t>[Q&amp;A] Immediately after. The workshop is technically over but the discussion is half the value — let it run.</a:t>
            </a:r>
          </a:p>
          <a:p>
            <a:r>
              <a:t>[TEACHER PART — recipe to deliver verbally] After the opening one-liner, slow down and walk these three things:</a:t>
            </a:r>
          </a:p>
          <a:p>
            <a:r>
              <a:t>  1. Run a shorter version yourself within a month.</a:t>
            </a:r>
          </a:p>
          <a:p>
            <a:r>
              <a:t>  2. Adapt the script to your audience.</a:t>
            </a:r>
          </a:p>
          <a:p>
            <a:r>
              <a:t>  3. Track customer pushback you hear that isn't in this material — send it back.</a:t>
            </a:r>
          </a:p>
          <a:p>
            <a:r>
              <a:t>Then pause, and deliver the emotional bookend (the last line on the slide) slowly. Q&amp;A immediately after.</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020568" name="Slide Number Placeholder 1"/>
          <p:cNvSpPr>
            <a:spLocks noGrp="1"/>
          </p:cNvSpPr>
          <p:nvPr>
            <p:ph type="sldNum" sz="quarter" idx="5"/>
          </p:nvPr>
        </p:nvSpPr>
        <p:spPr bwMode="auto"/>
      </p:sp>
      <p:sp>
        <p:nvSpPr>
          <p:cNvPr id="1701154909" name="Slide Image Placeholder 2"/>
          <p:cNvSpPr>
            <a:spLocks noChangeAspect="1" noGrp="1" noRot="1"/>
          </p:cNvSpPr>
          <p:nvPr>
            <p:ph type="sldImg" idx="2"/>
          </p:nvPr>
        </p:nvSpPr>
        <p:spPr bwMode="auto"/>
      </p:sp>
      <p:sp>
        <p:nvSpPr>
          <p:cNvPr id="1199143842" name="Notes Placeholder 3"/>
          <p:cNvSpPr>
            <a:spLocks noGrp="1"/>
          </p:cNvSpPr>
          <p:nvPr>
            <p:ph type="body" sz="quarter" idx="3"/>
          </p:nvPr>
        </p:nvSpPr>
        <p:spPr bwMode="auto"/>
        <p:txBody>
          <a:bodyPr/>
          <a:lstStyle/>
          <a:p>
            <a:pPr>
              <a:defRPr/>
            </a:pPr>
            <a:r>
              <a:rPr sz="1200">
                <a:latin typeface="Arial"/>
              </a:rPr>
              <a:t>[NOT FOR LIVE] Backup slides are reference material for the FAE running the workshop. Do NOT advance through them during the live class. Hide from the slide order if presenting from a printed agenda.</a:t>
            </a:r>
            <a:endParaRPr/>
          </a:p>
          <a:p>
            <a:pPr>
              <a:defRPr/>
            </a:pPr>
            <a:r>
              <a:rPr sz="1200">
                <a:latin typeface="Arial"/>
              </a:rPr>
              <a:t>[STILL IN THE DECK BECAUSE] The deck doubles as a teaching kit for FAEs reusing the material later. Backup section serves them.</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2614738" name="Slide Number Placeholder 1"/>
          <p:cNvSpPr>
            <a:spLocks noGrp="1"/>
          </p:cNvSpPr>
          <p:nvPr>
            <p:ph type="sldNum" sz="quarter" idx="5"/>
          </p:nvPr>
        </p:nvSpPr>
        <p:spPr bwMode="auto"/>
      </p:sp>
      <p:sp>
        <p:nvSpPr>
          <p:cNvPr id="1789518923" name="Slide Image Placeholder 2"/>
          <p:cNvSpPr>
            <a:spLocks noChangeAspect="1" noGrp="1" noRot="1"/>
          </p:cNvSpPr>
          <p:nvPr>
            <p:ph type="sldImg" idx="2"/>
          </p:nvPr>
        </p:nvSpPr>
        <p:spPr bwMode="auto"/>
      </p:sp>
      <p:sp>
        <p:nvSpPr>
          <p:cNvPr id="1746204721" name="Notes Placeholder 3"/>
          <p:cNvSpPr>
            <a:spLocks noGrp="1"/>
          </p:cNvSpPr>
          <p:nvPr>
            <p:ph type="body" sz="quarter" idx="3"/>
          </p:nvPr>
        </p:nvSpPr>
        <p:spPr bwMode="auto"/>
        <p:txBody>
          <a:bodyPr/>
          <a:lstStyle/>
          <a:p>
            <a:pPr>
              <a:defRPr/>
            </a:pPr>
            <a:r>
              <a:rPr sz="1200">
                <a:latin typeface="Arial"/>
              </a:rPr>
              <a:t>[USE DURING BREAKS] Recalibrate against the schedule.</a:t>
            </a:r>
            <a:endParaRPr/>
          </a:p>
          <a:p>
            <a:pPr>
              <a:defRPr/>
            </a:pPr>
            <a:r>
              <a:rPr sz="1200">
                <a:latin typeface="Arial"/>
              </a:rPr>
              <a:t>[MOST COMMON MISTAKE] Trying to cover all 9 scoreboard cells in equal depth. CR-2 in every stage is the spine; CR-1 and CR-3 are illustrations. If you're behind, compress CR-3 first.</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6980347" name="Slide Number Placeholder 1"/>
          <p:cNvSpPr>
            <a:spLocks noGrp="1"/>
          </p:cNvSpPr>
          <p:nvPr>
            <p:ph type="sldNum" sz="quarter" idx="5"/>
          </p:nvPr>
        </p:nvSpPr>
        <p:spPr bwMode="auto"/>
      </p:sp>
      <p:sp>
        <p:nvSpPr>
          <p:cNvPr id="44226307" name="Slide Image Placeholder 2"/>
          <p:cNvSpPr>
            <a:spLocks noChangeAspect="1" noGrp="1" noRot="1"/>
          </p:cNvSpPr>
          <p:nvPr>
            <p:ph type="sldImg" idx="2"/>
          </p:nvPr>
        </p:nvSpPr>
        <p:spPr bwMode="auto"/>
      </p:sp>
      <p:sp>
        <p:nvSpPr>
          <p:cNvPr id="333169561" name="Notes Placeholder 3"/>
          <p:cNvSpPr>
            <a:spLocks noGrp="1"/>
          </p:cNvSpPr>
          <p:nvPr>
            <p:ph type="body" sz="quarter" idx="3"/>
          </p:nvPr>
        </p:nvSpPr>
        <p:spPr bwMode="auto"/>
        <p:txBody>
          <a:bodyPr/>
          <a:lstStyle/>
          <a:p>
            <a:pPr>
              <a:defRPr/>
            </a:pPr>
            <a:r>
              <a:rPr sz="1200">
                <a:latin typeface="Arial"/>
              </a:rPr>
              <a:t>[WHY PLCTESTSUITE, NOT TCUNIT, NOT THE BECKHOFF FRAMEWORK]</a:t>
            </a:r>
            <a:br>
              <a:rPr sz="1200">
                <a:latin typeface="Arial"/>
              </a:rPr>
            </a:br>
            <a:r>
              <a:rPr sz="1200">
                <a:latin typeface="Arial"/>
              </a:rPr>
              <a:t>- PlcTestSuite is the lightest install — single .library file. Demoable in a workshop slot.</a:t>
            </a:r>
            <a:br>
              <a:rPr sz="1200">
                <a:latin typeface="Arial"/>
              </a:rPr>
            </a:br>
            <a:r>
              <a:rPr sz="1200">
                <a:latin typeface="Arial"/>
              </a:rPr>
              <a:t>- TcUnit works fine but is a heavier setup; you spend the workshop installing it instead of teaching it.</a:t>
            </a:r>
            <a:br>
              <a:rPr sz="1200">
                <a:latin typeface="Arial"/>
              </a:rPr>
            </a:br>
            <a:r>
              <a:rPr sz="1200">
                <a:latin typeface="Arial"/>
              </a:rPr>
              <a:t>- The first-party Beckhoff framework is in flight — when it ships, it'll likely be the recommendation for shops standardizing on Beckhoff tooling. Until then, PlcTestSuite is the path of least resistance.</a:t>
            </a:r>
            <a:br>
              <a:rPr sz="1200">
                <a:latin typeface="Arial"/>
              </a:rPr>
            </a:br>
            <a:r>
              <a:rPr sz="1200">
                <a:latin typeface="Arial"/>
              </a:rPr>
              <a:t>- Whichever framework attendees pick later, the architectural lesson stays the same: only Stage 3 has the DI seam that any of them needs.</a:t>
            </a:r>
            <a:endParaRPr/>
          </a:p>
          <a:p>
            <a:pPr>
              <a:defRPr/>
            </a:pPr>
            <a:r>
              <a:rPr sz="1200">
                <a:latin typeface="Arial"/>
              </a:rPr>
              <a:t>[WHY BONUS, NOT CORE]</a:t>
            </a:r>
            <a:br>
              <a:rPr sz="1200">
                <a:latin typeface="Arial"/>
              </a:rPr>
            </a:br>
            <a:r>
              <a:rPr sz="1200">
                <a:latin typeface="Arial"/>
              </a:rPr>
              <a:t>1. PlcTestSuite is a separate library install (5+ min per machine if attendees don't have it).</a:t>
            </a:r>
            <a:br>
              <a:rPr sz="1200">
                <a:latin typeface="Arial"/>
              </a:rPr>
            </a:br>
            <a:r>
              <a:rPr sz="1200">
                <a:latin typeface="Arial"/>
              </a:rPr>
              <a:t>2. Only works on Stage 3 code. Demonstrating WHY it doesn't work on Stage 1 or 2 takes extra time.</a:t>
            </a:r>
            <a:br>
              <a:rPr sz="1200">
                <a:latin typeface="Arial"/>
              </a:rPr>
            </a:br>
            <a:r>
              <a:rPr sz="1200">
                <a:latin typeface="Arial"/>
              </a:rPr>
              <a:t>3. Needs a running TwinCAT runtime. Review-only attendees can't actually execute.</a:t>
            </a:r>
            <a:endParaRPr/>
          </a:p>
          <a:p>
            <a:pPr>
              <a:defRPr/>
            </a:pPr>
            <a:r>
              <a:rPr sz="1200">
                <a:latin typeface="Arial"/>
              </a:rPr>
              <a:t>[FRAME AS] "This is what the rest of software engineering takes for granted. Stage 3 makes it available to control code. Composition isn't optional architecture if your shop wants CI for PLC — it's the prerequisite."</a:t>
            </a:r>
            <a:endParaRPr/>
          </a:p>
          <a:p>
            <a:pPr>
              <a:defRPr/>
            </a:pPr>
            <a:r>
              <a:rPr sz="1200">
                <a:latin typeface="Arial"/>
              </a:rPr>
              <a:t>[LESSON IT SURFACES NATURALLY] "What would it take to test a Stage 1 station? A Stage 2 station? Why is this only possible on Stage 3?" → Stage 1 and 2 stations don't have the dependency-injection seam, so there's nowhere to plug in mocks.</a:t>
            </a:r>
            <a:endParaRPr/>
          </a:p>
          <a:p>
            <a:pPr>
              <a:defRPr/>
            </a:pPr>
            <a:r>
              <a:rPr sz="1200">
                <a:latin typeface="Arial"/>
              </a:rPr>
              <a:t>[IF YOU DON'T GET TO IT] Send testing.md link in post-workshop follow-up. The architectural lesson lands fully without the testing demo.</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8714251" name="Slide Number Placeholder 1"/>
          <p:cNvSpPr>
            <a:spLocks noGrp="1"/>
          </p:cNvSpPr>
          <p:nvPr>
            <p:ph type="sldNum" sz="quarter" idx="5"/>
          </p:nvPr>
        </p:nvSpPr>
        <p:spPr bwMode="auto"/>
      </p:sp>
      <p:sp>
        <p:nvSpPr>
          <p:cNvPr id="1207299409" name="Slide Image Placeholder 2"/>
          <p:cNvSpPr>
            <a:spLocks noChangeAspect="1" noGrp="1" noRot="1"/>
          </p:cNvSpPr>
          <p:nvPr>
            <p:ph type="sldImg" idx="2"/>
          </p:nvPr>
        </p:nvSpPr>
        <p:spPr bwMode="auto"/>
      </p:sp>
      <p:sp>
        <p:nvSpPr>
          <p:cNvPr id="1591745312" name="Notes Placeholder 3"/>
          <p:cNvSpPr>
            <a:spLocks noGrp="1"/>
          </p:cNvSpPr>
          <p:nvPr>
            <p:ph type="body" sz="quarter" idx="3"/>
          </p:nvPr>
        </p:nvSpPr>
        <p:spPr bwMode="auto"/>
        <p:txBody>
          <a:bodyPr/>
          <a:lstStyle/>
          <a:p>
            <a:pPr>
              <a:defRPr/>
            </a:pPr>
            <a:r>
              <a:rPr sz="1200">
                <a:latin typeface="Arial"/>
              </a:rPr>
              <a:t>[PRINT AND TAPE] Reference card for day-of and day-after. Print it; tape it next to your laptop.</a:t>
            </a:r>
            <a:endParaRPr/>
          </a:p>
          <a:p>
            <a:pPr>
              <a:defRPr/>
            </a:pPr>
            <a:r>
              <a:rPr sz="1200">
                <a:latin typeface="Arial"/>
              </a:rPr>
              <a:t>[PHYSICAL SCOREBOARD MATTERS] Watching the cells get filled in on a whiteboard as exercises complete creates a different kind of engagement than a static slide.</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1104002" name="Slide Number Placeholder 1"/>
          <p:cNvSpPr>
            <a:spLocks noGrp="1"/>
          </p:cNvSpPr>
          <p:nvPr>
            <p:ph type="sldNum" sz="quarter" idx="5"/>
          </p:nvPr>
        </p:nvSpPr>
        <p:spPr bwMode="auto"/>
      </p:sp>
      <p:sp>
        <p:nvSpPr>
          <p:cNvPr id="1323137056" name="Slide Image Placeholder 2"/>
          <p:cNvSpPr>
            <a:spLocks noChangeAspect="1" noGrp="1" noRot="1"/>
          </p:cNvSpPr>
          <p:nvPr>
            <p:ph type="sldImg" idx="2"/>
          </p:nvPr>
        </p:nvSpPr>
        <p:spPr bwMode="auto"/>
      </p:sp>
      <p:sp>
        <p:nvSpPr>
          <p:cNvPr id="1607700435" name="Notes Placeholder 3"/>
          <p:cNvSpPr>
            <a:spLocks noGrp="1"/>
          </p:cNvSpPr>
          <p:nvPr>
            <p:ph type="body" sz="quarter" idx="3"/>
          </p:nvPr>
        </p:nvSpPr>
        <p:spPr bwMode="auto"/>
        <p:txBody>
          <a:bodyPr/>
          <a:lstStyle/>
          <a:p>
            <a:pPr>
              <a:defRPr/>
            </a:pPr>
            <a:r>
              <a:rPr sz="1200">
                <a:latin typeface="Arial"/>
              </a:rPr>
              <a:t>[USE CASE]</a:t>
            </a:r>
            <a:br>
              <a:rPr sz="1200">
                <a:latin typeface="Arial"/>
              </a:rPr>
            </a:br>
            <a:r>
              <a:rPr sz="1200">
                <a:latin typeface="Arial"/>
              </a:rPr>
              <a:t>- 30 min — customer pitches. Plant a single seed: runtime-swappable strategies are real and useful in TwinCAT.</a:t>
            </a:r>
            <a:br>
              <a:rPr sz="1200">
                <a:latin typeface="Arial"/>
              </a:rPr>
            </a:br>
            <a:r>
              <a:rPr sz="1200">
                <a:latin typeface="Arial"/>
              </a:rPr>
              <a:t>- 1 hr — internal team training. Same requirement, three different costs.</a:t>
            </a:r>
            <a:br>
              <a:rPr sz="1200">
                <a:latin typeface="Arial"/>
              </a:rPr>
            </a:br>
            <a:r>
              <a:rPr sz="1200">
                <a:latin typeface="Arial"/>
              </a:rPr>
              <a:t>- 2 hr — intermediate audience that doesn't need every cell of the scoreboard.</a:t>
            </a:r>
            <a:endParaRPr/>
          </a:p>
          <a:p>
            <a:pPr>
              <a:defRPr/>
            </a:pPr>
            <a:r>
              <a:rPr sz="1200">
                <a:latin typeface="Arial"/>
              </a:rPr>
              <a:t>[NONE INCLUDE THE TESTING DEMO] Reserved for the 4-hour version, only when ahead of schedule.</a:t>
            </a:r>
            <a:endParaRPr/>
          </a:p>
          <a:p>
            <a:pPr>
              <a:defRPr/>
            </a:pPr>
            <a:r>
              <a:rPr sz="1200">
                <a:latin typeface="Arial"/>
              </a:rPr>
              <a:t>[IF AN FAE ASKS] "Which version should I run?" → ask back: "What's your audience and what time do you have?" Then pick from this list.</a:t>
            </a:r>
            <a:endParaRP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An attendee says their shop has its own base-class library and shouldn't have to adopt SPT to apply Stage 2 lessons.</a:t>
            </a:r>
          </a:p>
          <a:p>
            <a:r>
              <a:t>[REINFORCE] The Stage 2 lesson is the inheritance PATTERN — FB_StationBase for shared logic + virtual hooks for differentiated logic. SPT is one concrete implementation; the customer's framework is another. Same pattern, different framework.</a:t>
            </a:r>
          </a:p>
          <a:p>
            <a:r>
              <a:t>[VARIANT — if asked] "Should we move to SPT?" → "Not for the sake of this workshop. Move if Beckhoff's framework gives you something you don't have. Don't move for paradigm reasons alone."</a:t>
            </a:r>
          </a:p>
          <a:p>
            <a:r>
              <a:t>[IF ASKED] "Where can I get Core/CoreComponents?" → "They're internal to Beckhoff USA today, not on the public Community NuGet feed. The workshop ships them in _Libraries/ so you can build the Stage 3 code, but don't promise customers they can grab them for their own projects."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PackML/OMAC/ISA-88 comes up — common at NEM, common in regulated CPG/pharma audiences.</a:t>
            </a:r>
          </a:p>
          <a:p>
            <a:r>
              <a:t>[FRAME] PackML is a STANDARD that prescribes states + transitions. Stage 2 inheritance is a PATTERN that fits that prescription naturally — FB_StationBase imposes the lifecycle, derived FBs provide the differentiated behavior. Tc3_PackML_V3 ships the full PackML state machine as a Beckhoff library.</a:t>
            </a:r>
          </a:p>
          <a:p>
            <a:r>
              <a:t>[STAGE 3 ANGLE] Composition doesn't replace PackML — it composes WITH it. A station can simultaneously use Tc3_PackML_V3 for lifecycle states AND inject an I_AlarmHandler for variable alarm policy. The standards are vertical; composition is horizontal.</a:t>
            </a:r>
          </a:p>
          <a:p>
            <a:r>
              <a:t>[IF ASKED] "Which library should we standardize on?" → "If you're in a PackML shop, Tc3_PackML_V3 + your own composition layer. If you're not, SPT or Core/CoreComponents. Pick the framework that matches your audit/spec environment."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38675195" name="Footer Placeholder"/>
          <p:cNvSpPr>
            <a:spLocks noGrp="1"/>
          </p:cNvSpPr>
          <p:nvPr>
            <p:ph type="ftr" sz="quarter" idx="10"/>
          </p:nvPr>
        </p:nvSpPr>
        <p:spPr bwMode="auto"/>
        <p:txBody>
          <a:bodyPr/>
          <a:lstStyle/>
          <a:p>
            <a:pPr>
              <a:defRPr/>
            </a:pPr>
            <a:r>
              <a:rPr lang="en-US"/>
              <a:t>Footer text</a:t>
            </a:r>
            <a:endParaRPr/>
          </a:p>
        </p:txBody>
      </p:sp>
      <p:sp>
        <p:nvSpPr>
          <p:cNvPr id="2993460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795833419" name="Title"/>
          <p:cNvSpPr>
            <a:spLocks noGrp="1"/>
          </p:cNvSpPr>
          <p:nvPr>
            <p:ph type="title"/>
          </p:nvPr>
        </p:nvSpPr>
        <p:spPr bwMode="auto"/>
        <p:txBody>
          <a:bodyPr/>
          <a:lstStyle/>
          <a:p>
            <a:pPr>
              <a:defRPr/>
            </a:pPr>
            <a:r>
              <a:rPr lang="en-US"/>
              <a:t>Click to edit Master title style</a:t>
            </a:r>
            <a:endParaRPr/>
          </a:p>
        </p:txBody>
      </p:sp>
      <p:pic>
        <p:nvPicPr>
          <p:cNvPr id="624077842"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sp>
        <p:nvSpPr>
          <p:cNvPr id="1848416028" name="Footer Placeholder"/>
          <p:cNvSpPr>
            <a:spLocks noGrp="1"/>
          </p:cNvSpPr>
          <p:nvPr>
            <p:ph type="ftr" sz="quarter" idx="11"/>
          </p:nvPr>
        </p:nvSpPr>
        <p:spPr bwMode="auto"/>
        <p:txBody>
          <a:bodyPr/>
          <a:lstStyle/>
          <a:p>
            <a:pPr>
              <a:defRPr/>
            </a:pPr>
            <a:r>
              <a:rPr lang="en-US"/>
              <a:t>Footer text</a:t>
            </a:r>
            <a:endParaRPr/>
          </a:p>
        </p:txBody>
      </p:sp>
      <p:sp>
        <p:nvSpPr>
          <p:cNvPr id="1791045549" name="Slide Number Placeholder"/>
          <p:cNvSpPr>
            <a:spLocks noGrp="1"/>
          </p:cNvSpPr>
          <p:nvPr>
            <p:ph type="sldNum" sz="quarter" idx="12"/>
          </p:nvPr>
        </p:nvSpPr>
        <p:spPr bwMode="auto"/>
        <p:txBody>
          <a:bodyPr/>
          <a:lstStyle/>
          <a:p>
            <a:pPr>
              <a:defRPr/>
            </a:pPr>
            <a:fld id="{A930EF64-91C9-4EBD-82F9-3643AB15A28C}" type="slidenum">
              <a:rPr lang="en-US"/>
              <a:t>‹#›</a:t>
            </a:fld>
            <a:endParaRPr lang="en-US"/>
          </a:p>
        </p:txBody>
      </p:sp>
      <p:pic>
        <p:nvPicPr>
          <p:cNvPr id="988775200"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
        <p:nvSpPr>
          <p:cNvPr id="282295442" name="Text Placeholder"/>
          <p:cNvSpPr>
            <a:spLocks noGrp="1"/>
          </p:cNvSpPr>
          <p:nvPr>
            <p:ph type="body" sz="quarter" idx="10" hasCustomPrompt="1"/>
          </p:nvPr>
        </p:nvSpPr>
        <p:spPr bwMode="auto">
          <a:xfrm>
            <a:off x="0" y="1089025"/>
            <a:ext cx="6098400" cy="5772150"/>
          </a:xfrm>
          <a:prstGeom prst="rect">
            <a:avLst/>
          </a:prstGeom>
          <a:solidFill>
            <a:schemeClr val="bg1">
              <a:alpha val="75000"/>
            </a:schemeClr>
          </a:solid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11758342" name="Title"/>
          <p:cNvSpPr>
            <a:spLocks noGrp="1"/>
          </p:cNvSpPr>
          <p:nvPr>
            <p:ph type="title"/>
          </p:nvPr>
        </p:nvSpPr>
        <p:spPr bwMode="auto"/>
        <p:txBody>
          <a:bodyPr/>
          <a:lstStyle/>
          <a:p>
            <a:pPr>
              <a:defRPr/>
            </a:pPr>
            <a:r>
              <a:rPr lang="en-US"/>
              <a:t>Click to edit Master title style</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2067119279" name="Footer Placeholder"/>
          <p:cNvSpPr>
            <a:spLocks noGrp="1"/>
          </p:cNvSpPr>
          <p:nvPr>
            <p:ph type="ftr" sz="quarter" idx="10"/>
          </p:nvPr>
        </p:nvSpPr>
        <p:spPr bwMode="auto"/>
        <p:txBody>
          <a:bodyPr/>
          <a:lstStyle/>
          <a:p>
            <a:pPr>
              <a:defRPr/>
            </a:pPr>
            <a:r>
              <a:rPr lang="en-US"/>
              <a:t>Footer text</a:t>
            </a:r>
            <a:endParaRPr/>
          </a:p>
        </p:txBody>
      </p:sp>
      <p:sp>
        <p:nvSpPr>
          <p:cNvPr id="316075622"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153632567"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435708083"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41807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lvl1pPr>
          </a:lstStyle>
          <a:p>
            <a:pPr lvl="0">
              <a:defRPr/>
            </a:pPr>
            <a:r>
              <a:rPr lang="en-US"/>
              <a:t>Click to add title</a:t>
            </a:r>
            <a:endParaRPr/>
          </a:p>
        </p:txBody>
      </p:sp>
      <p:pic>
        <p:nvPicPr>
          <p:cNvPr id="1137746979"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720741047"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469714892" name="Footer Placeholder"/>
          <p:cNvSpPr>
            <a:spLocks noGrp="1"/>
          </p:cNvSpPr>
          <p:nvPr>
            <p:ph type="ftr" sz="quarter" idx="10"/>
          </p:nvPr>
        </p:nvSpPr>
        <p:spPr bwMode="auto"/>
        <p:txBody>
          <a:bodyPr/>
          <a:lstStyle/>
          <a:p>
            <a:pPr>
              <a:defRPr/>
            </a:pPr>
            <a:r>
              <a:rPr lang="en-US"/>
              <a:t>Footer text</a:t>
            </a:r>
            <a:endParaRPr/>
          </a:p>
        </p:txBody>
      </p:sp>
      <p:sp>
        <p:nvSpPr>
          <p:cNvPr id="444172859"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317900131"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747334506"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0665937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pic>
        <p:nvPicPr>
          <p:cNvPr id="214484225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783125160"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954717065" name="Footer Placeholder"/>
          <p:cNvSpPr>
            <a:spLocks noGrp="1"/>
          </p:cNvSpPr>
          <p:nvPr>
            <p:ph type="ftr" sz="quarter" idx="16"/>
          </p:nvPr>
        </p:nvSpPr>
        <p:spPr bwMode="auto"/>
        <p:txBody>
          <a:bodyPr/>
          <a:lstStyle/>
          <a:p>
            <a:pPr>
              <a:defRPr/>
            </a:pPr>
            <a:r>
              <a:rPr lang="en-US"/>
              <a:t>Footer text</a:t>
            </a:r>
            <a:endParaRPr/>
          </a:p>
        </p:txBody>
      </p:sp>
      <p:sp>
        <p:nvSpPr>
          <p:cNvPr id="194987972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4074849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94851299"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1018733303" name="Footer Placeholder"/>
          <p:cNvSpPr>
            <a:spLocks noGrp="1"/>
          </p:cNvSpPr>
          <p:nvPr>
            <p:ph type="ftr" sz="quarter" idx="16"/>
          </p:nvPr>
        </p:nvSpPr>
        <p:spPr bwMode="auto"/>
        <p:txBody>
          <a:bodyPr/>
          <a:lstStyle/>
          <a:p>
            <a:pPr>
              <a:defRPr/>
            </a:pPr>
            <a:r>
              <a:rPr lang="en-US"/>
              <a:t>Footer text</a:t>
            </a:r>
            <a:endParaRPr/>
          </a:p>
        </p:txBody>
      </p:sp>
      <p:sp>
        <p:nvSpPr>
          <p:cNvPr id="43622906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32334276"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21502257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2000101447" name="Footer Placeholder"/>
          <p:cNvSpPr>
            <a:spLocks noGrp="1"/>
          </p:cNvSpPr>
          <p:nvPr>
            <p:ph type="ftr" sz="quarter" idx="17"/>
          </p:nvPr>
        </p:nvSpPr>
        <p:spPr bwMode="auto"/>
        <p:txBody>
          <a:bodyPr/>
          <a:lstStyle/>
          <a:p>
            <a:pPr>
              <a:defRPr/>
            </a:pPr>
            <a:r>
              <a:rPr lang="en-US"/>
              <a:t>Footer text</a:t>
            </a:r>
            <a:endParaRPr/>
          </a:p>
        </p:txBody>
      </p:sp>
      <p:sp>
        <p:nvSpPr>
          <p:cNvPr id="126959290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27470584"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094044776"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670536538"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9509658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17732164" name="Footer Placeholder"/>
          <p:cNvSpPr>
            <a:spLocks noGrp="1"/>
          </p:cNvSpPr>
          <p:nvPr>
            <p:ph type="ftr" sz="quarter" idx="16"/>
          </p:nvPr>
        </p:nvSpPr>
        <p:spPr bwMode="auto"/>
        <p:txBody>
          <a:bodyPr/>
          <a:lstStyle/>
          <a:p>
            <a:pPr>
              <a:defRPr/>
            </a:pPr>
            <a:r>
              <a:rPr lang="en-US"/>
              <a:t>Footer text</a:t>
            </a:r>
            <a:endParaRPr/>
          </a:p>
        </p:txBody>
      </p:sp>
      <p:sp>
        <p:nvSpPr>
          <p:cNvPr id="202303427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576369985"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46617791"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5019704"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902929165" name="Footer Placeholder"/>
          <p:cNvSpPr>
            <a:spLocks noGrp="1"/>
          </p:cNvSpPr>
          <p:nvPr>
            <p:ph type="ftr" sz="quarter" idx="16"/>
          </p:nvPr>
        </p:nvSpPr>
        <p:spPr bwMode="auto"/>
        <p:txBody>
          <a:bodyPr/>
          <a:lstStyle/>
          <a:p>
            <a:pPr>
              <a:defRPr/>
            </a:pPr>
            <a:r>
              <a:rPr lang="en-US"/>
              <a:t>Footer text</a:t>
            </a:r>
            <a:endParaRPr/>
          </a:p>
        </p:txBody>
      </p:sp>
      <p:sp>
        <p:nvSpPr>
          <p:cNvPr id="210470289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31897299"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74855216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7628021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550829435" name="Footer Placeholder"/>
          <p:cNvSpPr>
            <a:spLocks noGrp="1"/>
          </p:cNvSpPr>
          <p:nvPr>
            <p:ph type="ftr" sz="quarter" idx="17"/>
          </p:nvPr>
        </p:nvSpPr>
        <p:spPr bwMode="auto"/>
        <p:txBody>
          <a:bodyPr/>
          <a:lstStyle/>
          <a:p>
            <a:pPr>
              <a:defRPr/>
            </a:pPr>
            <a:r>
              <a:rPr lang="en-US"/>
              <a:t>Footer text</a:t>
            </a:r>
            <a:endParaRPr/>
          </a:p>
        </p:txBody>
      </p:sp>
      <p:sp>
        <p:nvSpPr>
          <p:cNvPr id="1018805598"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29506438"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04736815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3084743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78703445" name="Title"/>
          <p:cNvSpPr>
            <a:spLocks noGrp="1"/>
          </p:cNvSpPr>
          <p:nvPr>
            <p:ph type="title" hasCustomPrompt="1"/>
          </p:nvPr>
        </p:nvSpPr>
        <p:spPr bwMode="auto">
          <a:xfrm>
            <a:off x="0" y="450001"/>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663642431" name="Footer Placeholder"/>
          <p:cNvSpPr>
            <a:spLocks noGrp="1"/>
          </p:cNvSpPr>
          <p:nvPr>
            <p:ph type="ftr" sz="quarter" idx="18"/>
          </p:nvPr>
        </p:nvSpPr>
        <p:spPr bwMode="auto"/>
        <p:txBody>
          <a:bodyPr/>
          <a:lstStyle/>
          <a:p>
            <a:pPr>
              <a:defRPr/>
            </a:pPr>
            <a:r>
              <a:rPr lang="en-US"/>
              <a:t>Footer text</a:t>
            </a:r>
            <a:endParaRPr/>
          </a:p>
        </p:txBody>
      </p:sp>
      <p:sp>
        <p:nvSpPr>
          <p:cNvPr id="1626883524"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582812124" name="Picture Placeholder 3"/>
          <p:cNvSpPr>
            <a:spLocks noGrp="1"/>
          </p:cNvSpPr>
          <p:nvPr>
            <p:ph type="pic" sz="quarter" idx="17" hasCustomPrompt="1"/>
          </p:nvPr>
        </p:nvSpPr>
        <p:spPr bwMode="gray">
          <a:xfrm>
            <a:off x="9151200" y="3981600"/>
            <a:ext cx="304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p:txBody>
      </p:sp>
      <p:sp>
        <p:nvSpPr>
          <p:cNvPr id="617722389" name="Picture Placeholder 2"/>
          <p:cNvSpPr>
            <a:spLocks noGrp="1"/>
          </p:cNvSpPr>
          <p:nvPr>
            <p:ph type="pic" sz="quarter" idx="16" hasCustomPrompt="1"/>
          </p:nvPr>
        </p:nvSpPr>
        <p:spPr bwMode="gray">
          <a:xfrm>
            <a:off x="6098400" y="3981600"/>
            <a:ext cx="30456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142769213"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69444010"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43836966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259133924" name="Footer Placeholder"/>
          <p:cNvSpPr>
            <a:spLocks noGrp="1"/>
          </p:cNvSpPr>
          <p:nvPr>
            <p:ph type="ftr" sz="quarter" idx="19"/>
          </p:nvPr>
        </p:nvSpPr>
        <p:spPr bwMode="auto"/>
        <p:txBody>
          <a:bodyPr/>
          <a:lstStyle/>
          <a:p>
            <a:pPr>
              <a:defRPr/>
            </a:pPr>
            <a:r>
              <a:rPr lang="en-US"/>
              <a:t>Footer text</a:t>
            </a:r>
            <a:endParaRPr/>
          </a:p>
        </p:txBody>
      </p:sp>
      <p:sp>
        <p:nvSpPr>
          <p:cNvPr id="369329773"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16652179" name="Picture Placeholder 3"/>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6764488" name="Picture Placeholder 2"/>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17977914" name="Picture Placeholder 1"/>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889288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61892512"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642945556" name="Footer Placeholder"/>
          <p:cNvSpPr>
            <a:spLocks noGrp="1"/>
          </p:cNvSpPr>
          <p:nvPr>
            <p:ph type="ftr" sz="quarter" idx="15"/>
          </p:nvPr>
        </p:nvSpPr>
        <p:spPr bwMode="auto"/>
        <p:txBody>
          <a:bodyPr/>
          <a:lstStyle/>
          <a:p>
            <a:pPr>
              <a:defRPr/>
            </a:pPr>
            <a:r>
              <a:rPr lang="en-US"/>
              <a:t>Footer text</a:t>
            </a:r>
            <a:endParaRPr/>
          </a:p>
        </p:txBody>
      </p:sp>
      <p:sp>
        <p:nvSpPr>
          <p:cNvPr id="1936701810"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371873198"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3754815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624169802" name="Footer Placeholder"/>
          <p:cNvSpPr>
            <a:spLocks noGrp="1"/>
          </p:cNvSpPr>
          <p:nvPr>
            <p:ph type="ftr" sz="quarter" idx="16"/>
          </p:nvPr>
        </p:nvSpPr>
        <p:spPr bwMode="auto"/>
        <p:txBody>
          <a:bodyPr/>
          <a:lstStyle/>
          <a:p>
            <a:pPr>
              <a:defRPr/>
            </a:pPr>
            <a:r>
              <a:rPr lang="en-US"/>
              <a:t>Footer text</a:t>
            </a:r>
            <a:endParaRPr/>
          </a:p>
        </p:txBody>
      </p:sp>
      <p:sp>
        <p:nvSpPr>
          <p:cNvPr id="1472897777"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556217181"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76109479"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a:lvl1pPr>
          </a:lstStyle>
          <a:p>
            <a:pPr lvl="0">
              <a:defRPr/>
            </a:pPr>
            <a:r>
              <a:rPr lang="en-US"/>
              <a:t>Click to edit text</a:t>
            </a:r>
            <a:endParaRPr/>
          </a:p>
        </p:txBody>
      </p:sp>
      <p:sp>
        <p:nvSpPr>
          <p:cNvPr id="189119364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1997334855" name="Footer Placeholder"/>
          <p:cNvSpPr>
            <a:spLocks noGrp="1"/>
          </p:cNvSpPr>
          <p:nvPr>
            <p:ph type="ftr" sz="quarter" idx="19"/>
          </p:nvPr>
        </p:nvSpPr>
        <p:spPr bwMode="auto"/>
        <p:txBody>
          <a:bodyPr/>
          <a:lstStyle/>
          <a:p>
            <a:pPr>
              <a:defRPr/>
            </a:pPr>
            <a:r>
              <a:rPr lang="en-US"/>
              <a:t>Footer text</a:t>
            </a:r>
            <a:endParaRPr/>
          </a:p>
        </p:txBody>
      </p:sp>
      <p:sp>
        <p:nvSpPr>
          <p:cNvPr id="1079313802"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2124867004"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64093208"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64010367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838968888"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960744387"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a:lvl1pPr>
            <a:lvl2pPr marL="360362" indent="0">
              <a:buNone/>
              <a:defRPr/>
            </a:lvl2pPr>
          </a:lstStyle>
          <a:p>
            <a:pPr lvl="0">
              <a:defRPr/>
            </a:pPr>
            <a:r>
              <a:rPr lang="en-US"/>
              <a:t>Click to edit text </a:t>
            </a:r>
            <a:endParaRPr/>
          </a:p>
        </p:txBody>
      </p:sp>
      <p:sp>
        <p:nvSpPr>
          <p:cNvPr id="1315218461"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778804006" name="Footer Placeholder"/>
          <p:cNvSpPr>
            <a:spLocks noGrp="1"/>
          </p:cNvSpPr>
          <p:nvPr>
            <p:ph type="ftr" sz="quarter" idx="16"/>
          </p:nvPr>
        </p:nvSpPr>
        <p:spPr bwMode="auto"/>
        <p:txBody>
          <a:bodyPr/>
          <a:lstStyle/>
          <a:p>
            <a:pPr>
              <a:defRPr/>
            </a:pPr>
            <a:r>
              <a:rPr lang="en-US"/>
              <a:t>Footer text</a:t>
            </a:r>
            <a:endParaRPr/>
          </a:p>
        </p:txBody>
      </p:sp>
      <p:sp>
        <p:nvSpPr>
          <p:cNvPr id="154244044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94673951"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462073404"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156551448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214434247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394845602" name="Footer Placeholder"/>
          <p:cNvSpPr>
            <a:spLocks noGrp="1"/>
          </p:cNvSpPr>
          <p:nvPr>
            <p:ph type="ftr" sz="quarter" idx="17"/>
          </p:nvPr>
        </p:nvSpPr>
        <p:spPr bwMode="auto"/>
        <p:txBody>
          <a:bodyPr/>
          <a:lstStyle/>
          <a:p>
            <a:pPr>
              <a:defRPr/>
            </a:pPr>
            <a:r>
              <a:rPr lang="en-US"/>
              <a:t>Footer text</a:t>
            </a:r>
            <a:endParaRPr/>
          </a:p>
        </p:txBody>
      </p:sp>
      <p:sp>
        <p:nvSpPr>
          <p:cNvPr id="86129117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35687148"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1469858410" name="Title 1"/>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255964366" name="Footer Placeholder"/>
          <p:cNvSpPr>
            <a:spLocks noGrp="1"/>
          </p:cNvSpPr>
          <p:nvPr>
            <p:ph type="ftr" sz="quarter" idx="12"/>
          </p:nvPr>
        </p:nvSpPr>
        <p:spPr bwMode="auto"/>
        <p:txBody>
          <a:bodyPr/>
          <a:lstStyle/>
          <a:p>
            <a:pPr>
              <a:defRPr/>
            </a:pPr>
            <a:r>
              <a:rPr lang="en-US"/>
              <a:t>Footer text</a:t>
            </a:r>
            <a:endParaRPr/>
          </a:p>
        </p:txBody>
      </p:sp>
      <p:sp>
        <p:nvSpPr>
          <p:cNvPr id="1457530293"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0025465"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66140597"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67796247"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031120096" name="Footer Placeholder"/>
          <p:cNvSpPr>
            <a:spLocks noGrp="1"/>
          </p:cNvSpPr>
          <p:nvPr>
            <p:ph type="ftr" sz="quarter" idx="14"/>
          </p:nvPr>
        </p:nvSpPr>
        <p:spPr bwMode="auto"/>
        <p:txBody>
          <a:bodyPr/>
          <a:lstStyle/>
          <a:p>
            <a:pPr>
              <a:defRPr/>
            </a:pPr>
            <a:r>
              <a:rPr lang="en-US"/>
              <a:t>Footer text</a:t>
            </a:r>
            <a:endParaRPr/>
          </a:p>
        </p:txBody>
      </p:sp>
      <p:sp>
        <p:nvSpPr>
          <p:cNvPr id="1872259063"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726163183"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4398819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3065644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35807278"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76240585"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1125154529" name="Footer Placeholder"/>
          <p:cNvSpPr>
            <a:spLocks noGrp="1"/>
          </p:cNvSpPr>
          <p:nvPr>
            <p:ph type="ftr" sz="quarter" idx="16"/>
          </p:nvPr>
        </p:nvSpPr>
        <p:spPr bwMode="auto"/>
        <p:txBody>
          <a:bodyPr/>
          <a:lstStyle/>
          <a:p>
            <a:pPr>
              <a:defRPr/>
            </a:pPr>
            <a:r>
              <a:rPr lang="en-US"/>
              <a:t>Footer text</a:t>
            </a:r>
            <a:endParaRPr/>
          </a:p>
        </p:txBody>
      </p:sp>
      <p:sp>
        <p:nvSpPr>
          <p:cNvPr id="6376775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82397819"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62899972" name="Picture Placeholder 5"/>
          <p:cNvSpPr>
            <a:spLocks noGrp="1"/>
          </p:cNvSpPr>
          <p:nvPr>
            <p:ph type="pic" sz="quarter" idx="14" hasCustomPrompt="1"/>
          </p:nvPr>
        </p:nvSpPr>
        <p:spPr bwMode="gray">
          <a:xfrm>
            <a:off x="4063199"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3241620"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68600078"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68955754" name="Picture Placeholder 2"/>
          <p:cNvSpPr>
            <a:spLocks noGrp="1"/>
          </p:cNvSpPr>
          <p:nvPr>
            <p:ph type="pic" sz="quarter" idx="11" hasCustomPrompt="1"/>
          </p:nvPr>
        </p:nvSpPr>
        <p:spPr bwMode="gray">
          <a:xfrm>
            <a:off x="4063199"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79556539"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03391811"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836037430" name="Footer Placeholder"/>
          <p:cNvSpPr>
            <a:spLocks noGrp="1"/>
          </p:cNvSpPr>
          <p:nvPr>
            <p:ph type="ftr" sz="quarter" idx="19"/>
          </p:nvPr>
        </p:nvSpPr>
        <p:spPr bwMode="auto"/>
        <p:txBody>
          <a:bodyPr/>
          <a:lstStyle/>
          <a:p>
            <a:pPr>
              <a:defRPr/>
            </a:pPr>
            <a:r>
              <a:rPr lang="en-US"/>
              <a:t>Footer text</a:t>
            </a:r>
            <a:endParaRPr/>
          </a:p>
        </p:txBody>
      </p:sp>
      <p:sp>
        <p:nvSpPr>
          <p:cNvPr id="1127123251"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81091448"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74950391"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04004557"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40593669"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99516468"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9553919"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06341422"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45999356"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81011574"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68736898"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534669253"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980604937" name="Footer Placeholder"/>
          <p:cNvSpPr>
            <a:spLocks noGrp="1"/>
          </p:cNvSpPr>
          <p:nvPr>
            <p:ph type="ftr" sz="quarter" idx="18"/>
          </p:nvPr>
        </p:nvSpPr>
        <p:spPr bwMode="auto"/>
        <p:txBody>
          <a:bodyPr/>
          <a:lstStyle/>
          <a:p>
            <a:pPr>
              <a:defRPr/>
            </a:pPr>
            <a:r>
              <a:rPr lang="en-US"/>
              <a:t>Footer text</a:t>
            </a:r>
            <a:endParaRPr/>
          </a:p>
        </p:txBody>
      </p:sp>
      <p:sp>
        <p:nvSpPr>
          <p:cNvPr id="662622827"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054678404"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324111724" name="Footer Placeholder"/>
          <p:cNvSpPr>
            <a:spLocks noGrp="1"/>
          </p:cNvSpPr>
          <p:nvPr>
            <p:ph type="ftr" sz="quarter" idx="14"/>
          </p:nvPr>
        </p:nvSpPr>
        <p:spPr bwMode="auto"/>
        <p:txBody>
          <a:bodyPr/>
          <a:lstStyle/>
          <a:p>
            <a:pPr>
              <a:defRPr/>
            </a:pPr>
            <a:r>
              <a:rPr lang="en-US"/>
              <a:t>Footer text</a:t>
            </a:r>
            <a:endParaRPr/>
          </a:p>
        </p:txBody>
      </p:sp>
      <p:sp>
        <p:nvSpPr>
          <p:cNvPr id="20111195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36023634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671021614"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841543" name="Footer Placeholder"/>
          <p:cNvSpPr>
            <a:spLocks noGrp="1"/>
          </p:cNvSpPr>
          <p:nvPr>
            <p:ph type="ftr" sz="quarter" idx="17"/>
          </p:nvPr>
        </p:nvSpPr>
        <p:spPr bwMode="auto"/>
        <p:txBody>
          <a:bodyPr/>
          <a:lstStyle/>
          <a:p>
            <a:pPr>
              <a:defRPr/>
            </a:pPr>
            <a:r>
              <a:rPr lang="en-US"/>
              <a:t>Footer text</a:t>
            </a:r>
            <a:endParaRPr/>
          </a:p>
        </p:txBody>
      </p:sp>
      <p:sp>
        <p:nvSpPr>
          <p:cNvPr id="297094517"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40992824"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60446020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1205154539" name="Footer Placeholder"/>
          <p:cNvSpPr>
            <a:spLocks noGrp="1"/>
          </p:cNvSpPr>
          <p:nvPr>
            <p:ph type="ftr" sz="quarter" idx="10"/>
          </p:nvPr>
        </p:nvSpPr>
        <p:spPr bwMode="auto"/>
        <p:txBody>
          <a:bodyPr/>
          <a:lstStyle/>
          <a:p>
            <a:pPr>
              <a:defRPr/>
            </a:pPr>
            <a:r>
              <a:rPr lang="en-US"/>
              <a:t>Footer text</a:t>
            </a:r>
            <a:endParaRPr/>
          </a:p>
        </p:txBody>
      </p:sp>
      <p:sp>
        <p:nvSpPr>
          <p:cNvPr id="72291027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6271694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marL="0" lvl="0">
              <a:defRPr/>
            </a:pPr>
            <a:r>
              <a:rPr lang="en-US"/>
              <a:t>Click to add title</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Empty silver-blue ">
    <p:spTree>
      <p:nvGrpSpPr>
        <p:cNvPr id="1" name=""/>
        <p:cNvGrpSpPr/>
        <p:nvPr/>
      </p:nvGrpSpPr>
      <p:grpSpPr bwMode="auto">
        <a:xfrm>
          <a:off x="0" y="0"/>
          <a:ext cx="0" cy="0"/>
          <a:chOff x="0" y="0"/>
          <a:chExt cx="0" cy="0"/>
        </a:xfrm>
      </p:grpSpPr>
      <p:sp>
        <p:nvSpPr>
          <p:cNvPr id="11913358" name="Footer Placeholder"/>
          <p:cNvSpPr>
            <a:spLocks noGrp="1"/>
          </p:cNvSpPr>
          <p:nvPr>
            <p:ph type="ftr" sz="quarter" idx="10"/>
          </p:nvPr>
        </p:nvSpPr>
        <p:spPr bwMode="auto"/>
        <p:txBody>
          <a:bodyPr/>
          <a:lstStyle/>
          <a:p>
            <a:pPr>
              <a:defRPr/>
            </a:pPr>
            <a:r>
              <a:rPr lang="en-US"/>
              <a:t>Footer text</a:t>
            </a:r>
            <a:endParaRPr/>
          </a:p>
        </p:txBody>
      </p:sp>
      <p:sp>
        <p:nvSpPr>
          <p:cNvPr id="210860721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1026362091" name="Picture 2"/>
          <p:cNvPicPr>
            <a:picLocks noChangeAspect="1"/>
          </p:cNvPicPr>
          <p:nvPr userDrawn="1"/>
        </p:nvPicPr>
        <p:blipFill rotWithShape="1">
          <a:blip r:embed="rId2"/>
          <a:stretch/>
        </p:blipFill>
        <p:spPr bwMode="auto">
          <a:xfrm>
            <a:off x="0" y="1089024"/>
            <a:ext cx="12192000" cy="5768975"/>
          </a:xfrm>
          <a:prstGeom prst="rect">
            <a:avLst/>
          </a:prstGeom>
          <a:ln w="6350">
            <a:solidFill>
              <a:schemeClr val="bg1">
                <a:lumMod val="95000"/>
              </a:schemeClr>
            </a:solidFill>
          </a:ln>
        </p:spPr>
      </p:pic>
      <p:sp>
        <p:nvSpPr>
          <p:cNvPr id="170623127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solidFill>
                  <a:schemeClr val="bg1"/>
                </a:solidFill>
              </a:defRPr>
            </a:lvl1pPr>
          </a:lstStyle>
          <a:p>
            <a:pPr marL="0" lvl="0">
              <a:defRPr/>
            </a:pPr>
            <a:r>
              <a:rPr lang="en-US"/>
              <a:t>Click to add title</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995908208" name="Footer Placeholder"/>
          <p:cNvSpPr>
            <a:spLocks noGrp="1"/>
          </p:cNvSpPr>
          <p:nvPr>
            <p:ph type="ftr" sz="quarter" idx="12"/>
          </p:nvPr>
        </p:nvSpPr>
        <p:spPr bwMode="auto"/>
        <p:txBody>
          <a:bodyPr/>
          <a:lstStyle/>
          <a:p>
            <a:pPr>
              <a:defRPr/>
            </a:pPr>
            <a:r>
              <a:rPr lang="en-US"/>
              <a:t>Footer text</a:t>
            </a:r>
            <a:endParaRPr/>
          </a:p>
        </p:txBody>
      </p:sp>
      <p:sp>
        <p:nvSpPr>
          <p:cNvPr id="2053818538"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995225246"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422551170"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40591010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203932336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1756254469"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t>Contact</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23211374" name="Footer Placeholder"/>
          <p:cNvSpPr>
            <a:spLocks noGrp="1"/>
          </p:cNvSpPr>
          <p:nvPr>
            <p:ph type="ftr" sz="quarter" idx="12"/>
          </p:nvPr>
        </p:nvSpPr>
        <p:spPr bwMode="auto"/>
        <p:txBody>
          <a:bodyPr/>
          <a:lstStyle/>
          <a:p>
            <a:pPr>
              <a:defRPr/>
            </a:pPr>
            <a:r>
              <a:rPr lang="en-US"/>
              <a:t>Footer text</a:t>
            </a:r>
            <a:endParaRPr/>
          </a:p>
        </p:txBody>
      </p:sp>
      <p:sp>
        <p:nvSpPr>
          <p:cNvPr id="469823899"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6269081"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037494074"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26825905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450884432"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769833000"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ts val="0"/>
              </a:spcBef>
              <a:buNone/>
              <a:defRPr sz="2200" b="1">
                <a:solidFill>
                  <a:schemeClr val="bg1"/>
                </a:solidFill>
                <a:latin typeface="Arial"/>
                <a:ea typeface="+mj-ea"/>
                <a:cs typeface="Arial"/>
              </a:defRPr>
            </a:lvl1pPr>
          </a:lstStyle>
          <a:p>
            <a:pPr lvl="0">
              <a:defRPr/>
            </a:pPr>
            <a:r>
              <a:rPr lang="de-DE"/>
              <a:t>Kontakt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244830721" name="Footer Placeholder"/>
          <p:cNvSpPr>
            <a:spLocks noGrp="1"/>
          </p:cNvSpPr>
          <p:nvPr>
            <p:ph type="ftr" sz="quarter" idx="12"/>
          </p:nvPr>
        </p:nvSpPr>
        <p:spPr bwMode="auto"/>
        <p:txBody>
          <a:bodyPr/>
          <a:lstStyle/>
          <a:p>
            <a:pPr>
              <a:defRPr/>
            </a:pPr>
            <a:r>
              <a:rPr lang="en-US"/>
              <a:t>Footer text</a:t>
            </a:r>
            <a:endParaRPr/>
          </a:p>
        </p:txBody>
      </p:sp>
      <p:sp>
        <p:nvSpPr>
          <p:cNvPr id="186831418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385112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567881450"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352308480"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1811295432"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481065440"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52724276" name="Footer Placeholder"/>
          <p:cNvSpPr>
            <a:spLocks noGrp="1"/>
          </p:cNvSpPr>
          <p:nvPr>
            <p:ph type="ftr" sz="quarter" idx="10"/>
          </p:nvPr>
        </p:nvSpPr>
        <p:spPr bwMode="auto"/>
        <p:txBody>
          <a:bodyPr/>
          <a:lstStyle/>
          <a:p>
            <a:pPr>
              <a:defRPr/>
            </a:pPr>
            <a:r>
              <a:rPr lang="en-US"/>
              <a:t>Footer text</a:t>
            </a:r>
            <a:endParaRPr/>
          </a:p>
        </p:txBody>
      </p:sp>
      <p:sp>
        <p:nvSpPr>
          <p:cNvPr id="1930640427"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927639567" name="Bildplatzhalter 4"/>
          <p:cNvPicPr>
            <a:picLocks noChangeAspect="1"/>
          </p:cNvPicPr>
          <p:nvPr userDrawn="1"/>
        </p:nvPicPr>
        <p:blipFill rotWithShape="1">
          <a:blip r:embed="rId2"/>
          <a:srcRect l="11" t="0" r="10" b="0"/>
          <a:stretch/>
        </p:blipFill>
        <p:spPr bwMode="gray">
          <a:xfrm>
            <a:off x="0" y="-1"/>
            <a:ext cx="12199938" cy="6858001"/>
          </a:xfrm>
          <a:prstGeom prst="rect">
            <a:avLst/>
          </a:prstGeom>
        </p:spPr>
      </p:pic>
      <p:sp>
        <p:nvSpPr>
          <p:cNvPr id="372729698"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pic>
        <p:nvPicPr>
          <p:cNvPr id="1222587025" name="Bildplatzhalter 4"/>
          <p:cNvPicPr>
            <a:picLocks noChangeAspect="1"/>
          </p:cNvPicPr>
          <p:nvPr userDrawn="1"/>
        </p:nvPicPr>
        <p:blipFill rotWithShape="1">
          <a:blip r:embed="rId2"/>
          <a:srcRect l="11" t="0" r="10" b="0"/>
          <a:stretch/>
        </p:blipFill>
        <p:spPr bwMode="gray">
          <a:xfrm>
            <a:off x="0" y="1"/>
            <a:ext cx="12199938" cy="6858000"/>
          </a:xfrm>
          <a:prstGeom prst="rect">
            <a:avLst/>
          </a:prstGeom>
        </p:spPr>
      </p:pic>
      <p:sp>
        <p:nvSpPr>
          <p:cNvPr id="642019166"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710437472" name="Footer Placeholder"/>
          <p:cNvSpPr>
            <a:spLocks noGrp="1"/>
          </p:cNvSpPr>
          <p:nvPr>
            <p:ph type="ftr" sz="quarter" idx="11"/>
          </p:nvPr>
        </p:nvSpPr>
        <p:spPr bwMode="auto">
          <a:prstGeom prst="rect">
            <a:avLst/>
          </a:prstGeom>
          <a:noFill/>
        </p:spPr>
        <p:txBody>
          <a:bodyPr/>
          <a:lstStyle/>
          <a:p>
            <a:pPr>
              <a:defRPr/>
            </a:pPr>
            <a:r>
              <a:rPr lang="en-US"/>
              <a:t>Footer text</a:t>
            </a:r>
            <a:endParaRPr/>
          </a:p>
        </p:txBody>
      </p:sp>
      <p:sp>
        <p:nvSpPr>
          <p:cNvPr id="868906937" name="Slide Number Placeholder"/>
          <p:cNvSpPr>
            <a:spLocks noGrp="1"/>
          </p:cNvSpPr>
          <p:nvPr>
            <p:ph type="sldNum" sz="quarter" idx="12"/>
          </p:nvPr>
        </p:nvSpPr>
        <p:spPr bwMode="auto">
          <a:prstGeom prst="rect">
            <a:avLst/>
          </a:prstGeom>
          <a:noFill/>
        </p:spPr>
        <p:txBody>
          <a:bodyPr/>
          <a:lstStyle/>
          <a:p>
            <a:pPr>
              <a:defRPr/>
            </a:pPr>
            <a:fld id="{A930EF64-91C9-4EBD-82F9-3643AB15A28C}" type="slidenum">
              <a:rPr lang="en-US"/>
              <a:t>‹#›</a:t>
            </a:fld>
            <a:endParaRPr lang="en-US"/>
          </a:p>
        </p:txBody>
      </p:sp>
      <p:sp>
        <p:nvSpPr>
          <p:cNvPr id="1257757291" name="Text Placeholder"/>
          <p:cNvSpPr>
            <a:spLocks noGrp="1"/>
          </p:cNvSpPr>
          <p:nvPr>
            <p:ph type="body" sz="quarter" idx="10" hasCustomPrompt="1"/>
          </p:nvPr>
        </p:nvSpPr>
        <p:spPr bwMode="auto">
          <a:xfrm>
            <a:off x="0" y="1089025"/>
            <a:ext cx="6098400" cy="5772150"/>
          </a:xfrm>
          <a:prstGeom prst="rect">
            <a:avLst/>
          </a:prstGeom>
          <a:no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38749065"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1629086967" name="Footer Placeholder"/>
          <p:cNvSpPr>
            <a:spLocks noGrp="1"/>
          </p:cNvSpPr>
          <p:nvPr>
            <p:ph type="ftr" sz="quarter" idx="10"/>
          </p:nvPr>
        </p:nvSpPr>
        <p:spPr bwMode="auto"/>
        <p:txBody>
          <a:bodyPr/>
          <a:lstStyle/>
          <a:p>
            <a:pPr>
              <a:defRPr/>
            </a:pPr>
            <a:r>
              <a:rPr lang="en-US"/>
              <a:t>Footer text</a:t>
            </a:r>
            <a:endParaRPr/>
          </a:p>
        </p:txBody>
      </p:sp>
      <p:sp>
        <p:nvSpPr>
          <p:cNvPr id="1527932654"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392940793"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172921062"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03370059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solidFill>
                  <a:schemeClr val="bg1"/>
                </a:solidFill>
              </a:defRPr>
            </a:lvl1pPr>
          </a:lstStyle>
          <a:p>
            <a:pPr lvl="0">
              <a:defRPr/>
            </a:pPr>
            <a:r>
              <a:rPr lang="en-US"/>
              <a:t>Click to add title</a:t>
            </a:r>
            <a:endParaRPr/>
          </a:p>
        </p:txBody>
      </p:sp>
      <p:pic>
        <p:nvPicPr>
          <p:cNvPr id="127748884"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310373658"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127421393" name="Footer Placeholder"/>
          <p:cNvSpPr>
            <a:spLocks noGrp="1"/>
          </p:cNvSpPr>
          <p:nvPr>
            <p:ph type="ftr" sz="quarter" idx="10"/>
          </p:nvPr>
        </p:nvSpPr>
        <p:spPr bwMode="auto"/>
        <p:txBody>
          <a:bodyPr/>
          <a:lstStyle/>
          <a:p>
            <a:pPr>
              <a:defRPr/>
            </a:pPr>
            <a:r>
              <a:rPr lang="en-US"/>
              <a:t>Footer text</a:t>
            </a:r>
            <a:endParaRPr/>
          </a:p>
        </p:txBody>
      </p:sp>
      <p:sp>
        <p:nvSpPr>
          <p:cNvPr id="51671393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663293526"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629471764"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0115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solidFill>
                  <a:schemeClr val="bg1"/>
                </a:solidFill>
              </a:defRPr>
            </a:lvl1pPr>
          </a:lstStyle>
          <a:p>
            <a:pPr lvl="0">
              <a:defRPr/>
            </a:pPr>
            <a:r>
              <a:rPr lang="en-US"/>
              <a:t>Click to add title</a:t>
            </a:r>
            <a:endParaRPr/>
          </a:p>
        </p:txBody>
      </p:sp>
      <p:pic>
        <p:nvPicPr>
          <p:cNvPr id="196892597"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944280597"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182193359" name="Footer Placeholder"/>
          <p:cNvSpPr>
            <a:spLocks noGrp="1"/>
          </p:cNvSpPr>
          <p:nvPr>
            <p:ph type="ftr" sz="quarter" idx="16"/>
          </p:nvPr>
        </p:nvSpPr>
        <p:spPr bwMode="auto"/>
        <p:txBody>
          <a:bodyPr/>
          <a:lstStyle/>
          <a:p>
            <a:pPr>
              <a:defRPr/>
            </a:pPr>
            <a:r>
              <a:rPr lang="en-US"/>
              <a:t>Footer text</a:t>
            </a:r>
            <a:endParaRPr/>
          </a:p>
        </p:txBody>
      </p:sp>
      <p:sp>
        <p:nvSpPr>
          <p:cNvPr id="223041351"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9117759"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42870397"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2131996566" name="Footer Placeholder"/>
          <p:cNvSpPr>
            <a:spLocks noGrp="1"/>
          </p:cNvSpPr>
          <p:nvPr>
            <p:ph type="ftr" sz="quarter" idx="16"/>
          </p:nvPr>
        </p:nvSpPr>
        <p:spPr bwMode="auto"/>
        <p:txBody>
          <a:bodyPr/>
          <a:lstStyle/>
          <a:p>
            <a:pPr>
              <a:defRPr/>
            </a:pPr>
            <a:r>
              <a:rPr lang="en-US"/>
              <a:t>Footer text</a:t>
            </a:r>
            <a:endParaRPr/>
          </a:p>
        </p:txBody>
      </p:sp>
      <p:sp>
        <p:nvSpPr>
          <p:cNvPr id="1173469613"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4003095"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4521739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100135057" name="Footer Placeholder"/>
          <p:cNvSpPr>
            <a:spLocks noGrp="1"/>
          </p:cNvSpPr>
          <p:nvPr>
            <p:ph type="ftr" sz="quarter" idx="17"/>
          </p:nvPr>
        </p:nvSpPr>
        <p:spPr bwMode="auto"/>
        <p:txBody>
          <a:bodyPr/>
          <a:lstStyle/>
          <a:p>
            <a:pPr>
              <a:defRPr/>
            </a:pPr>
            <a:r>
              <a:rPr lang="en-US"/>
              <a:t>Footer text</a:t>
            </a:r>
            <a:endParaRPr/>
          </a:p>
        </p:txBody>
      </p:sp>
      <p:sp>
        <p:nvSpPr>
          <p:cNvPr id="249762340"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477590741" name="Picture Placeholder 2"/>
          <p:cNvSpPr>
            <a:spLocks noChangeAspect="1" noGrp="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94262539" name="Picture Placeholder 1"/>
          <p:cNvSpPr>
            <a:spLocks noChangeAspect="1" noGrp="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51094829"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30662078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896628804" name="Footer Placeholder"/>
          <p:cNvSpPr>
            <a:spLocks noGrp="1"/>
          </p:cNvSpPr>
          <p:nvPr>
            <p:ph type="ftr" sz="quarter" idx="16"/>
          </p:nvPr>
        </p:nvSpPr>
        <p:spPr bwMode="auto"/>
        <p:txBody>
          <a:bodyPr/>
          <a:lstStyle/>
          <a:p>
            <a:pPr>
              <a:defRPr/>
            </a:pPr>
            <a:r>
              <a:rPr lang="en-US"/>
              <a:t>Footer text</a:t>
            </a:r>
            <a:endParaRPr/>
          </a:p>
        </p:txBody>
      </p:sp>
      <p:sp>
        <p:nvSpPr>
          <p:cNvPr id="17076685"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845440193"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794506843"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612587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233894909" name="Footer Placeholder"/>
          <p:cNvSpPr>
            <a:spLocks noGrp="1"/>
          </p:cNvSpPr>
          <p:nvPr>
            <p:ph type="ftr" sz="quarter" idx="16"/>
          </p:nvPr>
        </p:nvSpPr>
        <p:spPr bwMode="auto"/>
        <p:txBody>
          <a:bodyPr/>
          <a:lstStyle/>
          <a:p>
            <a:pPr>
              <a:defRPr/>
            </a:pPr>
            <a:r>
              <a:rPr lang="en-US"/>
              <a:t>Footer text</a:t>
            </a:r>
            <a:endParaRPr/>
          </a:p>
        </p:txBody>
      </p:sp>
      <p:sp>
        <p:nvSpPr>
          <p:cNvPr id="355507318"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148057097"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907921"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548477797"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753444255" name="Footer Placeholder"/>
          <p:cNvSpPr>
            <a:spLocks noGrp="1"/>
          </p:cNvSpPr>
          <p:nvPr>
            <p:ph type="ftr" sz="quarter" idx="17"/>
          </p:nvPr>
        </p:nvSpPr>
        <p:spPr bwMode="auto"/>
        <p:txBody>
          <a:bodyPr/>
          <a:lstStyle/>
          <a:p>
            <a:pPr>
              <a:defRPr/>
            </a:pPr>
            <a:r>
              <a:rPr lang="en-US"/>
              <a:t>Footer text</a:t>
            </a:r>
            <a:endParaRPr/>
          </a:p>
        </p:txBody>
      </p:sp>
      <p:sp>
        <p:nvSpPr>
          <p:cNvPr id="1697653189"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547328392"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91267291"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2109283535"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04796665"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875359889" name="Footer Placeholder"/>
          <p:cNvSpPr>
            <a:spLocks noGrp="1"/>
          </p:cNvSpPr>
          <p:nvPr>
            <p:ph type="ftr" sz="quarter" idx="18"/>
          </p:nvPr>
        </p:nvSpPr>
        <p:spPr bwMode="auto"/>
        <p:txBody>
          <a:bodyPr/>
          <a:lstStyle/>
          <a:p>
            <a:pPr>
              <a:defRPr/>
            </a:pPr>
            <a:r>
              <a:rPr lang="en-US"/>
              <a:t>Footer text</a:t>
            </a:r>
            <a:endParaRPr/>
          </a:p>
        </p:txBody>
      </p:sp>
      <p:sp>
        <p:nvSpPr>
          <p:cNvPr id="1376916742"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626747823" name="Picture Placeholder 3"/>
          <p:cNvSpPr>
            <a:spLocks noGrp="1"/>
          </p:cNvSpPr>
          <p:nvPr>
            <p:ph type="pic" sz="quarter" idx="17" hasCustomPrompt="1"/>
          </p:nvPr>
        </p:nvSpPr>
        <p:spPr bwMode="gray">
          <a:xfrm>
            <a:off x="91512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905866850" name="Picture Placeholder 2"/>
          <p:cNvSpPr>
            <a:spLocks noGrp="1"/>
          </p:cNvSpPr>
          <p:nvPr>
            <p:ph type="pic" sz="quarter" idx="16" hasCustomPrompt="1"/>
          </p:nvPr>
        </p:nvSpPr>
        <p:spPr bwMode="gray">
          <a:xfrm>
            <a:off x="60984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6030381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8378731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0696390" name="Titel 7"/>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1342660886" name="Footer Placeholder"/>
          <p:cNvSpPr>
            <a:spLocks noGrp="1"/>
          </p:cNvSpPr>
          <p:nvPr>
            <p:ph type="ftr" sz="quarter" idx="19"/>
          </p:nvPr>
        </p:nvSpPr>
        <p:spPr bwMode="auto"/>
        <p:txBody>
          <a:bodyPr/>
          <a:lstStyle/>
          <a:p>
            <a:pPr>
              <a:defRPr/>
            </a:pPr>
            <a:r>
              <a:rPr lang="en-US"/>
              <a:t>Footer text</a:t>
            </a:r>
            <a:endParaRPr/>
          </a:p>
        </p:txBody>
      </p:sp>
      <p:sp>
        <p:nvSpPr>
          <p:cNvPr id="1842663968"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954952799" name="Picture Placeholder 3"/>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1459958012" name="Picture Placeholder 2"/>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661245586" name="Picture Placeholder 1"/>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5885014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933489105"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191690794" name="Footer Placeholder"/>
          <p:cNvSpPr>
            <a:spLocks noGrp="1"/>
          </p:cNvSpPr>
          <p:nvPr>
            <p:ph type="ftr" sz="quarter" idx="15"/>
          </p:nvPr>
        </p:nvSpPr>
        <p:spPr bwMode="auto"/>
        <p:txBody>
          <a:bodyPr/>
          <a:lstStyle/>
          <a:p>
            <a:pPr>
              <a:defRPr/>
            </a:pPr>
            <a:r>
              <a:rPr lang="en-US"/>
              <a:t>Footer text</a:t>
            </a:r>
            <a:endParaRPr/>
          </a:p>
        </p:txBody>
      </p:sp>
      <p:sp>
        <p:nvSpPr>
          <p:cNvPr id="219508773"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147726822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704493083"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754856802"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666452797"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694010860" name="Footer Placeholder"/>
          <p:cNvSpPr>
            <a:spLocks noGrp="1"/>
          </p:cNvSpPr>
          <p:nvPr>
            <p:ph type="ftr" sz="quarter" idx="16"/>
          </p:nvPr>
        </p:nvSpPr>
        <p:spPr bwMode="auto"/>
        <p:txBody>
          <a:bodyPr/>
          <a:lstStyle/>
          <a:p>
            <a:pPr>
              <a:defRPr/>
            </a:pPr>
            <a:r>
              <a:rPr lang="en-US"/>
              <a:t>Footer text</a:t>
            </a:r>
            <a:endParaRPr/>
          </a:p>
        </p:txBody>
      </p:sp>
      <p:sp>
        <p:nvSpPr>
          <p:cNvPr id="206143132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60981607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a:lvl1pPr>
          </a:lstStyle>
          <a:p>
            <a:pPr lvl="0">
              <a:defRPr/>
            </a:pPr>
            <a:r>
              <a:rPr lang="en-US"/>
              <a:t>Click to edit text</a:t>
            </a:r>
            <a:endParaRPr/>
          </a:p>
        </p:txBody>
      </p:sp>
      <p:sp>
        <p:nvSpPr>
          <p:cNvPr id="853062912"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820427988"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383132581"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32540242" name="Footer Placeholder"/>
          <p:cNvSpPr>
            <a:spLocks noGrp="1"/>
          </p:cNvSpPr>
          <p:nvPr>
            <p:ph type="ftr" sz="quarter" idx="19"/>
          </p:nvPr>
        </p:nvSpPr>
        <p:spPr bwMode="auto"/>
        <p:txBody>
          <a:bodyPr/>
          <a:lstStyle/>
          <a:p>
            <a:pPr>
              <a:defRPr/>
            </a:pPr>
            <a:r>
              <a:rPr lang="en-US"/>
              <a:t>Footer text</a:t>
            </a:r>
            <a:endParaRPr/>
          </a:p>
        </p:txBody>
      </p:sp>
      <p:sp>
        <p:nvSpPr>
          <p:cNvPr id="1645865615"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816033262"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587452831"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616276647"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11480569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a:lvl1pPr>
            <a:lvl2pPr marL="360362" indent="0">
              <a:buNone/>
              <a:defRPr/>
            </a:lvl2pPr>
          </a:lstStyle>
          <a:p>
            <a:pPr lvl="0">
              <a:defRPr/>
            </a:pPr>
            <a:r>
              <a:rPr lang="en-US"/>
              <a:t>Click to edit text </a:t>
            </a:r>
            <a:endParaRPr/>
          </a:p>
        </p:txBody>
      </p:sp>
      <p:sp>
        <p:nvSpPr>
          <p:cNvPr id="1210530207" name="Titel 10"/>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385716891" name="Footer Placeholder"/>
          <p:cNvSpPr>
            <a:spLocks noGrp="1"/>
          </p:cNvSpPr>
          <p:nvPr>
            <p:ph type="ftr" sz="quarter" idx="16"/>
          </p:nvPr>
        </p:nvSpPr>
        <p:spPr bwMode="auto"/>
        <p:txBody>
          <a:bodyPr/>
          <a:lstStyle/>
          <a:p>
            <a:pPr>
              <a:defRPr/>
            </a:pPr>
            <a:r>
              <a:rPr lang="en-US"/>
              <a:t>Footer text</a:t>
            </a:r>
            <a:endParaRPr/>
          </a:p>
        </p:txBody>
      </p:sp>
      <p:sp>
        <p:nvSpPr>
          <p:cNvPr id="16037574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103747089"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592592900"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925127854"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107228858"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220819251" name="Footer Placeholder"/>
          <p:cNvSpPr>
            <a:spLocks noGrp="1"/>
          </p:cNvSpPr>
          <p:nvPr>
            <p:ph type="ftr" sz="quarter" idx="17"/>
          </p:nvPr>
        </p:nvSpPr>
        <p:spPr bwMode="auto"/>
        <p:txBody>
          <a:bodyPr/>
          <a:lstStyle/>
          <a:p>
            <a:pPr>
              <a:defRPr/>
            </a:pPr>
            <a:r>
              <a:rPr lang="en-US"/>
              <a:t>Footer text</a:t>
            </a:r>
            <a:endParaRPr/>
          </a:p>
        </p:txBody>
      </p:sp>
      <p:sp>
        <p:nvSpPr>
          <p:cNvPr id="1477510036"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24852523"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649848202" name="Titel 3"/>
          <p:cNvSpPr>
            <a:spLocks noGrp="1"/>
          </p:cNvSpPr>
          <p:nvPr>
            <p:ph type="title" hasCustomPrompt="1"/>
          </p:nvPr>
        </p:nvSpPr>
        <p:spPr bwMode="auto"/>
        <p:txBody>
          <a:bodyPr/>
          <a:lstStyle/>
          <a:p>
            <a:pPr>
              <a:defRPr/>
            </a:pPr>
            <a:r>
              <a:rPr/>
              <a:t>Click to add title</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631989064" name="Footer Placeholder"/>
          <p:cNvSpPr>
            <a:spLocks noGrp="1"/>
          </p:cNvSpPr>
          <p:nvPr>
            <p:ph type="ftr" sz="quarter" idx="12"/>
          </p:nvPr>
        </p:nvSpPr>
        <p:spPr bwMode="auto"/>
        <p:txBody>
          <a:bodyPr/>
          <a:lstStyle/>
          <a:p>
            <a:pPr>
              <a:defRPr/>
            </a:pPr>
            <a:r>
              <a:rPr lang="en-US"/>
              <a:t>Footer text</a:t>
            </a:r>
            <a:endParaRPr/>
          </a:p>
        </p:txBody>
      </p:sp>
      <p:sp>
        <p:nvSpPr>
          <p:cNvPr id="903334395"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771586536"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35511809"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39341462"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923511179" name="Footer Placeholder"/>
          <p:cNvSpPr>
            <a:spLocks noGrp="1"/>
          </p:cNvSpPr>
          <p:nvPr>
            <p:ph type="ftr" sz="quarter" idx="14"/>
          </p:nvPr>
        </p:nvSpPr>
        <p:spPr bwMode="auto"/>
        <p:txBody>
          <a:bodyPr/>
          <a:lstStyle/>
          <a:p>
            <a:pPr>
              <a:defRPr/>
            </a:pPr>
            <a:r>
              <a:rPr lang="en-US"/>
              <a:t>Footer text</a:t>
            </a:r>
            <a:endParaRPr/>
          </a:p>
        </p:txBody>
      </p:sp>
      <p:sp>
        <p:nvSpPr>
          <p:cNvPr id="1979193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215412294"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44216733"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23348316"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31447661"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46659039"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843679634" name="Footer Placeholder"/>
          <p:cNvSpPr>
            <a:spLocks noGrp="1"/>
          </p:cNvSpPr>
          <p:nvPr>
            <p:ph type="ftr" sz="quarter" idx="16"/>
          </p:nvPr>
        </p:nvSpPr>
        <p:spPr bwMode="auto"/>
        <p:txBody>
          <a:bodyPr/>
          <a:lstStyle/>
          <a:p>
            <a:pPr>
              <a:defRPr/>
            </a:pPr>
            <a:r>
              <a:rPr lang="en-US"/>
              <a:t>Footer text</a:t>
            </a:r>
            <a:endParaRPr/>
          </a:p>
        </p:txBody>
      </p:sp>
      <p:sp>
        <p:nvSpPr>
          <p:cNvPr id="129100963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85224567"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2927995" name="Picture Placeholder 5"/>
          <p:cNvSpPr>
            <a:spLocks noGrp="1"/>
          </p:cNvSpPr>
          <p:nvPr>
            <p:ph type="pic" sz="quarter" idx="14" hasCustomPrompt="1"/>
          </p:nvPr>
        </p:nvSpPr>
        <p:spPr bwMode="gray">
          <a:xfrm>
            <a:off x="4063199"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21746912"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60275794"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40437443" name="Picture Placeholder 2"/>
          <p:cNvSpPr>
            <a:spLocks noGrp="1"/>
          </p:cNvSpPr>
          <p:nvPr>
            <p:ph type="pic" sz="quarter" idx="11" hasCustomPrompt="1"/>
          </p:nvPr>
        </p:nvSpPr>
        <p:spPr bwMode="gray">
          <a:xfrm>
            <a:off x="4063199"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49420717"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72536586"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169192204" name="Footer Placeholder"/>
          <p:cNvSpPr>
            <a:spLocks noGrp="1"/>
          </p:cNvSpPr>
          <p:nvPr>
            <p:ph type="ftr" sz="quarter" idx="19"/>
          </p:nvPr>
        </p:nvSpPr>
        <p:spPr bwMode="auto"/>
        <p:txBody>
          <a:bodyPr/>
          <a:lstStyle/>
          <a:p>
            <a:pPr>
              <a:defRPr/>
            </a:pPr>
            <a:r>
              <a:rPr lang="en-US"/>
              <a:t>Footer text</a:t>
            </a:r>
            <a:endParaRPr/>
          </a:p>
        </p:txBody>
      </p:sp>
      <p:sp>
        <p:nvSpPr>
          <p:cNvPr id="915112347"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753819691"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095078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61975702"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04225556"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31698669"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22325049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70311135"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45165504"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26115949"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460486817"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1754117151"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1449269732" name="Footer Placeholder"/>
          <p:cNvSpPr>
            <a:spLocks noGrp="1"/>
          </p:cNvSpPr>
          <p:nvPr>
            <p:ph type="ftr" sz="quarter" idx="18"/>
          </p:nvPr>
        </p:nvSpPr>
        <p:spPr bwMode="auto"/>
        <p:txBody>
          <a:bodyPr/>
          <a:lstStyle/>
          <a:p>
            <a:pPr>
              <a:defRPr/>
            </a:pPr>
            <a:r>
              <a:rPr lang="en-US"/>
              <a:t>Footer text</a:t>
            </a:r>
            <a:endParaRPr/>
          </a:p>
        </p:txBody>
      </p:sp>
      <p:sp>
        <p:nvSpPr>
          <p:cNvPr id="520856370"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951199906"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810201790" name="Footer Placeholder"/>
          <p:cNvSpPr>
            <a:spLocks noGrp="1"/>
          </p:cNvSpPr>
          <p:nvPr>
            <p:ph type="ftr" sz="quarter" idx="14"/>
          </p:nvPr>
        </p:nvSpPr>
        <p:spPr bwMode="auto"/>
        <p:txBody>
          <a:bodyPr/>
          <a:lstStyle/>
          <a:p>
            <a:pPr>
              <a:defRPr/>
            </a:pPr>
            <a:r>
              <a:rPr lang="en-US"/>
              <a:t>Footer text</a:t>
            </a:r>
            <a:endParaRPr/>
          </a:p>
        </p:txBody>
      </p:sp>
      <p:sp>
        <p:nvSpPr>
          <p:cNvPr id="560729941"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63622539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138273729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56848" name="Footer Placeholder"/>
          <p:cNvSpPr>
            <a:spLocks noGrp="1"/>
          </p:cNvSpPr>
          <p:nvPr>
            <p:ph type="ftr" sz="quarter" idx="17"/>
          </p:nvPr>
        </p:nvSpPr>
        <p:spPr bwMode="auto"/>
        <p:txBody>
          <a:bodyPr/>
          <a:lstStyle/>
          <a:p>
            <a:pPr>
              <a:defRPr/>
            </a:pPr>
            <a:r>
              <a:rPr lang="en-US"/>
              <a:t>Footer text</a:t>
            </a:r>
            <a:endParaRPr/>
          </a:p>
        </p:txBody>
      </p:sp>
      <p:sp>
        <p:nvSpPr>
          <p:cNvPr id="1221952445"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32993887"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35470006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263294544" name="Footer Placeholder"/>
          <p:cNvSpPr>
            <a:spLocks noGrp="1"/>
          </p:cNvSpPr>
          <p:nvPr>
            <p:ph type="ftr" sz="quarter" idx="10"/>
          </p:nvPr>
        </p:nvSpPr>
        <p:spPr bwMode="auto"/>
        <p:txBody>
          <a:bodyPr/>
          <a:lstStyle/>
          <a:p>
            <a:pPr>
              <a:defRPr/>
            </a:pPr>
            <a:r>
              <a:rPr lang="en-US"/>
              <a:t>Footer text</a:t>
            </a:r>
            <a:endParaRPr/>
          </a:p>
        </p:txBody>
      </p:sp>
      <p:sp>
        <p:nvSpPr>
          <p:cNvPr id="91906662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13328838"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silver-blue">
    <p:spTree>
      <p:nvGrpSpPr>
        <p:cNvPr id="1" name=""/>
        <p:cNvGrpSpPr/>
        <p:nvPr/>
      </p:nvGrpSpPr>
      <p:grpSpPr bwMode="auto">
        <a:xfrm>
          <a:off x="0" y="0"/>
          <a:ext cx="0" cy="0"/>
          <a:chOff x="0" y="0"/>
          <a:chExt cx="0" cy="0"/>
        </a:xfrm>
      </p:grpSpPr>
      <p:pic>
        <p:nvPicPr>
          <p:cNvPr id="682271517" name="Picture 2"/>
          <p:cNvPicPr>
            <a:picLocks noChangeAspect="1"/>
          </p:cNvPicPr>
          <p:nvPr userDrawn="1"/>
        </p:nvPicPr>
        <p:blipFill rotWithShape="1">
          <a:blip r:embed="rId2"/>
          <a:stretch/>
        </p:blipFill>
        <p:spPr bwMode="auto">
          <a:xfrm>
            <a:off x="0" y="0"/>
            <a:ext cx="12192000" cy="6858000"/>
          </a:xfrm>
          <a:prstGeom prst="rect">
            <a:avLst/>
          </a:prstGeom>
        </p:spPr>
      </p:pic>
      <p:sp>
        <p:nvSpPr>
          <p:cNvPr id="1364585211" name="Title"/>
          <p:cNvSpPr>
            <a:spLocks noGrp="1"/>
          </p:cNvSpPr>
          <p:nvPr>
            <p:ph type="title" hasCustomPrompt="1"/>
          </p:nvPr>
        </p:nvSpPr>
        <p:spPr bwMode="auto">
          <a:xfrm>
            <a:off x="-1" y="112233"/>
            <a:ext cx="10137600" cy="629367"/>
          </a:xfrm>
          <a:prstGeom prst="rect">
            <a:avLst/>
          </a:prstGeom>
        </p:spPr>
        <p:txBody>
          <a:bodyPr vert="horz" wrap="square" lIns="450000" tIns="144000" rIns="90000" bIns="144000" rtlCol="0" anchor="t" anchorCtr="0">
            <a:spAutoFit/>
          </a:bodyPr>
          <a:lstStyle>
            <a:lvl1pPr>
              <a:defRPr lang="en-US">
                <a:solidFill>
                  <a:schemeClr val="tx1"/>
                </a:solidFill>
              </a:defRPr>
            </a:lvl1pPr>
          </a:lstStyle>
          <a:p>
            <a:pPr marL="0" lvl="0">
              <a:defRPr/>
            </a:pPr>
            <a:r>
              <a:rPr lang="en-US"/>
              <a:t>Click to add title </a:t>
            </a:r>
            <a:endParaRPr/>
          </a:p>
        </p:txBody>
      </p:sp>
      <p:sp>
        <p:nvSpPr>
          <p:cNvPr id="140009083" name="Footer Placeholder"/>
          <p:cNvSpPr>
            <a:spLocks noGrp="1"/>
          </p:cNvSpPr>
          <p:nvPr>
            <p:ph type="ftr" sz="quarter" idx="10"/>
          </p:nvPr>
        </p:nvSpPr>
        <p:spPr bwMode="auto"/>
        <p:txBody>
          <a:bodyPr/>
          <a:lstStyle/>
          <a:p>
            <a:pPr>
              <a:defRPr/>
            </a:pPr>
            <a:r>
              <a:rPr lang="en-US"/>
              <a:t>Footer text</a:t>
            </a:r>
            <a:endParaRPr/>
          </a:p>
        </p:txBody>
      </p:sp>
      <p:sp>
        <p:nvSpPr>
          <p:cNvPr id="97985020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1709873806" name="Footer Placeholder"/>
          <p:cNvSpPr>
            <a:spLocks noGrp="1"/>
          </p:cNvSpPr>
          <p:nvPr>
            <p:ph type="ftr" sz="quarter" idx="12"/>
          </p:nvPr>
        </p:nvSpPr>
        <p:spPr bwMode="auto"/>
        <p:txBody>
          <a:bodyPr/>
          <a:lstStyle/>
          <a:p>
            <a:pPr>
              <a:defRPr/>
            </a:pPr>
            <a:r>
              <a:rPr lang="en-US"/>
              <a:t>Footer text</a:t>
            </a:r>
            <a:endParaRPr/>
          </a:p>
        </p:txBody>
      </p:sp>
      <p:sp>
        <p:nvSpPr>
          <p:cNvPr id="121221567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907998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25015475"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11195116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111701191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676594410"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solidFill>
                  <a:schemeClr val="tx1"/>
                </a:solidFill>
              </a:rPr>
              <a:t>Contact</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767618313" name="Footer Placeholder"/>
          <p:cNvSpPr>
            <a:spLocks noGrp="1"/>
          </p:cNvSpPr>
          <p:nvPr>
            <p:ph type="ftr" sz="quarter" idx="12"/>
          </p:nvPr>
        </p:nvSpPr>
        <p:spPr bwMode="auto"/>
        <p:txBody>
          <a:bodyPr/>
          <a:lstStyle/>
          <a:p>
            <a:pPr>
              <a:defRPr/>
            </a:pPr>
            <a:r>
              <a:rPr lang="en-US"/>
              <a:t>Footer text</a:t>
            </a:r>
            <a:endParaRPr/>
          </a:p>
        </p:txBody>
      </p:sp>
      <p:sp>
        <p:nvSpPr>
          <p:cNvPr id="1915479616"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897247560"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58672891"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867198497"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2066409758"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909896746"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ts val="0"/>
              </a:spcBef>
              <a:buNone/>
              <a:defRPr sz="2200" b="1">
                <a:solidFill>
                  <a:schemeClr val="bg1"/>
                </a:solidFill>
                <a:latin typeface="Arial"/>
                <a:ea typeface="+mj-ea"/>
                <a:cs typeface="Arial"/>
              </a:defRPr>
            </a:lvl1pPr>
          </a:lstStyle>
          <a:p>
            <a:pPr lvl="0">
              <a:defRPr/>
            </a:pPr>
            <a:r>
              <a:rPr lang="de-DE">
                <a:solidFill>
                  <a:schemeClr val="tx1"/>
                </a:solidFill>
              </a:rPr>
              <a:t>Kontakt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473473617" name="Footer Placeholder"/>
          <p:cNvSpPr>
            <a:spLocks noGrp="1"/>
          </p:cNvSpPr>
          <p:nvPr>
            <p:ph type="ftr" sz="quarter" idx="12"/>
          </p:nvPr>
        </p:nvSpPr>
        <p:spPr bwMode="auto"/>
        <p:txBody>
          <a:bodyPr/>
          <a:lstStyle/>
          <a:p>
            <a:pPr>
              <a:defRPr/>
            </a:pPr>
            <a:r>
              <a:rPr lang="en-US"/>
              <a:t>Footer text</a:t>
            </a:r>
            <a:endParaRPr/>
          </a:p>
        </p:txBody>
      </p:sp>
      <p:sp>
        <p:nvSpPr>
          <p:cNvPr id="699864757"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78390224"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696983041"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941863862"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2075853323"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18069740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2105686093"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67020998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832942332"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66636345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335449490"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pPr>
              <a:defRPr/>
            </a:pPr>
            <a:r>
              <a:rPr lang="en-US"/>
              <a:t>Click to add title</a:t>
            </a:r>
            <a:endParaRPr/>
          </a:p>
        </p:txBody>
      </p:sp>
      <p:pic>
        <p:nvPicPr>
          <p:cNvPr id="1520428972"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hf dt="0" ftr="0" hdr="0" sldNum="0"/>
  <p:txStyles>
    <p:titleStyle>
      <a:lvl1pPr algn="l" defTabSz="914400" rtl="0">
        <a:spcBef>
          <a:spcPts val="0"/>
        </a:spcBef>
        <a:buNone/>
        <a:defRPr sz="2200" b="1">
          <a:solidFill>
            <a:schemeClr val="bg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1073952028"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1168699812"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1708901463"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144738992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944162420"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pPr>
              <a:defRPr/>
            </a:pPr>
            <a:r>
              <a:rPr lang="en-US"/>
              <a:t>Click to add title</a:t>
            </a:r>
            <a:endParaRPr/>
          </a:p>
        </p:txBody>
      </p:sp>
      <p:pic>
        <p:nvPicPr>
          <p:cNvPr id="1477727224"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dt="0" ftr="0" hdr="0" sldNum="0"/>
  <p:txStyles>
    <p:titleStyle>
      <a:lvl1pPr algn="l" defTabSz="914400" rtl="0">
        <a:spcBef>
          <a:spcPts val="0"/>
        </a:spcBef>
        <a:buNone/>
        <a:defRPr sz="2200" b="1">
          <a:solidFill>
            <a:schemeClr val="tx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7303829" name="Title 1"/>
          <p:cNvSpPr>
            <a:spLocks noGrp="1"/>
          </p:cNvSpPr>
          <p:nvPr>
            <p:ph type="title"/>
          </p:nvPr>
        </p:nvSpPr>
        <p:spPr bwMode="auto"/>
        <p:txBody>
          <a:bodyPr/>
          <a:lstStyle/>
          <a:p>
            <a:pPr>
              <a:defRPr/>
            </a:pPr>
            <a:r>
              <a:rPr/>
              <a:t>From Procedural to SOLID</a:t>
            </a:r>
            <a:endParaRPr/>
          </a:p>
        </p:txBody>
      </p:sp>
      <p:sp>
        <p:nvSpPr>
          <p:cNvPr id="1130777127" name="TextBox 2"/>
          <p:cNvSpPr txBox="1"/>
          <p:nvPr/>
        </p:nvSpPr>
        <p:spPr bwMode="auto">
          <a:xfrm>
            <a:off x="0" y="2011680"/>
            <a:ext cx="10140696" cy="457200"/>
          </a:xfrm>
          <a:prstGeom prst="rect">
            <a:avLst/>
          </a:prstGeom>
          <a:noFill/>
        </p:spPr>
        <p:txBody>
          <a:bodyPr wrap="square" lIns="0" tIns="0" rIns="0" bIns="0" anchor="t">
            <a:spAutoFit/>
          </a:bodyPr>
          <a:lstStyle/>
          <a:p>
            <a:pPr algn="l">
              <a:lnSpc>
                <a:spcPct val="114999"/>
              </a:lnSpc>
              <a:defRPr/>
            </a:pPr>
            <a:r>
              <a:rPr sz="1400" b="1" i="0">
                <a:solidFill>
                  <a:srgbClr val="2D76AD"/>
                </a:solidFill>
                <a:latin typeface="Arial"/>
              </a:rPr>
              <a:t>NEM 2026  ·  4-hour workshop</a:t>
            </a:r>
            <a:endParaRPr/>
          </a:p>
        </p:txBody>
      </p:sp>
      <p:sp>
        <p:nvSpPr>
          <p:cNvPr id="1235199988" name="TextBox 3"/>
          <p:cNvSpPr txBox="1"/>
          <p:nvPr/>
        </p:nvSpPr>
        <p:spPr bwMode="auto">
          <a:xfrm>
            <a:off x="0" y="2606040"/>
            <a:ext cx="10140696" cy="1005840"/>
          </a:xfrm>
          <a:prstGeom prst="rect">
            <a:avLst/>
          </a:prstGeom>
          <a:noFill/>
        </p:spPr>
        <p:txBody>
          <a:bodyPr wrap="square" lIns="0" tIns="0" rIns="0" bIns="0" anchor="t">
            <a:spAutoFit/>
          </a:bodyPr>
          <a:lstStyle/>
          <a:p>
            <a:pPr algn="l">
              <a:lnSpc>
                <a:spcPct val="120000"/>
              </a:lnSpc>
              <a:defRPr/>
            </a:pPr>
            <a:r>
              <a:rPr sz="2200" b="0" i="0">
                <a:solidFill>
                  <a:srgbClr val="627186"/>
                </a:solidFill>
                <a:latin typeface="Arial"/>
              </a:rPr>
              <a:t>Object-Oriented PLC Design in TwinCAT 3</a:t>
            </a:r>
            <a:endParaRPr/>
          </a:p>
        </p:txBody>
      </p:sp>
      <p:sp>
        <p:nvSpPr>
          <p:cNvPr id="199244926" name="TextBox 4"/>
          <p:cNvSpPr txBox="1"/>
          <p:nvPr/>
        </p:nvSpPr>
        <p:spPr bwMode="auto">
          <a:xfrm>
            <a:off x="0" y="5943600"/>
            <a:ext cx="10140696" cy="457200"/>
          </a:xfrm>
          <a:prstGeom prst="rect">
            <a:avLst/>
          </a:prstGeom>
          <a:noFill/>
        </p:spPr>
        <p:txBody>
          <a:bodyPr wrap="square" lIns="0" tIns="0" rIns="0" bIns="0" anchor="t">
            <a:spAutoFit/>
          </a:bodyPr>
          <a:lstStyle/>
          <a:p>
            <a:pPr algn="l">
              <a:lnSpc>
                <a:spcPct val="114999"/>
              </a:lnSpc>
              <a:defRPr/>
            </a:pPr>
            <a:r>
              <a:rPr sz="1200" b="0" i="1">
                <a:solidFill>
                  <a:srgbClr val="627186"/>
                </a:solidFill>
                <a:latin typeface="Arial"/>
              </a:rPr>
              <a:t>A 4-hour workshop  ·  NEM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5377615" name="Text Placeholder 1"/>
          <p:cNvSpPr>
            <a:spLocks noGrp="1"/>
          </p:cNvSpPr>
          <p:nvPr>
            <p:ph type="body" sz="quarter" idx="15"/>
          </p:nvPr>
        </p:nvSpPr>
        <p:spPr bwMode="auto"/>
        <p:txBody>
          <a:bodyPr wrap="square"/>
          <a:lstStyle/>
          <a:p>
            <a:pPr algn="l">
              <a:lnSpc>
                <a:spcPct val="130000"/>
              </a:lnSpc>
              <a:defRPr/>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endParaRPr/>
          </a:p>
          <a:p>
            <a:pPr algn="l">
              <a:lnSpc>
                <a:spcPct val="130000"/>
              </a:lnSpc>
              <a:spcBef>
                <a:spcPts val="400"/>
              </a:spcBef>
              <a:defRPr/>
            </a:pPr>
            <a:r>
              <a:rPr sz="2400" b="1">
                <a:solidFill>
                  <a:srgbClr val="2D76AD"/>
                </a:solidFill>
                <a:latin typeface="Arial"/>
              </a:rPr>
              <a:t>  </a:t>
            </a:r>
            <a:r>
              <a:rPr sz="2400">
                <a:solidFill>
                  <a:srgbClr val="242A33"/>
                </a:solidFill>
                <a:latin typeface="Arial"/>
              </a:rPr>
              <a:t>Same three change requests, every stage.</a:t>
            </a:r>
            <a:endParaRPr/>
          </a:p>
          <a:p>
            <a:pPr algn="l">
              <a:lnSpc>
                <a:spcPct val="130000"/>
              </a:lnSpc>
              <a:spcBef>
                <a:spcPts val="400"/>
              </a:spcBef>
              <a:defRPr/>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endParaRPr/>
          </a:p>
          <a:p>
            <a:pPr algn="l">
              <a:lnSpc>
                <a:spcPct val="130000"/>
              </a:lnSpc>
              <a:spcBef>
                <a:spcPts val="400"/>
              </a:spcBef>
              <a:defRPr/>
            </a:pPr>
            <a:r>
              <a:rPr lang="en-US" sz="2400" b="1">
                <a:solidFill>
                  <a:srgbClr val="2D76AD"/>
                </a:solidFill>
                <a:latin typeface="Arial"/>
              </a:rPr>
              <a:t>  </a:t>
            </a:r>
            <a:r>
              <a:rPr sz="2400">
                <a:solidFill>
                  <a:srgbClr val="242A33"/>
                </a:solidFill>
                <a:latin typeface="Arial"/>
              </a:rPr>
              <a:t>When does each architecture pay off?</a:t>
            </a:r>
            <a:endParaRPr/>
          </a:p>
        </p:txBody>
      </p:sp>
      <p:sp>
        <p:nvSpPr>
          <p:cNvPr id="1508527585" name="Title 2"/>
          <p:cNvSpPr>
            <a:spLocks noGrp="1"/>
          </p:cNvSpPr>
          <p:nvPr>
            <p:ph type="title"/>
          </p:nvPr>
        </p:nvSpPr>
        <p:spPr bwMode="auto"/>
        <p:txBody>
          <a:bodyPr/>
          <a:lstStyle/>
          <a:p>
            <a:pPr>
              <a:defRPr/>
            </a:pPr>
            <a:r>
              <a:rPr/>
              <a:t>The next 4 hours</a:t>
            </a:r>
            <a:endParaRPr/>
          </a:p>
        </p:txBody>
      </p:sp>
      <p:sp>
        <p:nvSpPr>
          <p:cNvPr id="16588597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 · THE FRAME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90988921" name="Text Placeholder 1"/>
          <p:cNvSpPr>
            <a:spLocks noGrp="1"/>
          </p:cNvSpPr>
          <p:nvPr>
            <p:ph type="body" sz="quarter" idx="15"/>
          </p:nvPr>
        </p:nvSpPr>
        <p:spPr bwMode="auto"/>
        <p:txBody>
          <a:bodyPr wrap="square"/>
          <a:lstStyle/>
          <a:p>
            <a:pPr algn="l">
              <a:lnSpc>
                <a:spcPct val="130000"/>
              </a:lnSpc>
              <a:defRPr/>
            </a:pPr>
            <a:r>
              <a:rPr sz="1800" b="1">
                <a:solidFill>
                  <a:srgbClr val="2D76AD"/>
                </a:solidFill>
                <a:latin typeface="Arial"/>
              </a:rPr>
              <a:t>  </a:t>
            </a:r>
            <a:r>
              <a:rPr sz="1800">
                <a:solidFill>
                  <a:srgbClr val="242A33"/>
                </a:solidFill>
                <a:latin typeface="Arial"/>
              </a:rPr>
              <a:t>Block 0  ·  Welcome  ·  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75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10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Block 4  ·  Scoreboard + take-home  ·  20 min</a:t>
            </a:r>
            <a:endParaRPr/>
          </a:p>
        </p:txBody>
      </p:sp>
      <p:sp>
        <p:nvSpPr>
          <p:cNvPr id="199769757" name="Title 2"/>
          <p:cNvSpPr>
            <a:spLocks noGrp="1"/>
          </p:cNvSpPr>
          <p:nvPr>
            <p:ph type="title"/>
          </p:nvPr>
        </p:nvSpPr>
        <p:spPr bwMode="auto"/>
        <p:txBody>
          <a:bodyPr/>
          <a:lstStyle/>
          <a:p>
            <a:pPr>
              <a:defRPr/>
            </a:pPr>
            <a:r>
              <a:rPr/>
              <a:t>The schedule</a:t>
            </a:r>
            <a:endParaRPr/>
          </a:p>
        </p:txBody>
      </p:sp>
      <p:sp>
        <p:nvSpPr>
          <p:cNvPr id="9939815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223498325" name="Title 1"/>
          <p:cNvSpPr>
            <a:spLocks noGrp="1"/>
          </p:cNvSpPr>
          <p:nvPr>
            <p:ph type="title"/>
          </p:nvPr>
        </p:nvSpPr>
        <p:spPr bwMode="auto"/>
        <p:txBody>
          <a:bodyPr/>
          <a:lstStyle/>
          <a:p>
            <a:pPr>
              <a:defRPr/>
            </a:pPr>
            <a:r>
              <a:rPr/>
              <a:t>Block 0  ·  opening discussion</a:t>
            </a:r>
            <a:endParaRPr/>
          </a:p>
        </p:txBody>
      </p:sp>
      <p:sp>
        <p:nvSpPr>
          <p:cNvPr id="1804313824"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087204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311573450"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Who here has shipped a 4-station-or-larger machine in the last year?</a:t>
            </a:r>
            <a:endParaRPr/>
          </a:p>
        </p:txBody>
      </p:sp>
      <p:sp>
        <p:nvSpPr>
          <p:cNvPr id="1382482552"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Then this workshop is calibrated for you.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5925411" name="Title 2"/>
          <p:cNvSpPr>
            <a:spLocks noGrp="1"/>
          </p:cNvSpPr>
          <p:nvPr>
            <p:ph type="title"/>
          </p:nvPr>
        </p:nvSpPr>
        <p:spPr bwMode="auto"/>
        <p:txBody>
          <a:bodyPr/>
          <a:lstStyle/>
          <a:p>
            <a:pPr>
              <a:defRPr/>
            </a:pPr>
            <a:r>
              <a:rPr/>
              <a:t>Block 1</a:t>
            </a:r>
            <a:endParaRPr/>
          </a:p>
        </p:txBody>
      </p:sp>
      <p:sp>
        <p:nvSpPr>
          <p:cNvPr id="1880058290" name="Rectangle 3"/>
          <p:cNvSpPr/>
          <p:nvPr/>
        </p:nvSpPr>
        <p:spPr bwMode="auto">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08973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1 — Procedural</a:t>
            </a:r>
            <a:endParaRPr/>
          </a:p>
        </p:txBody>
      </p:sp>
      <p:sp>
        <p:nvSpPr>
          <p:cNvPr id="10733789"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770000"/>
                </a:solidFill>
                <a:latin typeface="Arial"/>
              </a:rPr>
              <a:t>60</a:t>
            </a:r>
            <a:r>
              <a:rPr sz="1800" b="1" i="0">
                <a:solidFill>
                  <a:srgbClr val="770000"/>
                </a:solidFill>
                <a:latin typeface="Arial"/>
              </a:rPr>
              <a:t> min</a:t>
            </a:r>
            <a:endParaRPr/>
          </a:p>
        </p:txBody>
      </p:sp>
      <p:sp>
        <p:nvSpPr>
          <p:cNvPr id="39497754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architecture you've been writing for 20 years.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6958104"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has its own independent version of code, runs 	once per cycle.</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Good at simple machines  </a:t>
            </a:r>
            <a:r>
              <a:rPr sz="2200">
                <a:solidFill>
                  <a:srgbClr val="242A33"/>
                </a:solidFill>
                <a:latin typeface="Arial"/>
              </a:rPr>
              <a:t>— short lifespan, no changes to code, 	single developer</a:t>
            </a:r>
            <a:endParaRPr/>
          </a:p>
          <a:p>
            <a:pPr algn="l">
              <a:lnSpc>
                <a:spcPct val="130000"/>
              </a:lnSpc>
              <a:spcBef>
                <a:spcPts val="400"/>
              </a:spcBef>
              <a:defRPr/>
            </a:pPr>
            <a:r>
              <a:rPr lang="en-US" sz="2200" b="1">
                <a:solidFill>
                  <a:srgbClr val="770000"/>
                </a:solidFill>
                <a:latin typeface="Arial"/>
              </a:rPr>
              <a:t> Costly when CRs cross-cut — every station pays;	consistency relies on discipline</a:t>
            </a:r>
            <a:endParaRPr/>
          </a:p>
        </p:txBody>
      </p:sp>
      <p:sp>
        <p:nvSpPr>
          <p:cNvPr id="211637787" name="Title 2"/>
          <p:cNvSpPr>
            <a:spLocks noGrp="1"/>
          </p:cNvSpPr>
          <p:nvPr>
            <p:ph type="title"/>
          </p:nvPr>
        </p:nvSpPr>
        <p:spPr bwMode="auto"/>
        <p:txBody>
          <a:bodyPr/>
          <a:lstStyle/>
          <a:p>
            <a:pPr>
              <a:defRPr/>
            </a:pPr>
            <a:r>
              <a:rPr/>
              <a:t>The procedural paradigm</a:t>
            </a:r>
            <a:endParaRPr/>
          </a:p>
        </p:txBody>
      </p:sp>
      <p:sp>
        <p:nvSpPr>
          <p:cNvPr id="27591380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2536633"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procedural sample structure</a:t>
            </a:r>
            <a:endParaRPr/>
          </a:p>
          <a:p>
            <a:pPr>
              <a:defRPr/>
            </a:pPr>
            <a:r>
              <a:rPr lang="en-US"/>
              <a:t>Understand switching between branches</a:t>
            </a:r>
            <a:endParaRPr/>
          </a:p>
          <a:p>
            <a:pPr>
              <a:defRPr/>
            </a:pPr>
            <a:r>
              <a:rPr lang="en-US"/>
              <a:t>Identify similarities and differences in the function block stations</a:t>
            </a:r>
            <a:endParaRPr/>
          </a:p>
        </p:txBody>
      </p:sp>
      <p:sp>
        <p:nvSpPr>
          <p:cNvPr id="248177328" name="Title 2"/>
          <p:cNvSpPr>
            <a:spLocks noGrp="1"/>
          </p:cNvSpPr>
          <p:nvPr>
            <p:ph type="title"/>
          </p:nvPr>
        </p:nvSpPr>
        <p:spPr bwMode="auto"/>
        <p:txBody>
          <a:bodyPr/>
          <a:lstStyle/>
          <a:p>
            <a:pPr>
              <a:defRPr/>
            </a:pPr>
            <a:r>
              <a:rPr lang="en-US"/>
              <a:t>Lab 1A: Procedural Code Inspection</a:t>
            </a:r>
            <a:endParaRPr/>
          </a:p>
        </p:txBody>
      </p:sp>
      <p:sp>
        <p:nvSpPr>
          <p:cNvPr id="198770560" name="Text Placeholder 1"/>
          <p:cNvSpPr txBox="1"/>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and go to the </a:t>
            </a:r>
            <a:r>
              <a:rPr lang="en-US"/>
              <a:t>FillingLine_Procedural</a:t>
            </a:r>
            <a:r>
              <a:rPr lang="en-US"/>
              <a:t> Project</a:t>
            </a:r>
            <a:endParaRPr/>
          </a:p>
          <a:p>
            <a:pPr>
              <a:defRPr/>
            </a:pPr>
            <a:r>
              <a:rPr lang="en-US"/>
              <a:t>Open the four Function Block stations in the POUs folder</a:t>
            </a:r>
            <a:endParaRPr/>
          </a:p>
          <a:p>
            <a:pPr>
              <a:defRPr/>
            </a:pPr>
            <a:r>
              <a:rPr lang="en-US"/>
              <a:t>Stack the open FBs side by side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56564028" name="Text Placeholder 1"/>
          <p:cNvSpPr>
            <a:spLocks noGrp="1"/>
          </p:cNvSpPr>
          <p:nvPr>
            <p:ph type="body" sz="quarter" idx="15"/>
          </p:nvPr>
        </p:nvSpPr>
        <p:spPr bwMode="auto"/>
        <p:txBody>
          <a:bodyPr wrap="square"/>
          <a:lstStyle/>
          <a:p>
            <a:pPr algn="l">
              <a:lnSpc>
                <a:spcPct val="130000"/>
              </a:lnSpc>
              <a:defRPr/>
            </a:pPr>
            <a:r>
              <a:rPr lang="en-US" sz="2000" b="1">
                <a:solidFill>
                  <a:srgbClr val="770000"/>
                </a:solidFill>
                <a:latin typeface="Arial"/>
              </a:rPr>
              <a:t>  </a:t>
            </a:r>
            <a:r>
              <a:rPr lang="en-US" sz="2000" b="1">
                <a:solidFill>
                  <a:srgbClr val="242A33"/>
                </a:solidFill>
                <a:latin typeface="Arial"/>
              </a:rPr>
              <a:t>Mode block </a:t>
            </a:r>
            <a:r>
              <a:rPr lang="en-US" sz="2000">
                <a:solidFill>
                  <a:srgbClr val="242A33"/>
                </a:solidFill>
                <a:latin typeface="Arial"/>
              </a:rPr>
              <a:t>— read </a:t>
            </a:r>
            <a:r>
              <a:rPr lang="en-US" sz="2000">
                <a:solidFill>
                  <a:srgbClr val="242A33"/>
                </a:solidFill>
                <a:latin typeface="Arial"/>
              </a:rPr>
              <a:t>ModeAuto</a:t>
            </a:r>
            <a:r>
              <a:rPr lang="en-US" sz="2000">
                <a:solidFill>
                  <a:srgbClr val="242A33"/>
                </a:solidFill>
                <a:latin typeface="Arial"/>
              </a:rPr>
              <a:t> / </a:t>
            </a:r>
            <a:r>
              <a:rPr lang="en-US" sz="2000">
                <a:solidFill>
                  <a:srgbClr val="242A33"/>
                </a:solidFill>
                <a:latin typeface="Arial"/>
              </a:rPr>
              <a:t>ModeManual</a:t>
            </a:r>
            <a:r>
              <a:rPr lang="en-US" sz="2000">
                <a:solidFill>
                  <a:srgbClr val="242A33"/>
                </a:solidFill>
                <a:latin typeface="Arial"/>
              </a:rPr>
              <a:t> / </a:t>
            </a:r>
            <a:r>
              <a:rPr lang="en-US" sz="2000">
                <a:solidFill>
                  <a:srgbClr val="242A33"/>
                </a:solidFill>
                <a:latin typeface="Arial"/>
              </a:rPr>
              <a:t>ModeStop</a:t>
            </a:r>
            <a:r>
              <a:rPr lang="en-US" sz="2000">
                <a:solidFill>
                  <a:srgbClr val="242A33"/>
                </a:solidFill>
                <a:latin typeface="Arial"/>
              </a:rPr>
              <a:t>.</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Alarm-ack block </a:t>
            </a:r>
            <a:r>
              <a:rPr lang="en-US" sz="2000">
                <a:solidFill>
                  <a:srgbClr val="242A33"/>
                </a:solidFill>
                <a:latin typeface="Arial"/>
              </a:rPr>
              <a:t>— clear latched alarms.</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Reset block </a:t>
            </a:r>
            <a:r>
              <a:rPr lang="en-US" sz="2000">
                <a:solidFill>
                  <a:srgbClr val="242A33"/>
                </a:solidFill>
                <a:latin typeface="Arial"/>
              </a:rPr>
              <a:t>— return state to 0.</a:t>
            </a:r>
            <a:endParaRPr/>
          </a:p>
          <a:p>
            <a:pPr>
              <a:lnSpc>
                <a:spcPct val="130000"/>
              </a:lnSpc>
              <a:spcBef>
                <a:spcPts val="400"/>
              </a:spcBef>
              <a:defRPr/>
            </a:pPr>
            <a:r>
              <a:rPr lang="en-US" sz="2000" b="1">
                <a:solidFill>
                  <a:srgbClr val="242A33"/>
                </a:solidFill>
              </a:rPr>
              <a:t>  HMI mapping </a:t>
            </a:r>
            <a:r>
              <a:rPr lang="en-US" sz="2000">
                <a:solidFill>
                  <a:srgbClr val="242A33"/>
                </a:solidFill>
              </a:rPr>
              <a:t>— copy state to HMI tags.</a:t>
            </a:r>
            <a:endParaRPr lang="en-US" sz="2000">
              <a:solidFill>
                <a:srgbClr val="242A33"/>
              </a:solidFill>
              <a:latin typeface="Arial"/>
            </a:endParaRPr>
          </a:p>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997717872" name="Title 2"/>
          <p:cNvSpPr>
            <a:spLocks noGrp="1"/>
          </p:cNvSpPr>
          <p:nvPr>
            <p:ph type="title"/>
          </p:nvPr>
        </p:nvSpPr>
        <p:spPr bwMode="auto"/>
        <p:txBody>
          <a:bodyPr/>
          <a:lstStyle/>
          <a:p>
            <a:pPr>
              <a:defRPr/>
            </a:pPr>
            <a:r>
              <a:rPr/>
              <a:t>Every station has the same five sections</a:t>
            </a:r>
            <a:endParaRPr/>
          </a:p>
        </p:txBody>
      </p:sp>
      <p:sp>
        <p:nvSpPr>
          <p:cNvPr id="1425899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4599456"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a:t>
            </a:r>
            <a:r>
              <a:rPr sz="2000">
                <a:solidFill>
                  <a:srgbClr val="242A33"/>
                </a:solidFill>
                <a:latin typeface="Arial"/>
              </a:rPr>
              <a:t>ModeAuto</a:t>
            </a:r>
            <a:r>
              <a:rPr sz="2000">
                <a:solidFill>
                  <a:srgbClr val="242A33"/>
                </a:solidFill>
                <a:latin typeface="Arial"/>
              </a:rPr>
              <a:t> / </a:t>
            </a:r>
            <a:r>
              <a:rPr sz="2000">
                <a:solidFill>
                  <a:srgbClr val="242A33"/>
                </a:solidFill>
                <a:latin typeface="Arial"/>
              </a:rPr>
              <a:t>ModeManual</a:t>
            </a:r>
            <a:r>
              <a:rPr sz="2000">
                <a:solidFill>
                  <a:srgbClr val="242A33"/>
                </a:solidFill>
                <a:latin typeface="Arial"/>
              </a:rPr>
              <a:t> / </a:t>
            </a:r>
            <a:r>
              <a:rPr sz="2000">
                <a:solidFill>
                  <a:srgbClr val="242A33"/>
                </a:solidFill>
                <a:latin typeface="Arial"/>
              </a:rPr>
              <a:t>ModeStop</a:t>
            </a:r>
            <a:r>
              <a:rPr sz="2000">
                <a:solidFill>
                  <a:srgbClr val="242A33"/>
                </a:solidFill>
                <a:latin typeface="Arial"/>
              </a:rPr>
              <a:t>.</a:t>
            </a:r>
            <a:endParaRPr/>
          </a:p>
        </p:txBody>
      </p:sp>
      <p:sp>
        <p:nvSpPr>
          <p:cNvPr id="1913982023" name="Title 2"/>
          <p:cNvSpPr>
            <a:spLocks noGrp="1"/>
          </p:cNvSpPr>
          <p:nvPr>
            <p:ph type="title"/>
          </p:nvPr>
        </p:nvSpPr>
        <p:spPr bwMode="auto"/>
        <p:txBody>
          <a:bodyPr/>
          <a:lstStyle/>
          <a:p>
            <a:pPr>
              <a:defRPr/>
            </a:pPr>
            <a:r>
              <a:rPr/>
              <a:t>Every station has the same five sections</a:t>
            </a:r>
            <a:endParaRPr/>
          </a:p>
        </p:txBody>
      </p:sp>
      <p:sp>
        <p:nvSpPr>
          <p:cNvPr id="16820754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062348260" name="Picture 7"/>
          <p:cNvPicPr>
            <a:picLocks noChangeAspect="1"/>
          </p:cNvPicPr>
          <p:nvPr/>
        </p:nvPicPr>
        <p:blipFill rotWithShape="1">
          <a:blip r:embed="rId3"/>
          <a:stretch/>
        </p:blipFill>
        <p:spPr bwMode="auto">
          <a:xfrm>
            <a:off x="18196" y="1772378"/>
            <a:ext cx="12173802" cy="539042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5439948"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endParaRPr/>
          </a:p>
        </p:txBody>
      </p:sp>
      <p:sp>
        <p:nvSpPr>
          <p:cNvPr id="1962448172" name="Title 2"/>
          <p:cNvSpPr>
            <a:spLocks noGrp="1"/>
          </p:cNvSpPr>
          <p:nvPr>
            <p:ph type="title"/>
          </p:nvPr>
        </p:nvSpPr>
        <p:spPr bwMode="auto"/>
        <p:txBody>
          <a:bodyPr/>
          <a:lstStyle/>
          <a:p>
            <a:pPr>
              <a:defRPr/>
            </a:pPr>
            <a:r>
              <a:rPr/>
              <a:t>Every station has the same five sections</a:t>
            </a:r>
            <a:endParaRPr/>
          </a:p>
        </p:txBody>
      </p:sp>
      <p:sp>
        <p:nvSpPr>
          <p:cNvPr id="1443399273"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846053832" name="Picture 7"/>
          <p:cNvPicPr>
            <a:picLocks noChangeAspect="1"/>
          </p:cNvPicPr>
          <p:nvPr/>
        </p:nvPicPr>
        <p:blipFill rotWithShape="1">
          <a:blip r:embed="rId3"/>
          <a:stretch/>
        </p:blipFill>
        <p:spPr bwMode="auto">
          <a:xfrm>
            <a:off x="0" y="1752599"/>
            <a:ext cx="12192000" cy="536138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7227623"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endParaRPr/>
          </a:p>
        </p:txBody>
      </p:sp>
      <p:sp>
        <p:nvSpPr>
          <p:cNvPr id="1495154521" name="Title 2"/>
          <p:cNvSpPr>
            <a:spLocks noGrp="1"/>
          </p:cNvSpPr>
          <p:nvPr>
            <p:ph type="title"/>
          </p:nvPr>
        </p:nvSpPr>
        <p:spPr bwMode="auto"/>
        <p:txBody>
          <a:bodyPr/>
          <a:lstStyle/>
          <a:p>
            <a:pPr>
              <a:defRPr/>
            </a:pPr>
            <a:r>
              <a:rPr/>
              <a:t>Every station has the same five sections</a:t>
            </a:r>
            <a:endParaRPr/>
          </a:p>
        </p:txBody>
      </p:sp>
      <p:sp>
        <p:nvSpPr>
          <p:cNvPr id="83040677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71934379" name="Picture 7"/>
          <p:cNvPicPr>
            <a:picLocks noChangeAspect="1"/>
          </p:cNvPicPr>
          <p:nvPr/>
        </p:nvPicPr>
        <p:blipFill rotWithShape="1">
          <a:blip r:embed="rId3"/>
          <a:stretch/>
        </p:blipFill>
        <p:spPr bwMode="auto">
          <a:xfrm>
            <a:off x="-3" y="1713753"/>
            <a:ext cx="12192000" cy="538129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36494039"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endParaRPr/>
          </a:p>
        </p:txBody>
      </p:sp>
      <p:sp>
        <p:nvSpPr>
          <p:cNvPr id="771132796" name="Title 2"/>
          <p:cNvSpPr>
            <a:spLocks noGrp="1"/>
          </p:cNvSpPr>
          <p:nvPr>
            <p:ph type="title"/>
          </p:nvPr>
        </p:nvSpPr>
        <p:spPr bwMode="auto"/>
        <p:txBody>
          <a:bodyPr/>
          <a:lstStyle/>
          <a:p>
            <a:pPr>
              <a:defRPr/>
            </a:pPr>
            <a:r>
              <a:rPr/>
              <a:t>Every station has the same five sections</a:t>
            </a:r>
            <a:endParaRPr/>
          </a:p>
        </p:txBody>
      </p:sp>
      <p:sp>
        <p:nvSpPr>
          <p:cNvPr id="61041682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675059559" name="Picture 9"/>
          <p:cNvPicPr>
            <a:picLocks noChangeAspect="1"/>
          </p:cNvPicPr>
          <p:nvPr/>
        </p:nvPicPr>
        <p:blipFill rotWithShape="1">
          <a:blip r:embed="rId3"/>
          <a:stretch/>
        </p:blipFill>
        <p:spPr bwMode="auto">
          <a:xfrm>
            <a:off x="0" y="1671199"/>
            <a:ext cx="12192000" cy="53506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3798130"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2078301795" name="Title 2"/>
          <p:cNvSpPr>
            <a:spLocks noGrp="1"/>
          </p:cNvSpPr>
          <p:nvPr>
            <p:ph type="title"/>
          </p:nvPr>
        </p:nvSpPr>
        <p:spPr bwMode="auto"/>
        <p:txBody>
          <a:bodyPr/>
          <a:lstStyle/>
          <a:p>
            <a:pPr>
              <a:defRPr/>
            </a:pPr>
            <a:r>
              <a:rPr/>
              <a:t>Every station has the same five sections</a:t>
            </a:r>
            <a:endParaRPr/>
          </a:p>
        </p:txBody>
      </p:sp>
      <p:sp>
        <p:nvSpPr>
          <p:cNvPr id="2938770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260991428" name="Picture 7"/>
          <p:cNvPicPr>
            <a:picLocks noChangeAspect="1"/>
          </p:cNvPicPr>
          <p:nvPr/>
        </p:nvPicPr>
        <p:blipFill rotWithShape="1">
          <a:blip r:embed="rId3"/>
          <a:stretch/>
        </p:blipFill>
        <p:spPr bwMode="auto">
          <a:xfrm>
            <a:off x="-3" y="1739911"/>
            <a:ext cx="12192000" cy="538281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1362087" name="Text Placeholder 1"/>
          <p:cNvSpPr>
            <a:spLocks noGrp="1"/>
          </p:cNvSpPr>
          <p:nvPr>
            <p:ph type="body" sz="quarter" idx="15"/>
          </p:nvPr>
        </p:nvSpPr>
        <p:spPr bwMode="auto"/>
        <p:txBody>
          <a:bodyPr wrap="square"/>
          <a:lstStyle/>
          <a:p>
            <a:pPr algn="l">
              <a:lnSpc>
                <a:spcPct val="130000"/>
              </a:lnSpc>
              <a:defRPr/>
            </a:pPr>
            <a:r>
              <a:rPr lang="en-US" sz="2200" b="1">
                <a:solidFill>
                  <a:srgbClr val="770000"/>
                </a:solidFill>
                <a:latin typeface="Arial"/>
              </a:rPr>
              <a:t>Every function block seems pretty similar</a:t>
            </a:r>
            <a:r>
              <a:rPr lang="en-US" b="1">
                <a:solidFill>
                  <a:srgbClr val="770000"/>
                </a:solidFill>
                <a:latin typeface="Arial"/>
              </a:rPr>
              <a:t>, right?</a:t>
            </a:r>
            <a:endParaRPr/>
          </a:p>
          <a:p>
            <a:pPr algn="l">
              <a:lnSpc>
                <a:spcPct val="130000"/>
              </a:lnSpc>
              <a:defRPr/>
            </a:pPr>
            <a:r>
              <a:rPr lang="en-US" sz="2200" b="1">
                <a:solidFill>
                  <a:srgbClr val="770000"/>
                </a:solidFill>
                <a:latin typeface="Arial"/>
              </a:rPr>
              <a:t>Anybody see any </a:t>
            </a:r>
            <a:r>
              <a:rPr lang="en-US" b="1">
                <a:solidFill>
                  <a:srgbClr val="770000"/>
                </a:solidFill>
                <a:latin typeface="Arial"/>
              </a:rPr>
              <a:t>problems?</a:t>
            </a:r>
            <a:endParaRPr sz="2200">
              <a:solidFill>
                <a:srgbClr val="242A33"/>
              </a:solidFill>
              <a:latin typeface="Arial"/>
            </a:endParaRPr>
          </a:p>
        </p:txBody>
      </p:sp>
      <p:sp>
        <p:nvSpPr>
          <p:cNvPr id="40552383" name="Title 2"/>
          <p:cNvSpPr>
            <a:spLocks noGrp="1"/>
          </p:cNvSpPr>
          <p:nvPr>
            <p:ph type="title"/>
          </p:nvPr>
        </p:nvSpPr>
        <p:spPr bwMode="auto"/>
        <p:txBody>
          <a:bodyPr/>
          <a:lstStyle/>
          <a:p>
            <a:pPr>
              <a:defRPr/>
            </a:pPr>
            <a:r>
              <a:rPr lang="en-US"/>
              <a:t>Every station has the same five sections</a:t>
            </a:r>
            <a:endParaRPr/>
          </a:p>
        </p:txBody>
      </p:sp>
      <p:sp>
        <p:nvSpPr>
          <p:cNvPr id="67519174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84952908"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a:t>
            </a:r>
            <a:r>
              <a:rPr sz="2200">
                <a:solidFill>
                  <a:srgbClr val="242A33"/>
                </a:solidFill>
                <a:latin typeface="Arial"/>
              </a:rPr>
              <a:t>ManualStep</a:t>
            </a:r>
            <a:r>
              <a:rPr sz="2200">
                <a:solidFill>
                  <a:srgbClr val="242A33"/>
                </a:solidFill>
                <a:latin typeface="Arial"/>
              </a:rPr>
              <a:t> in Inspect, never used.</a:t>
            </a:r>
            <a:endParaRPr/>
          </a:p>
        </p:txBody>
      </p:sp>
      <p:sp>
        <p:nvSpPr>
          <p:cNvPr id="842678282" name="Title 2"/>
          <p:cNvSpPr>
            <a:spLocks noGrp="1"/>
          </p:cNvSpPr>
          <p:nvPr>
            <p:ph type="title"/>
          </p:nvPr>
        </p:nvSpPr>
        <p:spPr bwMode="auto"/>
        <p:txBody>
          <a:bodyPr/>
          <a:lstStyle/>
          <a:p>
            <a:pPr>
              <a:defRPr/>
            </a:pPr>
            <a:r>
              <a:rPr/>
              <a:t>Three identifiable drifts</a:t>
            </a:r>
            <a:endParaRPr/>
          </a:p>
        </p:txBody>
      </p:sp>
      <p:sp>
        <p:nvSpPr>
          <p:cNvPr id="208305813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690169" name="Title 1"/>
          <p:cNvSpPr>
            <a:spLocks noGrp="1"/>
          </p:cNvSpPr>
          <p:nvPr>
            <p:ph type="title"/>
          </p:nvPr>
        </p:nvSpPr>
        <p:spPr bwMode="auto"/>
        <p:txBody>
          <a:bodyPr/>
          <a:lstStyle/>
          <a:p>
            <a:pPr>
              <a:defRPr/>
            </a:pPr>
            <a:r>
              <a:rPr/>
              <a:t>Drift #1 — alarm-ack: edge vs level</a:t>
            </a:r>
            <a:endParaRPr/>
          </a:p>
        </p:txBody>
      </p:sp>
      <p:sp>
        <p:nvSpPr>
          <p:cNvPr id="31892748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#1</a:t>
            </a:r>
            <a:endParaRPr/>
          </a:p>
        </p:txBody>
      </p:sp>
      <p:sp>
        <p:nvSpPr>
          <p:cNvPr id="8472339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667573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989117773"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 uses R_TRIG (edge-triggered)</a:t>
            </a:r>
            <a:endParaRPr/>
          </a:p>
          <a:p>
            <a:pPr algn="l">
              <a:lnSpc>
                <a:spcPct val="125000"/>
              </a:lnSpc>
              <a:defRPr/>
            </a:pPr>
            <a:r>
              <a:rPr sz="1300" b="0" i="0">
                <a:solidFill>
                  <a:srgbClr val="E6E8EB"/>
                </a:solidFill>
                <a:latin typeface="Consolas"/>
              </a:rPr>
              <a:t>fbAckTrig(CLK := AlarmAck);</a:t>
            </a:r>
            <a:endParaRPr/>
          </a:p>
          <a:p>
            <a:pPr algn="l">
              <a:lnSpc>
                <a:spcPct val="125000"/>
              </a:lnSpc>
              <a:defRPr/>
            </a:pPr>
            <a:r>
              <a:rPr sz="1300" b="0" i="0">
                <a:solidFill>
                  <a:srgbClr val="E6E8EB"/>
                </a:solidFill>
                <a:latin typeface="Consolas"/>
              </a:rPr>
              <a:t>IF fbAckTrig.Q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FB_StationCap — uses level (held-high)</a:t>
            </a:r>
            <a:endParaRPr/>
          </a:p>
          <a:p>
            <a:pPr algn="l">
              <a:lnSpc>
                <a:spcPct val="125000"/>
              </a:lnSpc>
              <a:defRPr/>
            </a:pPr>
            <a:r>
              <a:rPr sz="1300" b="0" i="0">
                <a:solidFill>
                  <a:srgbClr val="E6E8EB"/>
                </a:solidFill>
                <a:latin typeface="Consolas"/>
              </a:rPr>
              <a:t>IF AlarmAck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8721060" name="Title 1"/>
          <p:cNvSpPr>
            <a:spLocks noGrp="1"/>
          </p:cNvSpPr>
          <p:nvPr>
            <p:ph type="title"/>
          </p:nvPr>
        </p:nvSpPr>
        <p:spPr bwMode="auto"/>
        <p:txBody>
          <a:bodyPr/>
          <a:lstStyle/>
          <a:p>
            <a:pPr>
              <a:defRPr/>
            </a:pPr>
            <a:r>
              <a:rPr/>
              <a:t>Drift #2 — step numbering</a:t>
            </a:r>
            <a:endParaRPr/>
          </a:p>
        </p:txBody>
      </p:sp>
      <p:sp>
        <p:nvSpPr>
          <p:cNvPr id="201234246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#2</a:t>
            </a:r>
            <a:endParaRPr/>
          </a:p>
        </p:txBody>
      </p:sp>
      <p:sp>
        <p:nvSpPr>
          <p:cNvPr id="121547091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0293376"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4867201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Cap, Inspect — clean 0/10/20/30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  // run</a:t>
            </a:r>
            <a:endParaRPr/>
          </a:p>
          <a:p>
            <a:pPr algn="l">
              <a:lnSpc>
                <a:spcPct val="125000"/>
              </a:lnSpc>
              <a:defRPr/>
            </a:pPr>
            <a:r>
              <a:rPr sz="1300" b="0" i="0">
                <a:solidFill>
                  <a:srgbClr val="E6E8EB"/>
                </a:solidFill>
                <a:latin typeface="Consolas"/>
              </a:rPr>
              <a:t>    20:  // complete</a:t>
            </a:r>
            <a:endParaRPr/>
          </a:p>
          <a:p>
            <a:pPr algn="l">
              <a:lnSpc>
                <a:spcPct val="125000"/>
              </a:lnSpc>
              <a:defRPr/>
            </a:pPr>
            <a:r>
              <a:rPr sz="1300" b="0" i="0">
                <a:solidFill>
                  <a:srgbClr val="E6E8EB"/>
                </a:solidFill>
                <a:latin typeface="Consolas"/>
              </a:rPr>
              <a:t>    30:  // fault</a:t>
            </a:r>
            <a:endParaRPr/>
          </a:p>
          <a:p>
            <a:pPr algn="l">
              <a:lnSpc>
                <a:spcPct val="125000"/>
              </a:lnSpc>
              <a:defRPr/>
            </a:pPr>
            <a:r>
              <a:rPr sz="1300" b="0" i="0">
                <a:solidFill>
                  <a:srgbClr val="E6E8EB"/>
                </a:solidFill>
                <a:latin typeface="Consolas"/>
              </a:rPr>
              <a:t>END_CASE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FB_StationLabel — uses 100/200/300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100:  // run</a:t>
            </a:r>
            <a:endParaRPr/>
          </a:p>
          <a:p>
            <a:pPr algn="l">
              <a:lnSpc>
                <a:spcPct val="125000"/>
              </a:lnSpc>
              <a:defRPr/>
            </a:pPr>
            <a:r>
              <a:rPr sz="1300" b="0" i="0">
                <a:solidFill>
                  <a:srgbClr val="E6E8EB"/>
                </a:solidFill>
                <a:latin typeface="Consolas"/>
              </a:rPr>
              <a:t>    200:  // complete</a:t>
            </a:r>
            <a:endParaRPr/>
          </a:p>
          <a:p>
            <a:pPr algn="l">
              <a:lnSpc>
                <a:spcPct val="125000"/>
              </a:lnSpc>
              <a:defRPr/>
            </a:pPr>
            <a:r>
              <a:rPr sz="1300" b="0" i="0">
                <a:solidFill>
                  <a:srgbClr val="E6E8EB"/>
                </a:solidFill>
                <a:latin typeface="Consolas"/>
              </a:rPr>
              <a:t>    300:  // fault</a:t>
            </a:r>
            <a:endParaRPr/>
          </a:p>
          <a:p>
            <a:pPr algn="l">
              <a:lnSpc>
                <a:spcPct val="125000"/>
              </a:lnSpc>
              <a:defRPr/>
            </a:pPr>
            <a:r>
              <a:rPr sz="1300" b="0" i="0">
                <a:solidFill>
                  <a:srgbClr val="E6E8EB"/>
                </a:solidFill>
                <a:latin typeface="Consolas"/>
              </a:rPr>
              <a:t>END_CASE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4793769" name="Title 1"/>
          <p:cNvSpPr>
            <a:spLocks noGrp="1"/>
          </p:cNvSpPr>
          <p:nvPr>
            <p:ph type="title"/>
          </p:nvPr>
        </p:nvSpPr>
        <p:spPr bwMode="auto"/>
        <p:txBody>
          <a:bodyPr/>
          <a:lstStyle/>
          <a:p>
            <a:pPr>
              <a:defRPr/>
            </a:pPr>
            <a:r>
              <a:rPr/>
              <a:t>Drift #3 — dead variable</a:t>
            </a:r>
            <a:endParaRPr/>
          </a:p>
        </p:txBody>
      </p:sp>
      <p:sp>
        <p:nvSpPr>
          <p:cNvPr id="60073165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#3</a:t>
            </a:r>
            <a:endParaRPr/>
          </a:p>
        </p:txBody>
      </p:sp>
      <p:sp>
        <p:nvSpPr>
          <p:cNvPr id="1184924806"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9990914"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2160593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600" b="0" i="0">
                <a:solidFill>
                  <a:srgbClr val="E6E8EB"/>
                </a:solidFill>
                <a:latin typeface="Consolas"/>
              </a:rPr>
              <a:t>// FB_StationInspect — declared, never read, never written</a:t>
            </a:r>
            <a:endParaRPr/>
          </a:p>
          <a:p>
            <a:pPr algn="l">
              <a:lnSpc>
                <a:spcPct val="125000"/>
              </a:lnSpc>
              <a:defRPr/>
            </a:pPr>
            <a:r>
              <a:rPr sz="1600" b="0" i="0">
                <a:solidFill>
                  <a:srgbClr val="E6E8EB"/>
                </a:solidFill>
                <a:latin typeface="Consolas"/>
              </a:rPr>
              <a:t>VAR</a:t>
            </a:r>
            <a:endParaRPr/>
          </a:p>
          <a:p>
            <a:pPr algn="l">
              <a:lnSpc>
                <a:spcPct val="125000"/>
              </a:lnSpc>
              <a:defRPr/>
            </a:pPr>
            <a:r>
              <a:rPr sz="1600" b="0" i="0">
                <a:solidFill>
                  <a:srgbClr val="E6E8EB"/>
                </a:solidFill>
                <a:latin typeface="Consolas"/>
              </a:rPr>
              <a:t>    State           : INT;</a:t>
            </a:r>
            <a:endParaRPr/>
          </a:p>
          <a:p>
            <a:pPr algn="l">
              <a:lnSpc>
                <a:spcPct val="125000"/>
              </a:lnSpc>
              <a:defRPr/>
            </a:pPr>
            <a:r>
              <a:rPr sz="1600" b="0" i="0">
                <a:solidFill>
                  <a:srgbClr val="E6E8EB"/>
                </a:solidFill>
                <a:latin typeface="Consolas"/>
              </a:rPr>
              <a:t>    AlarmActive     : BOOL;</a:t>
            </a:r>
            <a:endParaRPr/>
          </a:p>
          <a:p>
            <a:pPr algn="l">
              <a:lnSpc>
                <a:spcPct val="125000"/>
              </a:lnSpc>
              <a:defRPr/>
            </a:pPr>
            <a:r>
              <a:rPr sz="1600" b="0" i="0">
                <a:solidFill>
                  <a:srgbClr val="E6E8EB"/>
                </a:solidFill>
                <a:latin typeface="Consolas"/>
              </a:rPr>
              <a:t>    AlarmCode       : INT;</a:t>
            </a:r>
            <a:endParaRPr/>
          </a:p>
          <a:p>
            <a:pPr algn="l">
              <a:lnSpc>
                <a:spcPct val="125000"/>
              </a:lnSpc>
              <a:defRPr/>
            </a:pPr>
            <a:r>
              <a:rPr sz="1600" b="0" i="0">
                <a:solidFill>
                  <a:srgbClr val="E6E8EB"/>
                </a:solidFill>
                <a:latin typeface="Consolas"/>
              </a:rPr>
              <a:t>    ManualStep      : INT;   // &lt;-- nothing in this FB references it</a:t>
            </a:r>
            <a:endParaRPr/>
          </a:p>
          <a:p>
            <a:pPr algn="l">
              <a:lnSpc>
                <a:spcPct val="125000"/>
              </a:lnSpc>
              <a:defRPr/>
            </a:pPr>
            <a:r>
              <a:rPr sz="1600" b="0" i="0">
                <a:solidFill>
                  <a:srgbClr val="E6E8EB"/>
                </a:solidFill>
                <a:latin typeface="Consolas"/>
              </a:rPr>
              <a:t>    PartPresent     : BOOL;</a:t>
            </a:r>
            <a:endParaRPr/>
          </a:p>
          <a:p>
            <a:pPr algn="l">
              <a:lnSpc>
                <a:spcPct val="125000"/>
              </a:lnSpc>
              <a:defRPr/>
            </a:pPr>
            <a:r>
              <a:rPr sz="1600" b="0" i="0">
                <a:solidFill>
                  <a:srgbClr val="E6E8EB"/>
                </a:solidFill>
                <a:latin typeface="Consolas"/>
              </a:rPr>
              <a:t>    Result          : BOOL;</a:t>
            </a:r>
            <a:endParaRPr/>
          </a:p>
          <a:p>
            <a:pPr algn="l">
              <a:lnSpc>
                <a:spcPct val="125000"/>
              </a:lnSpc>
              <a:defRPr/>
            </a:pPr>
            <a:r>
              <a:rPr sz="1600" b="0" i="0">
                <a:solidFill>
                  <a:srgbClr val="E6E8EB"/>
                </a:solidFill>
                <a:latin typeface="Consolas"/>
              </a:rPr>
              <a:t>END_VAR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38649208" name="Title 1"/>
          <p:cNvSpPr>
            <a:spLocks noGrp="1"/>
          </p:cNvSpPr>
          <p:nvPr>
            <p:ph type="title"/>
          </p:nvPr>
        </p:nvSpPr>
        <p:spPr bwMode="auto"/>
        <p:txBody>
          <a:bodyPr/>
          <a:lstStyle/>
          <a:p>
            <a:pPr>
              <a:defRPr/>
            </a:pPr>
            <a:r>
              <a:rPr/>
              <a:t>Block 1 · 1A discussion</a:t>
            </a:r>
            <a:endParaRPr/>
          </a:p>
        </p:txBody>
      </p:sp>
      <p:sp>
        <p:nvSpPr>
          <p:cNvPr id="1096107446"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960892"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770000"/>
                </a:solidFill>
                <a:latin typeface="Georgia"/>
              </a:rPr>
              <a:t>“</a:t>
            </a:r>
            <a:endParaRPr/>
          </a:p>
        </p:txBody>
      </p:sp>
      <p:sp>
        <p:nvSpPr>
          <p:cNvPr id="617891732"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Anyone here written something that looks like this in the last six months?</a:t>
            </a:r>
            <a:endParaRPr/>
          </a:p>
        </p:txBody>
      </p:sp>
      <p:sp>
        <p:nvSpPr>
          <p:cNvPr id="151832154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Hold on to that feeling — we're about to make it worse.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40269190" name="Title 1"/>
          <p:cNvSpPr>
            <a:spLocks noGrp="1"/>
          </p:cNvSpPr>
          <p:nvPr>
            <p:ph type="title"/>
          </p:nvPr>
        </p:nvSpPr>
        <p:spPr bwMode="auto"/>
        <p:txBody>
          <a:bodyPr/>
          <a:lstStyle/>
          <a:p>
            <a:pPr>
              <a:defRPr/>
            </a:pPr>
            <a:r>
              <a:rPr lang="en-US"/>
              <a:t>Anticipated Feedback from Customer</a:t>
            </a:r>
            <a:endParaRPr/>
          </a:p>
        </p:txBody>
      </p:sp>
      <p:sp>
        <p:nvSpPr>
          <p:cNvPr id="70972272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1A PRE-EMPTIVE PUSHBACK</a:t>
            </a:r>
            <a:endParaRPr/>
          </a:p>
        </p:txBody>
      </p:sp>
      <p:sp>
        <p:nvSpPr>
          <p:cNvPr id="64613965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6890369"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3441127"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505467651"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We've shipped 50 machines like this. Why are we changing it?</a:t>
            </a:r>
            <a:endParaRPr/>
          </a:p>
        </p:txBody>
      </p:sp>
      <p:sp>
        <p:nvSpPr>
          <p:cNvPr id="456312361"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34600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70433587"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340926826"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686128"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sz="2200">
              <a:solidFill>
                <a:srgbClr val="242A33"/>
              </a:solidFill>
              <a:latin typeface="Arial"/>
            </a:endParaRPr>
          </a:p>
        </p:txBody>
      </p:sp>
      <p:sp>
        <p:nvSpPr>
          <p:cNvPr id="1696918162" name="Title 2"/>
          <p:cNvSpPr>
            <a:spLocks noGrp="1"/>
          </p:cNvSpPr>
          <p:nvPr>
            <p:ph type="title"/>
          </p:nvPr>
        </p:nvSpPr>
        <p:spPr bwMode="auto"/>
        <p:txBody>
          <a:bodyPr/>
          <a:lstStyle/>
          <a:p>
            <a:pPr>
              <a:defRPr/>
            </a:pPr>
            <a:r>
              <a:rPr/>
              <a:t>Lab 1B: CR-1  ·  Add a Pause mode</a:t>
            </a:r>
            <a:endParaRPr/>
          </a:p>
        </p:txBody>
      </p:sp>
      <p:sp>
        <p:nvSpPr>
          <p:cNvPr id="3951911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175647697"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Open branch release project </a:t>
            </a:r>
            <a:r>
              <a:rPr lang="en-US">
                <a:solidFill>
                  <a:srgbClr val="242A33"/>
                </a:solidFill>
                <a:latin typeface="Arial"/>
              </a:rPr>
              <a:t>FillingLine_Inheritance</a:t>
            </a:r>
            <a:endParaRPr lang="en-US">
              <a:solidFill>
                <a:srgbClr val="242A33"/>
              </a:solidFill>
              <a:latin typeface="Arial"/>
            </a:endParaRPr>
          </a:p>
          <a:p>
            <a:pPr>
              <a:lnSpc>
                <a:spcPct val="130000"/>
              </a:lnSpc>
              <a:defRPr/>
            </a:pPr>
            <a:r>
              <a:rPr lang="en-US">
                <a:solidFill>
                  <a:srgbClr val="242A33"/>
                </a:solidFill>
              </a:rPr>
              <a:t>Add </a:t>
            </a:r>
            <a:r>
              <a:rPr lang="en-US">
                <a:solidFill>
                  <a:srgbClr val="242A33"/>
                </a:solidFill>
              </a:rPr>
              <a:t>ModePause</a:t>
            </a:r>
            <a:r>
              <a:rPr lang="en-US">
                <a:solidFill>
                  <a:srgbClr val="242A33"/>
                </a:solidFill>
              </a:rPr>
              <a:t> to input of every function block</a:t>
            </a:r>
            <a:endParaRPr lang="en-US">
              <a:solidFill>
                <a:srgbClr val="242A33"/>
              </a:solidFill>
              <a:latin typeface="Arial"/>
            </a:endParaRPr>
          </a:p>
          <a:p>
            <a:pPr>
              <a:lnSpc>
                <a:spcPct val="130000"/>
              </a:lnSpc>
              <a:defRPr/>
            </a:pPr>
            <a:r>
              <a:rPr lang="en-US">
                <a:solidFill>
                  <a:srgbClr val="242A33"/>
                </a:solidFill>
                <a:latin typeface="Arial"/>
              </a:rPr>
              <a:t>Spend 5-10 minutes on working through solution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7564981" name="Title 1"/>
          <p:cNvSpPr>
            <a:spLocks noGrp="1"/>
          </p:cNvSpPr>
          <p:nvPr>
            <p:ph type="title"/>
          </p:nvPr>
        </p:nvSpPr>
        <p:spPr bwMode="auto"/>
        <p:txBody>
          <a:bodyPr/>
          <a:lstStyle/>
          <a:p>
            <a:pPr>
              <a:defRPr/>
            </a:pPr>
            <a:r>
              <a:rPr/>
              <a:t>CR-1 result</a:t>
            </a:r>
            <a:endParaRPr/>
          </a:p>
        </p:txBody>
      </p:sp>
      <p:sp>
        <p:nvSpPr>
          <p:cNvPr id="144738822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115140093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stage-1-procedural...stage-1-cr1-applied --stat</a:t>
            </a:r>
            <a:endParaRPr/>
          </a:p>
        </p:txBody>
      </p:sp>
      <p:sp>
        <p:nvSpPr>
          <p:cNvPr id="2961239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5 files  ·  +</a:t>
            </a:r>
            <a:r>
              <a:rPr lang="en-US" sz="6400" b="1" i="0">
                <a:solidFill>
                  <a:srgbClr val="770000"/>
                </a:solidFill>
                <a:latin typeface="Arial"/>
              </a:rPr>
              <a:t>54</a:t>
            </a:r>
            <a:r>
              <a:rPr sz="6400" b="1" i="0">
                <a:solidFill>
                  <a:srgbClr val="770000"/>
                </a:solidFill>
                <a:latin typeface="Arial"/>
              </a:rPr>
              <a:t>  −13</a:t>
            </a:r>
            <a:endParaRPr/>
          </a:p>
        </p:txBody>
      </p:sp>
      <p:sp>
        <p:nvSpPr>
          <p:cNvPr id="1880152387"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1749063" name="TextBox 6"/>
          <p:cNvSpPr txBox="1"/>
          <p:nvPr/>
        </p:nvSpPr>
        <p:spPr bwMode="auto">
          <a:xfrm>
            <a:off x="0" y="3474720"/>
            <a:ext cx="5791200" cy="150554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Same 25 lines of guard logic, paid four times</a:t>
            </a:r>
            <a:r>
              <a:rPr lang="en-US" sz="1800">
                <a:solidFill>
                  <a:srgbClr val="242A33"/>
                </a:solidFill>
                <a:latin typeface="Arial"/>
              </a:rPr>
              <a:t> </a:t>
            </a:r>
            <a:endParaRPr/>
          </a:p>
          <a:p>
            <a:pPr algn="l">
              <a:lnSpc>
                <a:spcPct val="130000"/>
              </a:lnSpc>
              <a:defRPr/>
            </a:pPr>
            <a:r>
              <a:rPr lang="en-US">
                <a:solidFill>
                  <a:srgbClr val="242A33"/>
                </a:solidFill>
                <a:latin typeface="Arial"/>
              </a:rPr>
              <a:t>	</a:t>
            </a:r>
            <a:r>
              <a:rPr lang="en-US" sz="1800">
                <a:solidFill>
                  <a:srgbClr val="242A33"/>
                </a:solidFill>
                <a:latin typeface="Arial"/>
              </a:rPr>
              <a:t>(aka cross-cutting)</a:t>
            </a:r>
            <a:endParaRPr sz="1800">
              <a:solidFill>
                <a:srgbClr val="242A33"/>
              </a:solidFill>
              <a:latin typeface="Arial"/>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endParaRPr lang="en-US" sz="1800">
              <a:solidFill>
                <a:srgbClr val="242A33"/>
              </a:solidFill>
              <a:latin typeface="Arial"/>
            </a:endParaRPr>
          </a:p>
          <a:p>
            <a:pPr>
              <a:lnSpc>
                <a:spcPct val="130000"/>
              </a:lnSpc>
              <a:spcBef>
                <a:spcPts val="400"/>
              </a:spcBef>
              <a:defRPr/>
            </a:pPr>
            <a:r>
              <a:rPr lang="en-US" b="1">
                <a:solidFill>
                  <a:srgbClr val="770000"/>
                </a:solidFill>
              </a:rPr>
              <a:t>▸</a:t>
            </a:r>
            <a:r>
              <a:rPr sz="1800" b="1">
                <a:solidFill>
                  <a:srgbClr val="770000"/>
                </a:solidFill>
                <a:latin typeface="Arial"/>
              </a:rPr>
              <a:t> </a:t>
            </a:r>
            <a:r>
              <a:rPr sz="1800">
                <a:solidFill>
                  <a:srgbClr val="242A33"/>
                </a:solidFill>
                <a:latin typeface="Arial"/>
              </a:rPr>
              <a:t>Tomorrow's CR pays this cost too. And the next.</a:t>
            </a:r>
            <a:endParaRPr/>
          </a:p>
        </p:txBody>
      </p:sp>
      <p:sp>
        <p:nvSpPr>
          <p:cNvPr id="785363510" name="Right Brace 7"/>
          <p:cNvSpPr/>
          <p:nvPr/>
        </p:nvSpPr>
        <p:spPr bwMode="auto">
          <a:xfrm>
            <a:off x="5943600" y="3429000"/>
            <a:ext cx="152400" cy="1551260"/>
          </a:xfrm>
          <a:prstGeom prst="rightBrace">
            <a:avLst>
              <a:gd name="adj1" fmla="val 8333"/>
              <a:gd name="adj2" fmla="val 50000"/>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defRPr/>
            </a:pPr>
            <a:endParaRPr lang="en-US"/>
          </a:p>
        </p:txBody>
      </p:sp>
      <p:sp>
        <p:nvSpPr>
          <p:cNvPr id="1483245697" name="TextBox 8"/>
          <p:cNvSpPr txBox="1"/>
          <p:nvPr/>
        </p:nvSpPr>
        <p:spPr bwMode="auto">
          <a:xfrm>
            <a:off x="6368469" y="3904566"/>
            <a:ext cx="4729180" cy="646331"/>
          </a:xfrm>
          <a:prstGeom prst="rect">
            <a:avLst/>
          </a:prstGeom>
          <a:noFill/>
        </p:spPr>
        <p:txBody>
          <a:bodyPr wrap="none" rtlCol="0">
            <a:spAutoFit/>
          </a:bodyPr>
          <a:lstStyle/>
          <a:p>
            <a:pPr>
              <a:defRPr/>
            </a:pPr>
            <a:r>
              <a:rPr lang="en-US"/>
              <a:t>Easy to underestimate what a risk a “simple”</a:t>
            </a:r>
            <a:endParaRPr/>
          </a:p>
          <a:p>
            <a:pPr>
              <a:defRPr/>
            </a:pPr>
            <a:r>
              <a:rPr lang="en-US"/>
              <a:t>change can be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14218018" name="Title 1"/>
          <p:cNvSpPr>
            <a:spLocks noGrp="1"/>
          </p:cNvSpPr>
          <p:nvPr>
            <p:ph type="title"/>
          </p:nvPr>
        </p:nvSpPr>
        <p:spPr bwMode="auto"/>
        <p:txBody>
          <a:bodyPr/>
          <a:lstStyle/>
          <a:p>
            <a:pPr>
              <a:defRPr/>
            </a:pPr>
            <a:r>
              <a:rPr/>
              <a:t>Block 1 · CR-1 the drift trap</a:t>
            </a:r>
            <a:endParaRPr/>
          </a:p>
        </p:txBody>
      </p:sp>
      <p:sp>
        <p:nvSpPr>
          <p:cNvPr id="3897262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880117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45366928" name="TextBox 4"/>
          <p:cNvSpPr txBox="1"/>
          <p:nvPr/>
        </p:nvSpPr>
        <p:spPr bwMode="auto">
          <a:xfrm>
            <a:off x="1371600" y="1645920"/>
            <a:ext cx="8503920" cy="2182329"/>
          </a:xfrm>
          <a:prstGeom prst="rect">
            <a:avLst/>
          </a:prstGeom>
          <a:noFill/>
        </p:spPr>
        <p:txBody>
          <a:bodyPr wrap="square" lIns="0" tIns="0" rIns="0" bIns="0" anchor="t">
            <a:spAutoFit/>
          </a:bodyPr>
          <a:lstStyle/>
          <a:p>
            <a:pPr algn="l">
              <a:lnSpc>
                <a:spcPct val="130000"/>
              </a:lnSpc>
              <a:defRPr/>
            </a:pPr>
            <a:r>
              <a:rPr lang="en-US" sz="2800" b="0" i="1">
                <a:solidFill>
                  <a:srgbClr val="FFFFFF"/>
                </a:solidFill>
                <a:latin typeface="Arial"/>
              </a:rPr>
              <a:t>Quick check — how many of you copied Pause logic into Label from Cap? From Fill? From Inspect?  Now: check if </a:t>
            </a:r>
            <a:r>
              <a:rPr lang="en-US" sz="2800" b="0" i="1">
                <a:solidFill>
                  <a:srgbClr val="FFFFFF"/>
                </a:solidFill>
                <a:latin typeface="Arial"/>
              </a:rPr>
              <a:t>FB_Station</a:t>
            </a:r>
            <a:r>
              <a:rPr lang="en-US" sz="2800" i="1">
                <a:solidFill>
                  <a:srgbClr val="FFFFFF"/>
                </a:solidFill>
                <a:latin typeface="Arial"/>
              </a:rPr>
              <a:t>Fill</a:t>
            </a:r>
            <a:r>
              <a:rPr lang="en-US" sz="2800" i="1">
                <a:solidFill>
                  <a:srgbClr val="FFFFFF"/>
                </a:solidFill>
                <a:latin typeface="Arial"/>
              </a:rPr>
              <a:t> has a</a:t>
            </a:r>
            <a:r>
              <a:rPr lang="en-US" sz="2800" b="0" i="1">
                <a:solidFill>
                  <a:srgbClr val="FFFFFF"/>
                </a:solidFill>
                <a:latin typeface="Arial"/>
              </a:rPr>
              <a:t> level-based </a:t>
            </a:r>
            <a:r>
              <a:rPr lang="en-US" sz="2800" b="0" i="1">
                <a:solidFill>
                  <a:srgbClr val="FFFFFF"/>
                </a:solidFill>
                <a:latin typeface="Arial"/>
              </a:rPr>
              <a:t>AlarmAck</a:t>
            </a:r>
            <a:r>
              <a:rPr lang="en-US" sz="2800" b="0" i="1">
                <a:solidFill>
                  <a:srgbClr val="FFFFFF"/>
                </a:solidFill>
                <a:latin typeface="Arial"/>
              </a:rPr>
              <a:t> or if it has trigger-based </a:t>
            </a:r>
            <a:r>
              <a:rPr lang="en-US" sz="2800" b="0" i="1">
                <a:solidFill>
                  <a:srgbClr val="FFFFFF"/>
                </a:solidFill>
                <a:latin typeface="Arial"/>
              </a:rPr>
              <a:t>AlarmAck</a:t>
            </a:r>
            <a:r>
              <a:rPr lang="en-US" sz="2800" b="0" i="1">
                <a:solidFill>
                  <a:srgbClr val="FFFFFF"/>
                </a:solidFill>
                <a:latin typeface="Arial"/>
              </a:rPr>
              <a:t>?</a:t>
            </a:r>
            <a:endParaRPr/>
          </a:p>
        </p:txBody>
      </p:sp>
      <p:sp>
        <p:nvSpPr>
          <p:cNvPr id="116602055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That's the procedural maintenance trap. Drift you didn't even know was there.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2136133601" name="Title 1"/>
          <p:cNvSpPr>
            <a:spLocks noGrp="1"/>
          </p:cNvSpPr>
          <p:nvPr>
            <p:ph type="title"/>
          </p:nvPr>
        </p:nvSpPr>
        <p:spPr bwMode="auto"/>
        <p:txBody>
          <a:bodyPr/>
          <a:lstStyle/>
          <a:p>
            <a:pPr>
              <a:defRPr/>
            </a:pPr>
            <a:r>
              <a:rPr lang="en-US"/>
              <a:t>Anticipated Feedback from Customer</a:t>
            </a:r>
            <a:endParaRPr/>
          </a:p>
        </p:txBody>
      </p:sp>
      <p:sp>
        <p:nvSpPr>
          <p:cNvPr id="1648261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CR-1 PRE-EMPTIVE PUSHBACK</a:t>
            </a:r>
            <a:endParaRPr/>
          </a:p>
        </p:txBody>
      </p:sp>
      <p:sp>
        <p:nvSpPr>
          <p:cNvPr id="1141491692"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328184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6801990"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00080178"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team's careful. We use code review. Drift won't happen.</a:t>
            </a:r>
            <a:endParaRPr/>
          </a:p>
        </p:txBody>
      </p:sp>
      <p:sp>
        <p:nvSpPr>
          <p:cNvPr id="1440751996"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338472"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162649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772095059"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4119141" name="Text Placeholder 1"/>
          <p:cNvSpPr>
            <a:spLocks noGrp="1"/>
          </p:cNvSpPr>
          <p:nvPr>
            <p:ph type="body" sz="quarter" idx="15"/>
          </p:nvPr>
        </p:nvSpPr>
        <p:spPr bwMode="auto">
          <a:xfrm>
            <a:off x="6096000" y="1066800"/>
            <a:ext cx="60960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Time does not permit attempt to write the code</a:t>
            </a:r>
            <a:r>
              <a:rPr sz="2000" b="1">
                <a:solidFill>
                  <a:srgbClr val="770000"/>
                </a:solidFill>
                <a:latin typeface="Arial"/>
              </a:rPr>
              <a:t> (expect 60+ lines of code changes)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branch</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are only in </a:t>
            </a:r>
            <a:r>
              <a:rPr lang="en-US" sz="2000">
                <a:solidFill>
                  <a:srgbClr val="242A33"/>
                </a:solidFill>
              </a:rPr>
              <a:t>FB_StationInspect</a:t>
            </a:r>
            <a:r>
              <a:rPr lang="en-US" sz="2000">
                <a:solidFill>
                  <a:srgbClr val="242A33"/>
                </a:solidFill>
              </a:rPr>
              <a:t>. </a:t>
            </a:r>
            <a:endParaRPr/>
          </a:p>
        </p:txBody>
      </p:sp>
      <p:sp>
        <p:nvSpPr>
          <p:cNvPr id="130355629" name="Title 2"/>
          <p:cNvSpPr>
            <a:spLocks noGrp="1"/>
          </p:cNvSpPr>
          <p:nvPr>
            <p:ph type="title"/>
          </p:nvPr>
        </p:nvSpPr>
        <p:spPr bwMode="auto"/>
        <p:txBody>
          <a:bodyPr/>
          <a:lstStyle/>
          <a:p>
            <a:pPr>
              <a:defRPr/>
            </a:pPr>
            <a:r>
              <a:rPr/>
              <a:t>Lab 1C: CR-2  ·  Flag Bad Parts without Stopping the Line</a:t>
            </a:r>
            <a:endParaRPr/>
          </a:p>
        </p:txBody>
      </p:sp>
      <p:sp>
        <p:nvSpPr>
          <p:cNvPr id="152184428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356225546"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a:t>
            </a:r>
            <a:r>
              <a:rPr lang="en-US" sz="2000"/>
              <a:t>Learn diff </a:t>
            </a:r>
            <a:endParaRPr lang="en-US" sz="2000">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7056816" name="Title 1"/>
          <p:cNvSpPr>
            <a:spLocks noGrp="1"/>
          </p:cNvSpPr>
          <p:nvPr>
            <p:ph type="title"/>
          </p:nvPr>
        </p:nvSpPr>
        <p:spPr bwMode="auto"/>
        <p:txBody>
          <a:bodyPr/>
          <a:lstStyle/>
          <a:p>
            <a:pPr>
              <a:defRPr/>
            </a:pPr>
            <a:r>
              <a:rPr/>
              <a:t>CR-2 result</a:t>
            </a:r>
            <a:endParaRPr/>
          </a:p>
        </p:txBody>
      </p:sp>
      <p:sp>
        <p:nvSpPr>
          <p:cNvPr id="1612458589"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70019744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stage-1-procedural...stage-1-cr2-applied --stat</a:t>
            </a:r>
            <a:endParaRPr/>
          </a:p>
        </p:txBody>
      </p:sp>
      <p:sp>
        <p:nvSpPr>
          <p:cNvPr id="6461804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i="0">
                <a:solidFill>
                  <a:srgbClr val="770000"/>
                </a:solidFill>
                <a:latin typeface="Arial"/>
              </a:rPr>
              <a:t>48</a:t>
            </a:r>
            <a:r>
              <a:rPr sz="6400" b="1" i="0">
                <a:solidFill>
                  <a:srgbClr val="770000"/>
                </a:solidFill>
                <a:latin typeface="Arial"/>
              </a:rPr>
              <a:t>  −</a:t>
            </a:r>
            <a:r>
              <a:rPr lang="en-US" sz="6400" b="1">
                <a:solidFill>
                  <a:srgbClr val="770000"/>
                </a:solidFill>
                <a:latin typeface="Arial"/>
              </a:rPr>
              <a:t>12</a:t>
            </a:r>
            <a:endParaRPr sz="6400" b="1" i="0">
              <a:solidFill>
                <a:srgbClr val="770000"/>
              </a:solidFill>
              <a:latin typeface="Arial"/>
            </a:endParaRPr>
          </a:p>
        </p:txBody>
      </p:sp>
      <p:sp>
        <p:nvSpPr>
          <p:cNvPr id="845665325"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5306134"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Inspect's CASE machine rewritten end-to-end.</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The next station that needs parallel pays this cost again.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1773779" name="Title 2"/>
          <p:cNvSpPr>
            <a:spLocks noGrp="1"/>
          </p:cNvSpPr>
          <p:nvPr>
            <p:ph type="title"/>
          </p:nvPr>
        </p:nvSpPr>
        <p:spPr bwMode="auto"/>
        <p:txBody>
          <a:bodyPr/>
          <a:lstStyle/>
          <a:p>
            <a:pPr>
              <a:defRPr/>
            </a:pPr>
            <a:r>
              <a:rPr/>
              <a:t>Lab 1D: CR-3  ·  Selective cycle logging</a:t>
            </a:r>
            <a:endParaRPr/>
          </a:p>
        </p:txBody>
      </p:sp>
      <p:sp>
        <p:nvSpPr>
          <p:cNvPr id="75181347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1976145036" name="Text Placeholder 1"/>
          <p:cNvSpPr txBox="1"/>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b="1">
                <a:solidFill>
                  <a:srgbClr val="770000"/>
                </a:solidFill>
                <a:latin typeface="Arial"/>
              </a:rPr>
              <a:t>▸  </a:t>
            </a:r>
            <a:r>
              <a:rPr lang="en-US" sz="2000">
                <a:solidFill>
                  <a:srgbClr val="242A33"/>
                </a:solidFill>
                <a:latin typeface="Arial"/>
              </a:rPr>
              <a:t>Log cycle data for Fill and Inspect. Cap and Label don't need it.</a:t>
            </a:r>
            <a:endParaRPr/>
          </a:p>
          <a:p>
            <a:pPr>
              <a:lnSpc>
                <a:spcPct val="130000"/>
              </a:lnSpc>
              <a:spcBef>
                <a:spcPts val="400"/>
              </a:spcBef>
              <a:defRPr/>
            </a:pPr>
            <a:r>
              <a:rPr lang="en-US" sz="2000" b="1">
                <a:solidFill>
                  <a:srgbClr val="770000"/>
                </a:solidFill>
                <a:latin typeface="Arial"/>
              </a:rPr>
              <a:t>▸  </a:t>
            </a:r>
            <a:r>
              <a:rPr lang="en-US" sz="2000" b="1">
                <a:solidFill>
                  <a:srgbClr val="242A33"/>
                </a:solidFill>
                <a:latin typeface="Arial"/>
              </a:rPr>
              <a:t>Independent work for future to really hammer home the </a:t>
            </a:r>
            <a:r>
              <a:rPr lang="en-US" sz="2000" b="1">
                <a:solidFill>
                  <a:srgbClr val="242A33"/>
                </a:solidFill>
                <a:latin typeface="Arial"/>
              </a:rPr>
              <a:t>repetiveness</a:t>
            </a:r>
            <a:r>
              <a:rPr lang="en-US" sz="2000" b="1">
                <a:solidFill>
                  <a:srgbClr val="242A33"/>
                </a:solidFill>
                <a:latin typeface="Arial"/>
              </a:rPr>
              <a:t> of procedural coding</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01024271" name="Title 1"/>
          <p:cNvSpPr>
            <a:spLocks noGrp="1"/>
          </p:cNvSpPr>
          <p:nvPr>
            <p:ph type="title"/>
          </p:nvPr>
        </p:nvSpPr>
        <p:spPr bwMode="auto"/>
        <p:txBody>
          <a:bodyPr/>
          <a:lstStyle/>
          <a:p>
            <a:pPr>
              <a:defRPr/>
            </a:pPr>
            <a:r>
              <a:rPr/>
              <a:t>CR-3 result — small in lines, lasting in duplication</a:t>
            </a:r>
            <a:endParaRPr/>
          </a:p>
        </p:txBody>
      </p:sp>
      <p:sp>
        <p:nvSpPr>
          <p:cNvPr id="112167970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6271138"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stage-1-procedural...stage-1-cr3-applied --stat</a:t>
            </a:r>
            <a:endParaRPr/>
          </a:p>
        </p:txBody>
      </p:sp>
      <p:sp>
        <p:nvSpPr>
          <p:cNvPr id="1357617246"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a:solidFill>
                  <a:srgbClr val="770000"/>
                </a:solidFill>
                <a:latin typeface="Arial"/>
              </a:rPr>
              <a:t>9</a:t>
            </a:r>
            <a:r>
              <a:rPr sz="6400" b="1" i="0">
                <a:solidFill>
                  <a:srgbClr val="770000"/>
                </a:solidFill>
                <a:latin typeface="Arial"/>
              </a:rPr>
              <a:t>  −</a:t>
            </a:r>
            <a:r>
              <a:rPr lang="en-US" sz="6400" b="1">
                <a:solidFill>
                  <a:srgbClr val="770000"/>
                </a:solidFill>
                <a:latin typeface="Arial"/>
              </a:rPr>
              <a:t>1</a:t>
            </a:r>
            <a:endParaRPr sz="6400" b="1" i="0">
              <a:solidFill>
                <a:srgbClr val="770000"/>
              </a:solidFill>
              <a:latin typeface="Arial"/>
            </a:endParaRPr>
          </a:p>
        </p:txBody>
      </p:sp>
      <p:sp>
        <p:nvSpPr>
          <p:cNvPr id="1912710219"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62655757"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Identical buffer code in two places.</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Smallest line count. Loses on every other dimension.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4642267" name="Title 2"/>
          <p:cNvSpPr>
            <a:spLocks noGrp="1"/>
          </p:cNvSpPr>
          <p:nvPr>
            <p:ph type="title"/>
          </p:nvPr>
        </p:nvSpPr>
        <p:spPr bwMode="auto"/>
        <p:txBody>
          <a:bodyPr/>
          <a:lstStyle/>
          <a:p>
            <a:pPr>
              <a:defRPr/>
            </a:pPr>
            <a:r>
              <a:rPr/>
              <a:t>Block 1 debrief — Pros and Cons</a:t>
            </a:r>
            <a:endParaRPr/>
          </a:p>
        </p:txBody>
      </p:sp>
      <p:sp>
        <p:nvSpPr>
          <p:cNvPr id="52466587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1E DEBRIEF (15 MIN)</a:t>
            </a:r>
            <a:endParaRPr/>
          </a:p>
        </p:txBody>
      </p:sp>
      <p:graphicFrame>
        <p:nvGraphicFramePr>
          <p:cNvPr id="2118915413" name="Table 4"/>
          <p:cNvGraphicFramePr>
            <a:graphicFrameLocks xmlns:a="http://schemas.openxmlformats.org/drawingml/2006/main" noGrp="1"/>
          </p:cNvGraphicFramePr>
          <p:nvPr/>
        </p:nvGraphicFramePr>
        <p:xfrm rot="0">
          <a:off x="533400" y="1523999"/>
          <a:ext cx="10253980" cy="5084276"/>
        </p:xfrm>
        <a:graphic>
          <a:graphicData uri="http://schemas.openxmlformats.org/drawingml/2006/table">
            <a:tbl>
              <a:tblPr firstRow="1" firstCol="0" lastRow="0" lastCol="0" bandRow="1" bandCol="0">
                <a:tableStyleId>{0817EA92-75D0-4044-A80A-286907CE0DDC}</a:tableStyleId>
              </a:tblPr>
              <a:tblGrid>
                <a:gridCol w="4729480"/>
                <a:gridCol w="5524500"/>
              </a:tblGrid>
              <a:tr h="813869">
                <a:tc>
                  <a:txBody>
                    <a:bodyPr/>
                    <a:p>
                      <a:pPr algn="ctr">
                        <a:defRPr/>
                      </a:pPr>
                      <a:r>
                        <a:rPr lang="en-US" sz="2800"/>
                        <a:t>Pros</a:t>
                      </a:r>
                      <a:endParaRPr/>
                    </a:p>
                  </a:txBody>
                  <a:tcPr anchor="ctr"/>
                </a:tc>
                <a:tc>
                  <a:txBody>
                    <a:bodyPr/>
                    <a:p>
                      <a:pPr algn="ctr">
                        <a:defRPr/>
                      </a:pPr>
                      <a:r>
                        <a:rPr lang="en-US" sz="2800"/>
                        <a:t>Cons</a:t>
                      </a:r>
                      <a:endParaRPr lang="en-US"/>
                    </a:p>
                  </a:txBody>
                  <a:tcPr anchor="ctr"/>
                </a:tc>
              </a:tr>
              <a:tr h="813869">
                <a:tc>
                  <a:txBody>
                    <a:bodyPr/>
                    <a:p>
                      <a:pPr>
                        <a:defRPr/>
                      </a:pPr>
                      <a:r>
                        <a:rPr lang="en-US" b="1"/>
                        <a:t>Simple and familiar</a:t>
                      </a:r>
                      <a:endParaRPr/>
                    </a:p>
                    <a:p>
                      <a:pPr>
                        <a:defRPr/>
                      </a:pPr>
                      <a:r>
                        <a:rPr lang="en-US"/>
                        <a:t>Every controls engineer knows this structure</a:t>
                      </a:r>
                      <a:endParaRPr/>
                    </a:p>
                  </a:txBody>
                  <a:tcPr/>
                </a:tc>
                <a:tc>
                  <a:txBody>
                    <a:bodyPr/>
                    <a:p>
                      <a:pPr>
                        <a:defRPr/>
                      </a:pPr>
                      <a:r>
                        <a:rPr lang="en-US" b="1"/>
                        <a:t>Same change made in every station file</a:t>
                      </a:r>
                      <a:endParaRPr/>
                    </a:p>
                    <a:p>
                      <a:pPr>
                        <a:defRPr/>
                      </a:pPr>
                      <a:r>
                        <a:rPr lang="en-US"/>
                        <a:t>No mechanism to enforce consistency</a:t>
                      </a:r>
                      <a:endParaRPr/>
                    </a:p>
                    <a:p>
                      <a:pPr>
                        <a:defRPr/>
                      </a:pPr>
                      <a:endParaRPr lang="en-US"/>
                    </a:p>
                  </a:txBody>
                  <a:tcPr/>
                </a:tc>
              </a:tr>
              <a:tr h="813869">
                <a:tc>
                  <a:txBody>
                    <a:bodyPr/>
                    <a:p>
                      <a:pPr>
                        <a:defRPr/>
                      </a:pPr>
                      <a:r>
                        <a:rPr lang="en-US" b="1"/>
                        <a:t>Easy to read</a:t>
                      </a:r>
                      <a:endParaRPr/>
                    </a:p>
                    <a:p>
                      <a:pPr>
                        <a:defRPr/>
                      </a:pPr>
                      <a:r>
                        <a:rPr lang="en-US"/>
                        <a:t>Entire station behavior is visible in one file</a:t>
                      </a:r>
                      <a:endParaRPr/>
                    </a:p>
                  </a:txBody>
                  <a:tcPr/>
                </a:tc>
                <a:tc>
                  <a:txBody>
                    <a:bodyPr/>
                    <a:p>
                      <a:pPr>
                        <a:defRPr/>
                      </a:pPr>
                      <a:r>
                        <a:rPr lang="en-US" b="1"/>
                        <a:t>Copy-paste is the only tool for sharing logic</a:t>
                      </a:r>
                      <a:r>
                        <a:rPr lang="en-US"/>
                        <a:t> </a:t>
                      </a:r>
                      <a:endParaRPr/>
                    </a:p>
                    <a:p>
                      <a:pPr>
                        <a:defRPr/>
                      </a:pPr>
                      <a:r>
                        <a:rPr lang="en-US"/>
                        <a:t>Drift is inevitable</a:t>
                      </a:r>
                      <a:endParaRPr/>
                    </a:p>
                  </a:txBody>
                  <a:tcPr/>
                </a:tc>
              </a:tr>
              <a:tr h="813869">
                <a:tc>
                  <a:txBody>
                    <a:bodyPr/>
                    <a:p>
                      <a:pPr>
                        <a:defRPr/>
                      </a:pPr>
                      <a:r>
                        <a:rPr lang="en-US" b="1"/>
                        <a:t>No framework knowledge required</a:t>
                      </a:r>
                      <a:endParaRPr/>
                    </a:p>
                  </a:txBody>
                  <a:tcPr/>
                </a:tc>
                <a:tc>
                  <a:txBody>
                    <a:bodyPr/>
                    <a:p>
                      <a:pPr>
                        <a:defRPr/>
                      </a:pPr>
                      <a:r>
                        <a:rPr lang="en-US" b="1"/>
                        <a:t>Discipline is the only defense against inconsistency</a:t>
                      </a:r>
                      <a:endParaRPr/>
                    </a:p>
                    <a:p>
                      <a:pPr>
                        <a:defRPr/>
                      </a:pPr>
                      <a:r>
                        <a:rPr lang="en-US"/>
                        <a:t>And discipline is bounded</a:t>
                      </a:r>
                      <a:endParaRPr/>
                    </a:p>
                  </a:txBody>
                  <a:tcPr/>
                </a:tc>
              </a:tr>
              <a:tr h="813869">
                <a:tc>
                  <a:txBody>
                    <a:bodyPr/>
                    <a:p>
                      <a:pPr>
                        <a:defRPr/>
                      </a:pPr>
                      <a:r>
                        <a:rPr lang="en-US" b="1"/>
                        <a:t>Fast to write for first implementation</a:t>
                      </a:r>
                      <a:endParaRPr/>
                    </a:p>
                    <a:p>
                      <a:pPr>
                        <a:defRPr/>
                      </a:pPr>
                      <a:endParaRPr lang="en-US"/>
                    </a:p>
                  </a:txBody>
                  <a:tcPr/>
                </a:tc>
                <a:tc>
                  <a:txBody>
                    <a:bodyPr/>
                    <a:p>
                      <a:pPr>
                        <a:defRPr/>
                      </a:pPr>
                      <a:r>
                        <a:rPr lang="en-US" b="1"/>
                        <a:t>Cross-cutting changes ripple across every station file</a:t>
                      </a:r>
                      <a:endParaRPr/>
                    </a:p>
                  </a:txBody>
                  <a:tcPr/>
                </a:tc>
              </a:tr>
              <a:tr h="813869">
                <a:tc>
                  <a:txBody>
                    <a:bodyPr/>
                    <a:p>
                      <a:pPr>
                        <a:defRPr/>
                      </a:pPr>
                      <a:r>
                        <a:rPr lang="en-US" b="1"/>
                        <a:t>Easy to debug</a:t>
                      </a:r>
                      <a:r>
                        <a:rPr lang="en-US"/>
                        <a:t> </a:t>
                      </a:r>
                      <a:endParaRPr/>
                    </a:p>
                    <a:p>
                      <a:pPr>
                        <a:defRPr/>
                      </a:pPr>
                      <a:r>
                        <a:rPr lang="en-US"/>
                        <a:t>No inheritance chain to trace</a:t>
                      </a:r>
                      <a:endParaRPr/>
                    </a:p>
                  </a:txBody>
                  <a:tcPr/>
                </a:tc>
                <a:tc>
                  <a:txBody>
                    <a:bodyPr/>
                    <a:p>
                      <a:pPr>
                        <a:defRPr/>
                      </a:pPr>
                      <a:r>
                        <a:rPr lang="en-US" b="1"/>
                        <a:t>One requirement, five files to touch – and counting</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6958669" name="Title 1"/>
          <p:cNvSpPr>
            <a:spLocks noGrp="1"/>
          </p:cNvSpPr>
          <p:nvPr>
            <p:ph type="title"/>
          </p:nvPr>
        </p:nvSpPr>
        <p:spPr bwMode="auto"/>
        <p:txBody>
          <a:bodyPr/>
          <a:lstStyle/>
          <a:p>
            <a:pPr>
              <a:defRPr/>
            </a:pPr>
            <a:r>
              <a:rPr/>
              <a:t>Block 1 → Block 2 break</a:t>
            </a:r>
            <a:endParaRPr/>
          </a:p>
        </p:txBody>
      </p:sp>
      <p:sp>
        <p:nvSpPr>
          <p:cNvPr id="455236270"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8852344"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770000"/>
                </a:solidFill>
                <a:latin typeface="Arial"/>
              </a:rPr>
              <a:t>BREAK</a:t>
            </a:r>
            <a:endParaRPr/>
          </a:p>
        </p:txBody>
      </p:sp>
      <p:sp>
        <p:nvSpPr>
          <p:cNvPr id="1562498049"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a:t>
            </a:r>
            <a:r>
              <a:rPr lang="en-US" sz="9600" b="1" i="0">
                <a:solidFill>
                  <a:srgbClr val="FFFFFF"/>
                </a:solidFill>
                <a:latin typeface="Arial"/>
              </a:rPr>
              <a:t>5</a:t>
            </a:r>
            <a:r>
              <a:rPr sz="9600" b="1" i="0">
                <a:solidFill>
                  <a:srgbClr val="FFFFFF"/>
                </a:solidFill>
                <a:latin typeface="Arial"/>
              </a:rPr>
              <a:t> min</a:t>
            </a:r>
            <a:endParaRPr/>
          </a:p>
        </p:txBody>
      </p:sp>
      <p:sp>
        <p:nvSpPr>
          <p:cNvPr id="104880755"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Coffee, bathroom, social conversation. The next block has the densest concept 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8602326" name="Title 2"/>
          <p:cNvSpPr>
            <a:spLocks noGrp="1"/>
          </p:cNvSpPr>
          <p:nvPr>
            <p:ph type="title"/>
          </p:nvPr>
        </p:nvSpPr>
        <p:spPr bwMode="auto"/>
        <p:txBody>
          <a:bodyPr/>
          <a:lstStyle/>
          <a:p>
            <a:pPr>
              <a:defRPr/>
            </a:pPr>
            <a:r>
              <a:rPr/>
              <a:t>Block 2</a:t>
            </a:r>
            <a:endParaRPr/>
          </a:p>
        </p:txBody>
      </p:sp>
      <p:sp>
        <p:nvSpPr>
          <p:cNvPr id="375229300"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62140828"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2 — Inheritance</a:t>
            </a:r>
            <a:endParaRPr/>
          </a:p>
        </p:txBody>
      </p:sp>
      <p:sp>
        <p:nvSpPr>
          <p:cNvPr id="1198741500"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627186"/>
                </a:solidFill>
                <a:latin typeface="Arial"/>
              </a:rPr>
              <a:t>75</a:t>
            </a:r>
            <a:r>
              <a:rPr sz="1800" b="1" i="0">
                <a:solidFill>
                  <a:srgbClr val="627186"/>
                </a:solidFill>
                <a:latin typeface="Arial"/>
              </a:rPr>
              <a:t> min</a:t>
            </a:r>
            <a:endParaRPr/>
          </a:p>
        </p:txBody>
      </p:sp>
      <p:sp>
        <p:nvSpPr>
          <p:cNvPr id="188340916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What half of OOP textbooks teach.</a:t>
            </a:r>
            <a:endParaRPr/>
          </a:p>
          <a:p>
            <a:pPr algn="l">
              <a:lnSpc>
                <a:spcPct val="140000"/>
              </a:lnSpc>
              <a:defRPr/>
            </a:pPr>
            <a:r>
              <a:rPr sz="2000" b="0" i="1">
                <a:solidFill>
                  <a:srgbClr val="242A33"/>
                </a:solidFill>
                <a:latin typeface="Arial"/>
              </a:rPr>
              <a:t>The duplication evaporates.</a:t>
            </a:r>
            <a:endParaRPr/>
          </a:p>
          <a:p>
            <a:pPr algn="l">
              <a:lnSpc>
                <a:spcPct val="140000"/>
              </a:lnSpc>
              <a:defRPr/>
            </a:pPr>
            <a:r>
              <a:rPr sz="2000" b="0" i="1">
                <a:solidFill>
                  <a:srgbClr val="242A33"/>
                </a:solidFill>
                <a:latin typeface="Arial"/>
              </a:rPr>
              <a:t>Then the base class becomes the constraint.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2643444" name="Text Placeholder 1"/>
          <p:cNvSpPr>
            <a:spLocks noGrp="1"/>
          </p:cNvSpPr>
          <p:nvPr>
            <p:ph type="body" sz="quarter" idx="15"/>
          </p:nvPr>
        </p:nvSpPr>
        <p:spPr bwMode="auto"/>
        <p:txBody>
          <a:bodyPr wrap="square"/>
          <a:lstStyle/>
          <a:p>
            <a:pPr algn="l">
              <a:lnSpc>
                <a:spcPct val="130000"/>
              </a:lnSpc>
              <a:defRPr/>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IEC 61131-3 </a:t>
            </a:r>
            <a:r>
              <a:rPr sz="2000">
                <a:solidFill>
                  <a:srgbClr val="242A33"/>
                </a:solidFill>
                <a:latin typeface="Arial"/>
              </a:rPr>
              <a:t>— inheritance included in 3</a:t>
            </a:r>
            <a:r>
              <a:rPr sz="2000" baseline="30000">
                <a:solidFill>
                  <a:srgbClr val="242A33"/>
                </a:solidFill>
                <a:latin typeface="Arial"/>
              </a:rPr>
              <a:t>rd</a:t>
            </a:r>
            <a:r>
              <a:rPr sz="2000">
                <a:solidFill>
                  <a:srgbClr val="242A33"/>
                </a:solidFill>
                <a:latin typeface="Arial"/>
              </a:rPr>
              <a:t> edition (2013)</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a:t>
            </a:r>
            <a:r>
              <a:rPr sz="2000" u="sng">
                <a:solidFill>
                  <a:srgbClr val="242A33"/>
                </a:solidFill>
                <a:latin typeface="Arial"/>
              </a:rPr>
              <a:t>constraint</a:t>
            </a:r>
            <a:r>
              <a:rPr sz="2000">
                <a:solidFill>
                  <a:srgbClr val="242A33"/>
                </a:solidFill>
                <a:latin typeface="Arial"/>
              </a:rPr>
              <a:t>.</a:t>
            </a:r>
            <a:endParaRPr/>
          </a:p>
        </p:txBody>
      </p:sp>
      <p:sp>
        <p:nvSpPr>
          <p:cNvPr id="1007385673" name="Title 2"/>
          <p:cNvSpPr>
            <a:spLocks noGrp="1"/>
          </p:cNvSpPr>
          <p:nvPr>
            <p:ph type="title"/>
          </p:nvPr>
        </p:nvSpPr>
        <p:spPr bwMode="auto"/>
        <p:txBody>
          <a:bodyPr/>
          <a:lstStyle/>
          <a:p>
            <a:pPr>
              <a:defRPr/>
            </a:pPr>
            <a:r>
              <a:rPr/>
              <a:t>The inheritance paradigm</a:t>
            </a:r>
            <a:endParaRPr/>
          </a:p>
        </p:txBody>
      </p:sp>
      <p:sp>
        <p:nvSpPr>
          <p:cNvPr id="194851628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0438720"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inheritance sample structure</a:t>
            </a:r>
            <a:endParaRPr/>
          </a:p>
          <a:p>
            <a:pPr>
              <a:defRPr/>
            </a:pPr>
            <a:r>
              <a:rPr lang="en-US"/>
              <a:t>Understand OOP keywords: EXTENDS, THIS^, SUPER^</a:t>
            </a:r>
            <a:endParaRPr/>
          </a:p>
          <a:p>
            <a:pPr>
              <a:defRPr/>
            </a:pPr>
            <a:r>
              <a:rPr lang="en-US"/>
              <a:t>Understand overriding base class methods</a:t>
            </a:r>
            <a:endParaRPr/>
          </a:p>
          <a:p>
            <a:pPr>
              <a:defRPr/>
            </a:pPr>
            <a:r>
              <a:rPr lang="en-US"/>
              <a:t>See a glimpse of SPT Component Base</a:t>
            </a:r>
            <a:endParaRPr/>
          </a:p>
        </p:txBody>
      </p:sp>
      <p:sp>
        <p:nvSpPr>
          <p:cNvPr id="1098877030" name="Title 2"/>
          <p:cNvSpPr>
            <a:spLocks noGrp="1"/>
          </p:cNvSpPr>
          <p:nvPr>
            <p:ph type="title"/>
          </p:nvPr>
        </p:nvSpPr>
        <p:spPr bwMode="auto"/>
        <p:txBody>
          <a:bodyPr/>
          <a:lstStyle/>
          <a:p>
            <a:pPr>
              <a:defRPr/>
            </a:pPr>
            <a:r>
              <a:rPr lang="en-US"/>
              <a:t>Lab 2A: Inheritance Code Inspection</a:t>
            </a:r>
            <a:endParaRPr/>
          </a:p>
        </p:txBody>
      </p:sp>
      <p:sp>
        <p:nvSpPr>
          <p:cNvPr id="42966255" name="Text Placeholder 1"/>
          <p:cNvSpPr txBox="1"/>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of the solution</a:t>
            </a:r>
            <a:endParaRPr/>
          </a:p>
          <a:p>
            <a:pPr>
              <a:defRPr/>
            </a:pPr>
            <a:r>
              <a:rPr lang="en-US"/>
              <a:t>Go to the </a:t>
            </a:r>
            <a:r>
              <a:rPr lang="en-US"/>
              <a:t>FillingLine_Inheritance</a:t>
            </a:r>
            <a:r>
              <a:rPr lang="en-US"/>
              <a:t> Project</a:t>
            </a:r>
            <a:endParaRPr/>
          </a:p>
          <a:p>
            <a:pPr>
              <a:defRPr/>
            </a:pPr>
            <a:r>
              <a:rPr lang="en-US"/>
              <a:t>Install project libraries if necessary </a:t>
            </a:r>
            <a:endParaRPr/>
          </a:p>
          <a:p>
            <a:pPr>
              <a:defRPr/>
            </a:pPr>
            <a:r>
              <a:rPr lang="en-US"/>
              <a:t>Open </a:t>
            </a:r>
            <a:r>
              <a:rPr lang="en-US"/>
              <a:t>FB_StationBase</a:t>
            </a:r>
            <a:r>
              <a:rPr lang="en-US"/>
              <a:t> and identify where the common procedural code blocks have been placed</a:t>
            </a:r>
            <a:endParaRPr/>
          </a:p>
          <a:p>
            <a:pPr>
              <a:defRPr/>
            </a:pPr>
            <a:r>
              <a:rPr lang="en-US"/>
              <a:t>Compare size of </a:t>
            </a:r>
            <a:r>
              <a:rPr lang="en-US"/>
              <a:t>FB_StationFill</a:t>
            </a:r>
            <a:r>
              <a:rPr lang="en-US"/>
              <a:t> in procedural vs inheritance projects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7476811"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23824014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7771916"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30044908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4471079"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r>
              <a:rPr lang="en-US" sz="2400">
                <a:solidFill>
                  <a:srgbClr val="242A33"/>
                </a:solidFill>
              </a:rPr>
              <a:t>ExecuteSequence</a:t>
            </a:r>
            <a:r>
              <a:rPr lang="en-US" sz="2400">
                <a:solidFill>
                  <a:srgbClr val="242A33"/>
                </a:solidFill>
              </a:rPr>
              <a:t>() of derived FB overrides base</a:t>
            </a:r>
            <a:endParaRPr/>
          </a:p>
        </p:txBody>
      </p:sp>
      <p:sp>
        <p:nvSpPr>
          <p:cNvPr id="1231541880" name="Title 2"/>
          <p:cNvSpPr>
            <a:spLocks noGrp="1"/>
          </p:cNvSpPr>
          <p:nvPr>
            <p:ph type="title"/>
          </p:nvPr>
        </p:nvSpPr>
        <p:spPr bwMode="auto"/>
        <p:txBody>
          <a:bodyPr/>
          <a:lstStyle/>
          <a:p>
            <a:pPr>
              <a:defRPr/>
            </a:pPr>
            <a:r>
              <a:rPr lang="en-US"/>
              <a:t>Overriding Base FB Methods</a:t>
            </a:r>
            <a:endParaRPr/>
          </a:p>
        </p:txBody>
      </p:sp>
      <p:sp>
        <p:nvSpPr>
          <p:cNvPr id="1439854738" name="Rectangle 3"/>
          <p:cNvSpPr/>
          <p:nvPr/>
        </p:nvSpPr>
        <p:spPr bwMode="auto">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en-US" sz="1800">
              <a:solidFill>
                <a:schemeClr val="tx1"/>
              </a:solidFill>
              <a:latin typeface="+mj-lt"/>
              <a:ea typeface="+mn-ea"/>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114069" name="Title 1"/>
          <p:cNvSpPr>
            <a:spLocks noGrp="1"/>
          </p:cNvSpPr>
          <p:nvPr>
            <p:ph type="title"/>
          </p:nvPr>
        </p:nvSpPr>
        <p:spPr bwMode="auto"/>
        <p:txBody>
          <a:bodyPr/>
          <a:lstStyle/>
          <a:p>
            <a:pPr>
              <a:defRPr/>
            </a:pPr>
            <a:r>
              <a:rPr/>
              <a:t>Inheritance mechanics — four things to recognize</a:t>
            </a:r>
            <a:endParaRPr/>
          </a:p>
        </p:txBody>
      </p:sp>
      <p:sp>
        <p:nvSpPr>
          <p:cNvPr id="70594081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
        <p:nvSpPr>
          <p:cNvPr id="20036006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3296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STRUCTURED TEXT</a:t>
            </a:r>
            <a:endParaRPr/>
          </a:p>
        </p:txBody>
      </p:sp>
      <p:sp>
        <p:nvSpPr>
          <p:cNvPr id="38368317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 1. EXTENDS — child declares parent</a:t>
            </a:r>
            <a:endParaRPr/>
          </a:p>
          <a:p>
            <a:pPr algn="l">
              <a:lnSpc>
                <a:spcPct val="125000"/>
              </a:lnSpc>
              <a:defRPr/>
            </a:pPr>
            <a:r>
              <a:rPr sz="1200" b="0" i="0">
                <a:solidFill>
                  <a:srgbClr val="E6E8EB"/>
                </a:solidFill>
                <a:latin typeface="Consolas"/>
              </a:rPr>
              <a:t>FUNCTION_BLOCK FB_StationFill EXTENDS FB_StationBase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2. SUPER^ — explicit base call</a:t>
            </a:r>
            <a:endParaRPr/>
          </a:p>
          <a:p>
            <a:pPr algn="l">
              <a:lnSpc>
                <a:spcPct val="125000"/>
              </a:lnSpc>
              <a:defRPr/>
            </a:pPr>
            <a:r>
              <a:rPr sz="1200" b="0" i="0">
                <a:solidFill>
                  <a:srgbClr val="E6E8EB"/>
                </a:solidFill>
                <a:latin typeface="Consolas"/>
              </a:rPr>
              <a:t>METHOD PROTECTED CyclicLogic</a:t>
            </a:r>
            <a:endParaRPr/>
          </a:p>
          <a:p>
            <a:pPr algn="l">
              <a:lnSpc>
                <a:spcPct val="125000"/>
              </a:lnSpc>
              <a:defRPr/>
            </a:pPr>
            <a:r>
              <a:rPr sz="1200" b="0" i="0">
                <a:solidFill>
                  <a:srgbClr val="E6E8EB"/>
                </a:solidFill>
                <a:latin typeface="Consolas"/>
              </a:rPr>
              <a:t>    SUPER^.CyclicLogic();    // run the base's mode/ack/reset</a:t>
            </a:r>
            <a:endParaRPr/>
          </a:p>
          <a:p>
            <a:pPr algn="l">
              <a:lnSpc>
                <a:spcPct val="125000"/>
              </a:lnSpc>
              <a:defRPr/>
            </a:pPr>
            <a:r>
              <a:rPr sz="1200" b="0" i="0">
                <a:solidFill>
                  <a:srgbClr val="E6E8EB"/>
                </a:solidFill>
                <a:latin typeface="Consolas"/>
              </a:rPr>
              <a:t>    THIS^.ExecuteSequence(); // then run my sequence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3. Method override — child's version replaces base's</a:t>
            </a:r>
            <a:endParaRPr/>
          </a:p>
          <a:p>
            <a:pPr algn="l">
              <a:lnSpc>
                <a:spcPct val="125000"/>
              </a:lnSpc>
              <a:defRPr/>
            </a:pPr>
            <a:r>
              <a:rPr sz="1200" b="0" i="0">
                <a:solidFill>
                  <a:srgbClr val="E6E8EB"/>
                </a:solidFill>
                <a:latin typeface="Consolas"/>
              </a:rPr>
              <a:t>METHOD PROTECTED ExecuteSequence</a:t>
            </a:r>
            <a:endParaRPr/>
          </a:p>
          <a:p>
            <a:pPr algn="l">
              <a:lnSpc>
                <a:spcPct val="125000"/>
              </a:lnSpc>
              <a:defRPr/>
            </a:pPr>
            <a:r>
              <a:rPr sz="1200" b="0" i="0">
                <a:solidFill>
                  <a:srgbClr val="E6E8EB"/>
                </a:solidFill>
                <a:latin typeface="Consolas"/>
              </a:rPr>
              <a:t>    CASE State OF</a:t>
            </a:r>
            <a:endParaRPr/>
          </a:p>
          <a:p>
            <a:pPr algn="l">
              <a:lnSpc>
                <a:spcPct val="125000"/>
              </a:lnSpc>
              <a:defRPr/>
            </a:pPr>
            <a:r>
              <a:rPr sz="1200" b="0" i="0">
                <a:solidFill>
                  <a:srgbClr val="E6E8EB"/>
                </a:solidFill>
                <a:latin typeface="Consolas"/>
              </a:rPr>
              <a:t>        0:  IF Mode.AllowRun THEN State := 10; END_IF</a:t>
            </a:r>
            <a:endParaRPr/>
          </a:p>
          <a:p>
            <a:pPr algn="l">
              <a:lnSpc>
                <a:spcPct val="125000"/>
              </a:lnSpc>
              <a:defRPr/>
            </a:pPr>
            <a:r>
              <a:rPr sz="1200" b="0" i="0">
                <a:solidFill>
                  <a:srgbClr val="E6E8EB"/>
                </a:solidFill>
                <a:latin typeface="Consolas"/>
              </a:rPr>
              <a:t>        10: // ... fill logic</a:t>
            </a:r>
            <a:endParaRPr/>
          </a:p>
          <a:p>
            <a:pPr algn="l">
              <a:lnSpc>
                <a:spcPct val="125000"/>
              </a:lnSpc>
              <a:defRPr/>
            </a:pPr>
            <a:r>
              <a:rPr sz="1200" b="0" i="0">
                <a:solidFill>
                  <a:srgbClr val="E6E8EB"/>
                </a:solidFill>
                <a:latin typeface="Consolas"/>
              </a:rPr>
              <a:t>        20: State := 0;</a:t>
            </a:r>
            <a:endParaRPr/>
          </a:p>
          <a:p>
            <a:pPr algn="l">
              <a:lnSpc>
                <a:spcPct val="125000"/>
              </a:lnSpc>
              <a:defRPr/>
            </a:pPr>
            <a:r>
              <a:rPr sz="1200" b="0" i="0">
                <a:solidFill>
                  <a:srgbClr val="E6E8EB"/>
                </a:solidFill>
                <a:latin typeface="Consolas"/>
              </a:rPr>
              <a:t>    END_CASE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4. FB_init — construction-time parameters</a:t>
            </a:r>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Name         : STRING(20);</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SUPER^.FB_init(bInitRetains, bInCopyCode);</a:t>
            </a:r>
            <a:endParaRPr/>
          </a:p>
          <a:p>
            <a:pPr algn="l">
              <a:lnSpc>
                <a:spcPct val="125000"/>
              </a:lnSpc>
              <a:defRPr/>
            </a:pPr>
            <a:r>
              <a:rPr sz="1200" b="0" i="0">
                <a:solidFill>
                  <a:srgbClr val="E6E8EB"/>
                </a:solidFill>
                <a:latin typeface="Consolas"/>
              </a:rPr>
              <a:t>THIS^.Name := Name;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7225179" name="Text Placeholder 1"/>
          <p:cNvSpPr>
            <a:spLocks noGrp="1"/>
          </p:cNvSpPr>
          <p:nvPr>
            <p:ph type="body" sz="quarter" idx="15"/>
          </p:nvPr>
        </p:nvSpPr>
        <p:spPr bwMode="auto">
          <a:xfrm>
            <a:off x="2" y="1090799"/>
            <a:ext cx="11887196" cy="5331600"/>
          </a:xfrm>
        </p:spPr>
        <p:txBody>
          <a:bodyPr wrap="square"/>
          <a:lstStyle/>
          <a:p>
            <a:pPr algn="l">
              <a:lnSpc>
                <a:spcPct val="130000"/>
              </a:lnSpc>
              <a:defRPr/>
            </a:pPr>
            <a:r>
              <a:rPr sz="2000" b="1">
                <a:solidFill>
                  <a:srgbClr val="627186"/>
                </a:solidFill>
                <a:latin typeface="Arial"/>
              </a:rPr>
              <a:t>▸  </a:t>
            </a:r>
            <a:r>
              <a:rPr sz="2000" b="1">
                <a:solidFill>
                  <a:srgbClr val="242A33"/>
                </a:solidFill>
                <a:latin typeface="Arial"/>
              </a:rPr>
              <a:t>FB_StationFill</a:t>
            </a:r>
            <a:r>
              <a:rPr sz="2000" b="1">
                <a:solidFill>
                  <a:srgbClr val="242A33"/>
                </a:solidFill>
                <a:latin typeface="Arial"/>
              </a:rPr>
              <a:t> </a:t>
            </a:r>
            <a:r>
              <a:rPr sz="2000">
                <a:solidFill>
                  <a:srgbClr val="242A33"/>
                </a:solidFill>
                <a:latin typeface="Arial"/>
              </a:rPr>
              <a:t>— 107 lines → 67. </a:t>
            </a:r>
            <a:r>
              <a:rPr sz="2000" b="1">
                <a:solidFill>
                  <a:srgbClr val="242A33"/>
                </a:solidFill>
                <a:latin typeface="Arial"/>
              </a:rPr>
              <a:t>42% smaller</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a:t>
            </a:r>
            <a:r>
              <a:rPr sz="2000">
                <a:solidFill>
                  <a:srgbClr val="242A33"/>
                </a:solidFill>
                <a:latin typeface="Arial"/>
              </a:rPr>
              <a:t>ManualStep</a:t>
            </a:r>
            <a:r>
              <a:rPr sz="2000">
                <a:solidFill>
                  <a:srgbClr val="242A33"/>
                </a:solidFill>
                <a:latin typeface="Arial"/>
              </a:rPr>
              <a:t> doesn't propagate.</a:t>
            </a:r>
            <a:endParaRPr/>
          </a:p>
        </p:txBody>
      </p:sp>
      <p:sp>
        <p:nvSpPr>
          <p:cNvPr id="1103550224" name="Title 2"/>
          <p:cNvSpPr>
            <a:spLocks noGrp="1"/>
          </p:cNvSpPr>
          <p:nvPr>
            <p:ph type="title"/>
          </p:nvPr>
        </p:nvSpPr>
        <p:spPr bwMode="auto"/>
        <p:txBody>
          <a:bodyPr/>
          <a:lstStyle/>
          <a:p>
            <a:pPr>
              <a:defRPr/>
            </a:pPr>
            <a:r>
              <a:rPr/>
              <a:t>Same behavior, different architecture</a:t>
            </a:r>
            <a:endParaRPr/>
          </a:p>
        </p:txBody>
      </p:sp>
      <p:sp>
        <p:nvSpPr>
          <p:cNvPr id="124264626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31502851" name="Text Placeholder 1"/>
          <p:cNvSpPr>
            <a:spLocks noGrp="1"/>
          </p:cNvSpPr>
          <p:nvPr>
            <p:ph type="body" sz="quarter" idx="15"/>
          </p:nvPr>
        </p:nvSpPr>
        <p:spPr bwMode="auto"/>
        <p:txBody>
          <a:bodyPr wrap="square"/>
          <a:lstStyle/>
          <a:p>
            <a:pPr algn="l">
              <a:lnSpc>
                <a:spcPct val="130000"/>
              </a:lnSpc>
              <a:defRPr/>
            </a:pPr>
            <a:r>
              <a:rPr lang="en-US" sz="2000" b="1">
                <a:solidFill>
                  <a:srgbClr val="C00000"/>
                </a:solidFill>
                <a:latin typeface="Arial"/>
              </a:rPr>
              <a:t>Where is Monitoring() called?</a:t>
            </a:r>
            <a:endParaRPr sz="2000" b="1">
              <a:solidFill>
                <a:srgbClr val="C00000"/>
              </a:solidFill>
              <a:latin typeface="Arial"/>
            </a:endParaRPr>
          </a:p>
        </p:txBody>
      </p:sp>
      <p:sp>
        <p:nvSpPr>
          <p:cNvPr id="1641835513" name="Title 2"/>
          <p:cNvSpPr>
            <a:spLocks noGrp="1"/>
          </p:cNvSpPr>
          <p:nvPr>
            <p:ph type="title"/>
          </p:nvPr>
        </p:nvSpPr>
        <p:spPr bwMode="auto"/>
        <p:txBody>
          <a:bodyPr/>
          <a:lstStyle/>
          <a:p>
            <a:pPr>
              <a:defRPr/>
            </a:pPr>
            <a:r>
              <a:rPr lang="en-US"/>
              <a:t>Monitoring() Execution</a:t>
            </a:r>
            <a:endParaRPr/>
          </a:p>
        </p:txBody>
      </p:sp>
      <p:sp>
        <p:nvSpPr>
          <p:cNvPr id="120353592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2A PRE-EMPTIVE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engineers don't know inheritance. Now they can't read my code.</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1757184"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a:p>
          <a:p>
            <a:pPr>
              <a:lnSpc>
                <a:spcPct val="130000"/>
              </a:lnSpc>
              <a:spcBef>
                <a:spcPts val="400"/>
              </a:spcBef>
              <a:defRPr/>
            </a:pPr>
            <a:r>
              <a:rPr lang="en-US" b="1">
                <a:solidFill>
                  <a:srgbClr val="770000"/>
                </a:solidFill>
              </a:rPr>
              <a:t> </a:t>
            </a:r>
            <a:r>
              <a:rPr lang="en-US" b="1">
                <a:solidFill>
                  <a:srgbClr val="242A33"/>
                </a:solidFill>
              </a:rPr>
              <a:t>Use inheritance</a:t>
            </a:r>
            <a:endParaRPr sz="2200">
              <a:solidFill>
                <a:srgbClr val="242A33"/>
              </a:solidFill>
              <a:latin typeface="Arial"/>
            </a:endParaRPr>
          </a:p>
        </p:txBody>
      </p:sp>
      <p:sp>
        <p:nvSpPr>
          <p:cNvPr id="1474603014" name="Title 2"/>
          <p:cNvSpPr>
            <a:spLocks noGrp="1"/>
          </p:cNvSpPr>
          <p:nvPr>
            <p:ph type="title"/>
          </p:nvPr>
        </p:nvSpPr>
        <p:spPr bwMode="auto"/>
        <p:txBody>
          <a:bodyPr/>
          <a:lstStyle/>
          <a:p>
            <a:pPr>
              <a:defRPr/>
            </a:pPr>
            <a:r>
              <a:rPr/>
              <a:t>Lab </a:t>
            </a:r>
            <a:r>
              <a:rPr lang="en-US"/>
              <a:t>2</a:t>
            </a:r>
            <a:r>
              <a:rPr/>
              <a:t>B: CR-1  ·  Add a Pause mode using Inheritance</a:t>
            </a:r>
            <a:endParaRPr/>
          </a:p>
        </p:txBody>
      </p:sp>
      <p:sp>
        <p:nvSpPr>
          <p:cNvPr id="85400479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333590630"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Start from release branch in </a:t>
            </a:r>
            <a:r>
              <a:rPr lang="en-US">
                <a:solidFill>
                  <a:srgbClr val="242A33"/>
                </a:solidFill>
                <a:latin typeface="Arial"/>
              </a:rPr>
              <a:t>FillingLine_Inheritance</a:t>
            </a:r>
            <a:r>
              <a:rPr lang="en-US">
                <a:solidFill>
                  <a:srgbClr val="242A33"/>
                </a:solidFill>
                <a:latin typeface="Arial"/>
              </a:rPr>
              <a:t> Project</a:t>
            </a:r>
            <a:endParaRPr/>
          </a:p>
          <a:p>
            <a:pPr>
              <a:lnSpc>
                <a:spcPct val="130000"/>
              </a:lnSpc>
              <a:defRPr/>
            </a:pPr>
            <a:r>
              <a:rPr lang="en-US" b="1">
                <a:solidFill>
                  <a:srgbClr val="770000"/>
                </a:solidFill>
              </a:rPr>
              <a:t>Option A: </a:t>
            </a:r>
            <a:r>
              <a:rPr lang="en-US"/>
              <a:t>add </a:t>
            </a:r>
            <a:r>
              <a:rPr lang="en-US">
                <a:solidFill>
                  <a:srgbClr val="242A33"/>
                </a:solidFill>
              </a:rPr>
              <a:t>AllowPause</a:t>
            </a:r>
            <a:r>
              <a:rPr lang="en-US">
                <a:solidFill>
                  <a:srgbClr val="242A33"/>
                </a:solidFill>
              </a:rPr>
              <a:t>() on the base; add </a:t>
            </a:r>
            <a:r>
              <a:rPr lang="en-US">
                <a:solidFill>
                  <a:srgbClr val="242A33"/>
                </a:solidFill>
              </a:rPr>
              <a:t>AllowPause</a:t>
            </a:r>
            <a:r>
              <a:rPr lang="en-US">
                <a:solidFill>
                  <a:srgbClr val="242A33"/>
                </a:solidFill>
              </a:rPr>
              <a:t>() to Fill to override base method</a:t>
            </a:r>
            <a:endParaRPr lang="en-US">
              <a:solidFill>
                <a:srgbClr val="242A33"/>
              </a:solidFill>
              <a:latin typeface="Arial"/>
            </a:endParaRPr>
          </a:p>
          <a:p>
            <a:pPr>
              <a:lnSpc>
                <a:spcPct val="130000"/>
              </a:lnSpc>
              <a:spcBef>
                <a:spcPts val="400"/>
              </a:spcBef>
              <a:defRPr/>
            </a:pPr>
            <a:r>
              <a:rPr lang="en-US" b="1">
                <a:solidFill>
                  <a:srgbClr val="770000"/>
                </a:solidFill>
                <a:latin typeface="Arial"/>
              </a:rPr>
              <a:t>Option B: </a:t>
            </a:r>
            <a:r>
              <a:rPr lang="en-US">
                <a:latin typeface="Arial"/>
              </a:rPr>
              <a:t>add Monitoring() to </a:t>
            </a:r>
            <a:r>
              <a:rPr lang="en-US">
                <a:solidFill>
                  <a:srgbClr val="242A33"/>
                </a:solidFill>
              </a:rPr>
              <a:t>Fill Station to override base method; use </a:t>
            </a:r>
            <a:r>
              <a:rPr lang="en-US">
                <a:solidFill>
                  <a:srgbClr val="242A33"/>
                </a:solidFill>
              </a:rPr>
              <a:t>SUPER^.Monitoring</a:t>
            </a:r>
            <a:r>
              <a:rPr lang="en-US">
                <a:solidFill>
                  <a:srgbClr val="242A33"/>
                </a:solidFill>
              </a:rPr>
              <a:t>() to include base code</a:t>
            </a:r>
            <a:r>
              <a:rPr lang="en-US" b="1">
                <a:solidFill>
                  <a:srgbClr val="770000"/>
                </a:solidFill>
                <a:latin typeface="Arial"/>
              </a:rPr>
              <a:t> </a:t>
            </a:r>
            <a:r>
              <a:rPr lang="en-US">
                <a:solidFill>
                  <a:srgbClr val="242A33"/>
                </a:solidFill>
                <a:latin typeface="Arial"/>
              </a:rPr>
              <a:t> </a:t>
            </a:r>
            <a:endParaRPr/>
          </a:p>
          <a:p>
            <a:pPr>
              <a:lnSpc>
                <a:spcPct val="130000"/>
              </a:lnSpc>
              <a:spcBef>
                <a:spcPts val="400"/>
              </a:spcBef>
              <a:defRPr/>
            </a:pPr>
            <a:r>
              <a:rPr lang="en-US"/>
              <a:t>Spend 5-10 minutes writing code</a:t>
            </a:r>
            <a:endParaRPr lang="en-US">
              <a:solidFill>
                <a:srgbClr val="242A33"/>
              </a:solidFill>
              <a:latin typeface="Arial"/>
            </a:endParaRPr>
          </a:p>
          <a:p>
            <a:pPr marL="0" indent="0">
              <a:lnSpc>
                <a:spcPct val="130000"/>
              </a:lnSpc>
              <a:spcBef>
                <a:spcPts val="400"/>
              </a:spcBef>
              <a:buNone/>
              <a:defRPr/>
            </a:pPr>
            <a:endParaRPr lang="en-US">
              <a:solidFill>
                <a:srgbClr val="242A33"/>
              </a:solidFill>
              <a:latin typeface="Arial"/>
            </a:endParaRPr>
          </a:p>
          <a:p>
            <a:pPr>
              <a:lnSpc>
                <a:spcPct val="130000"/>
              </a:lnSpc>
              <a:spcBef>
                <a:spcPts val="400"/>
              </a:spcBef>
              <a:defRPr/>
            </a:pPr>
            <a:endParaRPr lang="en-US">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6188761" name="Title 1"/>
          <p:cNvSpPr>
            <a:spLocks noGrp="1"/>
          </p:cNvSpPr>
          <p:nvPr>
            <p:ph type="title"/>
          </p:nvPr>
        </p:nvSpPr>
        <p:spPr bwMode="auto"/>
        <p:txBody>
          <a:bodyPr/>
          <a:lstStyle/>
          <a:p>
            <a:pPr>
              <a:defRPr/>
            </a:pPr>
            <a:r>
              <a:rPr/>
              <a:t>CR-1 result — base-class pollution</a:t>
            </a:r>
            <a:endParaRPr/>
          </a:p>
        </p:txBody>
      </p:sp>
      <p:sp>
        <p:nvSpPr>
          <p:cNvPr id="159602672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138735265"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stage-2-inheritance...stage-2-cr1-applied --stat</a:t>
            </a:r>
            <a:endParaRPr/>
          </a:p>
        </p:txBody>
      </p:sp>
      <p:sp>
        <p:nvSpPr>
          <p:cNvPr id="881188532"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lang="en-US" sz="6400" b="1">
                <a:solidFill>
                  <a:srgbClr val="627186"/>
                </a:solidFill>
                <a:latin typeface="Arial"/>
              </a:rPr>
              <a:t>3</a:t>
            </a:r>
            <a:r>
              <a:rPr sz="6400" b="1" i="0">
                <a:solidFill>
                  <a:srgbClr val="627186"/>
                </a:solidFill>
                <a:latin typeface="Arial"/>
              </a:rPr>
              <a:t> files  ·  +</a:t>
            </a:r>
            <a:r>
              <a:rPr lang="en-US" sz="6400" b="1">
                <a:solidFill>
                  <a:srgbClr val="627186"/>
                </a:solidFill>
                <a:latin typeface="Arial"/>
              </a:rPr>
              <a:t>?</a:t>
            </a:r>
            <a:r>
              <a:rPr sz="6400" b="1" i="0">
                <a:solidFill>
                  <a:srgbClr val="627186"/>
                </a:solidFill>
                <a:latin typeface="Arial"/>
              </a:rPr>
              <a:t>  −</a:t>
            </a:r>
            <a:r>
              <a:rPr lang="en-US" sz="6400" b="1" i="0">
                <a:solidFill>
                  <a:srgbClr val="627186"/>
                </a:solidFill>
                <a:latin typeface="Arial"/>
              </a:rPr>
              <a:t>?</a:t>
            </a:r>
            <a:endParaRPr sz="6400" b="1" i="0">
              <a:solidFill>
                <a:srgbClr val="627186"/>
              </a:solidFill>
              <a:latin typeface="Arial"/>
            </a:endParaRPr>
          </a:p>
        </p:txBody>
      </p:sp>
      <p:sp>
        <p:nvSpPr>
          <p:cNvPr id="1428910031"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23550140" name="TextBox 6"/>
          <p:cNvSpPr txBox="1"/>
          <p:nvPr/>
        </p:nvSpPr>
        <p:spPr bwMode="auto">
          <a:xfrm>
            <a:off x="0" y="3474720"/>
            <a:ext cx="11811000" cy="3202415"/>
          </a:xfrm>
          <a:prstGeom prst="rect">
            <a:avLst/>
          </a:prstGeom>
          <a:noFill/>
        </p:spPr>
        <p:txBody>
          <a:bodyPr wrap="square" lIns="0" tIns="0" rIns="0" bIns="0">
            <a:spAutoFit/>
          </a:bodyPr>
          <a:lstStyle/>
          <a:p>
            <a:pPr algn="l">
              <a:lnSpc>
                <a:spcPct val="130000"/>
              </a:lnSpc>
              <a:spcBef>
                <a:spcPts val="400"/>
              </a:spcBef>
              <a:defRPr/>
            </a:pPr>
            <a:r>
              <a:rPr sz="1800" b="1">
                <a:solidFill>
                  <a:srgbClr val="627186"/>
                </a:solidFill>
                <a:latin typeface="Arial"/>
              </a:rPr>
              <a:t>▸ </a:t>
            </a:r>
            <a:r>
              <a:rPr lang="en-US" sz="1800" b="1">
                <a:solidFill>
                  <a:srgbClr val="627186"/>
                </a:solidFill>
                <a:latin typeface="Arial"/>
              </a:rPr>
              <a:t>Inheritance</a:t>
            </a:r>
            <a:r>
              <a:rPr sz="1800" b="1">
                <a:solidFill>
                  <a:srgbClr val="627186"/>
                </a:solidFill>
                <a:latin typeface="Arial"/>
              </a:rPr>
              <a:t> </a:t>
            </a:r>
            <a:r>
              <a:rPr sz="1800">
                <a:solidFill>
                  <a:srgbClr val="242A33"/>
                </a:solidFill>
                <a:latin typeface="Arial"/>
              </a:rPr>
              <a:t>vs </a:t>
            </a:r>
            <a:r>
              <a:rPr lang="en-US" sz="1800">
                <a:solidFill>
                  <a:srgbClr val="242A33"/>
                </a:solidFill>
                <a:latin typeface="Arial"/>
              </a:rPr>
              <a:t>Procedural</a:t>
            </a:r>
            <a:r>
              <a:rPr sz="1800">
                <a:solidFill>
                  <a:srgbClr val="242A33"/>
                </a:solidFill>
                <a:latin typeface="Arial"/>
              </a:rPr>
              <a:t> </a:t>
            </a:r>
            <a:endParaRPr lang="en-US" sz="1800">
              <a:solidFill>
                <a:srgbClr val="242A33"/>
              </a:solidFill>
              <a:latin typeface="Arial"/>
            </a:endParaRPr>
          </a:p>
          <a:p>
            <a:pPr marL="742950" lvl="1" indent="-285750">
              <a:lnSpc>
                <a:spcPct val="130000"/>
              </a:lnSpc>
              <a:spcBef>
                <a:spcPts val="400"/>
              </a:spcBef>
              <a:buFont typeface="Arial"/>
              <a:buChar char="•"/>
              <a:defRPr/>
            </a:pPr>
            <a:r>
              <a:rPr lang="en-US">
                <a:solidFill>
                  <a:srgbClr val="242A33"/>
                </a:solidFill>
                <a:latin typeface="Arial"/>
              </a:rPr>
              <a:t>Majority of code changes reside in base class  </a:t>
            </a:r>
            <a:endParaRPr/>
          </a:p>
          <a:p>
            <a:pPr marL="742950" lvl="1" indent="-285750">
              <a:lnSpc>
                <a:spcPct val="130000"/>
              </a:lnSpc>
              <a:spcBef>
                <a:spcPts val="400"/>
              </a:spcBef>
              <a:buFont typeface="Arial"/>
              <a:buChar char="•"/>
              <a:defRPr/>
            </a:pPr>
            <a:r>
              <a:rPr lang="en-US">
                <a:solidFill>
                  <a:srgbClr val="242A33"/>
                </a:solidFill>
                <a:latin typeface="Arial"/>
              </a:rPr>
              <a:t>Cap, Inspect, Label unchanged!</a:t>
            </a:r>
            <a:endParaRPr/>
          </a:p>
          <a:p>
            <a:pPr>
              <a:lnSpc>
                <a:spcPct val="130000"/>
              </a:lnSpc>
              <a:spcBef>
                <a:spcPts val="400"/>
              </a:spcBef>
              <a:defRPr/>
            </a:pPr>
            <a:r>
              <a:rPr lang="en-US" b="1">
                <a:solidFill>
                  <a:srgbClr val="627186"/>
                </a:solidFill>
              </a:rPr>
              <a:t>▸ Option A: </a:t>
            </a:r>
            <a:r>
              <a:rPr lang="en-US" b="1">
                <a:solidFill>
                  <a:srgbClr val="242A33"/>
                </a:solidFill>
              </a:rPr>
              <a:t>Pollution lives on the base </a:t>
            </a:r>
            <a:endParaRPr/>
          </a:p>
          <a:p>
            <a:pPr>
              <a:lnSpc>
                <a:spcPct val="130000"/>
              </a:lnSpc>
              <a:spcBef>
                <a:spcPts val="400"/>
              </a:spcBef>
              <a:defRPr/>
            </a:pPr>
            <a:r>
              <a:rPr lang="en-US" b="1">
                <a:solidFill>
                  <a:srgbClr val="627186"/>
                </a:solidFill>
              </a:rPr>
              <a:t>▸ Option B: </a:t>
            </a:r>
            <a:r>
              <a:rPr lang="en-US" b="1">
                <a:solidFill>
                  <a:srgbClr val="242A33"/>
                </a:solidFill>
              </a:rPr>
              <a:t>Base code logic duplicated</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Inheritance didn't eliminate the cost. It relocated 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0291778" name="Title 2"/>
          <p:cNvSpPr>
            <a:spLocks noGrp="1"/>
          </p:cNvSpPr>
          <p:nvPr>
            <p:ph type="title"/>
          </p:nvPr>
        </p:nvSpPr>
        <p:spPr bwMode="auto"/>
        <p:txBody>
          <a:bodyPr/>
          <a:lstStyle/>
          <a:p>
            <a:pPr>
              <a:defRPr/>
            </a:pPr>
            <a:r>
              <a:rPr/>
              <a:t>Block 2 · 2C</a:t>
            </a:r>
            <a:endParaRPr/>
          </a:p>
        </p:txBody>
      </p:sp>
      <p:sp>
        <p:nvSpPr>
          <p:cNvPr id="1325427605"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5623577"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breaking point</a:t>
            </a:r>
            <a:endParaRPr/>
          </a:p>
        </p:txBody>
      </p:sp>
      <p:sp>
        <p:nvSpPr>
          <p:cNvPr id="1007147839"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627186"/>
                </a:solidFill>
                <a:latin typeface="Arial"/>
              </a:rPr>
              <a:t>25 min  ·  the workshop's hardest moment</a:t>
            </a:r>
            <a:endParaRPr/>
          </a:p>
        </p:txBody>
      </p:sp>
      <p:sp>
        <p:nvSpPr>
          <p:cNvPr id="35787867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Same as Stage 1, applied via inheritance.</a:t>
            </a:r>
            <a:endParaRPr/>
          </a:p>
          <a:p>
            <a:pPr algn="l">
              <a:lnSpc>
                <a:spcPct val="140000"/>
              </a:lnSpc>
              <a:defRPr/>
            </a:pPr>
            <a:r>
              <a:rPr sz="2000" b="0" i="1">
                <a:solidFill>
                  <a:srgbClr val="242A33"/>
                </a:solidFill>
                <a:latin typeface="Arial"/>
              </a:rPr>
              <a:t>Watch the override fight the base.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0198502" name="Text Placeholder 1"/>
          <p:cNvSpPr>
            <a:spLocks noGrp="1"/>
          </p:cNvSpPr>
          <p:nvPr>
            <p:ph type="body" sz="quarter" idx="15"/>
          </p:nvPr>
        </p:nvSpPr>
        <p:spPr bwMode="auto">
          <a:xfrm>
            <a:off x="6096000" y="1066800"/>
            <a:ext cx="59436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is only in </a:t>
            </a:r>
            <a:r>
              <a:rPr lang="en-US" sz="2000">
                <a:solidFill>
                  <a:srgbClr val="242A33"/>
                </a:solidFill>
              </a:rPr>
              <a:t>FB_StationInspect</a:t>
            </a:r>
            <a:r>
              <a:rPr lang="en-US" sz="2000">
                <a:solidFill>
                  <a:srgbClr val="242A33"/>
                </a:solidFill>
              </a:rPr>
              <a:t> methods</a:t>
            </a:r>
            <a:endParaRPr/>
          </a:p>
          <a:p>
            <a:pPr lvl="1">
              <a:lnSpc>
                <a:spcPct val="130000"/>
              </a:lnSpc>
              <a:defRPr/>
            </a:pPr>
            <a:r>
              <a:rPr lang="en-US" sz="2000">
                <a:solidFill>
                  <a:srgbClr val="242A33"/>
                </a:solidFill>
              </a:rPr>
              <a:t>ExecuteSequence</a:t>
            </a:r>
            <a:r>
              <a:rPr lang="en-US" sz="2000">
                <a:solidFill>
                  <a:srgbClr val="242A33"/>
                </a:solidFill>
              </a:rPr>
              <a:t>()</a:t>
            </a:r>
            <a:endParaRPr/>
          </a:p>
        </p:txBody>
      </p:sp>
      <p:sp>
        <p:nvSpPr>
          <p:cNvPr id="2142042607" name="Title 2"/>
          <p:cNvSpPr>
            <a:spLocks noGrp="1"/>
          </p:cNvSpPr>
          <p:nvPr>
            <p:ph type="title"/>
          </p:nvPr>
        </p:nvSpPr>
        <p:spPr bwMode="auto"/>
        <p:txBody>
          <a:bodyPr/>
          <a:lstStyle/>
          <a:p>
            <a:pPr>
              <a:defRPr/>
            </a:pPr>
            <a:r>
              <a:rPr/>
              <a:t>Lab 2C: CR-2  ·  Flag Bad Parts without Stopping the Line </a:t>
            </a:r>
            <a:endParaRPr/>
          </a:p>
        </p:txBody>
      </p:sp>
      <p:sp>
        <p:nvSpPr>
          <p:cNvPr id="1004158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656891751"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Use Inheritance</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906104" name="Text Placeholder 1"/>
          <p:cNvSpPr>
            <a:spLocks noGrp="1"/>
          </p:cNvSpPr>
          <p:nvPr>
            <p:ph type="body" sz="quarter" idx="15"/>
          </p:nvPr>
        </p:nvSpPr>
        <p:spPr bwMode="auto">
          <a:xfrm>
            <a:off x="3" y="1090799"/>
            <a:ext cx="4952997" cy="5331600"/>
          </a:xfrm>
        </p:spPr>
        <p:txBody>
          <a:bodyPr wrap="square"/>
          <a:lstStyle/>
          <a:p>
            <a:pPr algn="l">
              <a:lnSpc>
                <a:spcPct val="130000"/>
              </a:lnSpc>
              <a:defRPr/>
            </a:pPr>
            <a:r>
              <a:rPr sz="2000">
                <a:latin typeface="Arial"/>
              </a:rPr>
              <a:t>Skipping SUPER^ severs the inheritance chain silently </a:t>
            </a:r>
            <a:r>
              <a:rPr lang="en-US" sz="2000">
                <a:latin typeface="Arial"/>
              </a:rPr>
              <a:t>–</a:t>
            </a:r>
            <a:r>
              <a:rPr sz="2000">
                <a:latin typeface="Arial"/>
              </a:rPr>
              <a:t> no compiler warning</a:t>
            </a:r>
            <a:endParaRPr/>
          </a:p>
          <a:p>
            <a:pPr algn="l">
              <a:lnSpc>
                <a:spcPct val="130000"/>
              </a:lnSpc>
              <a:defRPr/>
            </a:pPr>
            <a:r>
              <a:rPr lang="en-US" sz="2000">
                <a:solidFill>
                  <a:srgbClr val="242A33"/>
                </a:solidFill>
                <a:latin typeface="Arial"/>
              </a:rPr>
              <a:t>Base and root class improvements no longer flow to the derived class </a:t>
            </a:r>
            <a:endParaRPr/>
          </a:p>
          <a:p>
            <a:pPr algn="l">
              <a:lnSpc>
                <a:spcPct val="130000"/>
              </a:lnSpc>
              <a:defRPr/>
            </a:pPr>
            <a:r>
              <a:rPr lang="en-US" sz="2000">
                <a:solidFill>
                  <a:srgbClr val="242A33"/>
                </a:solidFill>
                <a:latin typeface="Arial"/>
              </a:rPr>
              <a:t>Duplicated logic must be maintained in two places indefinitely</a:t>
            </a:r>
            <a:endParaRPr/>
          </a:p>
          <a:p>
            <a:pPr algn="l">
              <a:lnSpc>
                <a:spcPct val="130000"/>
              </a:lnSpc>
              <a:defRPr/>
            </a:pPr>
            <a:r>
              <a:rPr lang="en-US" sz="2000">
                <a:solidFill>
                  <a:srgbClr val="242A33"/>
                </a:solidFill>
                <a:latin typeface="Arial"/>
              </a:rPr>
              <a:t>A single missed update creates subtle, hard-to-find bugs</a:t>
            </a:r>
            <a:endParaRPr/>
          </a:p>
          <a:p>
            <a:pPr algn="l">
              <a:lnSpc>
                <a:spcPct val="130000"/>
              </a:lnSpc>
              <a:defRPr/>
            </a:pPr>
            <a:r>
              <a:rPr lang="en-US" sz="2000" b="1">
                <a:solidFill>
                  <a:srgbClr val="242A33"/>
                </a:solidFill>
                <a:latin typeface="Arial"/>
              </a:rPr>
              <a:t>Inheritance only saves work if the chain stays intact</a:t>
            </a:r>
            <a:endParaRPr/>
          </a:p>
        </p:txBody>
      </p:sp>
      <p:sp>
        <p:nvSpPr>
          <p:cNvPr id="1590991833" name="Title 2"/>
          <p:cNvSpPr>
            <a:spLocks noGrp="1"/>
          </p:cNvSpPr>
          <p:nvPr>
            <p:ph type="title"/>
          </p:nvPr>
        </p:nvSpPr>
        <p:spPr bwMode="auto"/>
        <p:txBody>
          <a:bodyPr/>
          <a:lstStyle/>
          <a:p>
            <a:pPr>
              <a:defRPr/>
            </a:pPr>
            <a:r>
              <a:rPr lang="en-US"/>
              <a:t>Peril of Breaking the Inheritance Chain </a:t>
            </a:r>
            <a:endParaRPr/>
          </a:p>
        </p:txBody>
      </p:sp>
      <p:sp>
        <p:nvSpPr>
          <p:cNvPr id="175293693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2C  ·  THE BREAKING POINT</a:t>
            </a:r>
            <a:endParaRPr/>
          </a:p>
        </p:txBody>
      </p:sp>
      <p:grpSp>
        <p:nvGrpSpPr>
          <p:cNvPr id="1932230382" name="Group 14"/>
          <p:cNvGrpSpPr/>
          <p:nvPr/>
        </p:nvGrpSpPr>
        <p:grpSpPr bwMode="auto">
          <a:xfrm>
            <a:off x="5068798" y="2005004"/>
            <a:ext cx="6858000" cy="3328995"/>
            <a:chOff x="2362199" y="2778617"/>
            <a:chExt cx="7772400" cy="3914791"/>
          </a:xfrm>
        </p:grpSpPr>
        <p:pic>
          <p:nvPicPr>
            <p:cNvPr id="16" name="Picture 15"/>
            <p:cNvPicPr>
              <a:picLocks noChangeAspect="1"/>
            </p:cNvPicPr>
            <p:nvPr/>
          </p:nvPicPr>
          <p:blipFill rotWithShape="1">
            <a:blip r:embed="rId3"/>
            <a:stretch/>
          </p:blipFill>
          <p:spPr bwMode="auto">
            <a:xfrm>
              <a:off x="2362199" y="2778617"/>
              <a:ext cx="7772400" cy="3914791"/>
            </a:xfrm>
            <a:prstGeom prst="rect">
              <a:avLst/>
            </a:prstGeom>
          </p:spPr>
        </p:pic>
        <p:sp>
          <p:nvSpPr>
            <p:cNvPr id="17" name="Multiplication Sign 16"/>
            <p:cNvSpPr/>
            <p:nvPr/>
          </p:nvSpPr>
          <p:spPr bwMode="auto">
            <a:xfrm>
              <a:off x="5867399" y="5015846"/>
              <a:ext cx="685800" cy="762000"/>
            </a:xfrm>
            <a:prstGeom prst="mathMultiply">
              <a:avLst>
                <a:gd name="adj1" fmla="val 23520"/>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a:buChar char="§"/>
                <a:defRPr/>
              </a:pPr>
              <a:endParaRPr lang="en-US">
                <a:solidFill>
                  <a:schemeClr val="tx1"/>
                </a:solidFill>
                <a:highlight>
                  <a:srgbClr val="800000"/>
                </a:highlight>
                <a:latin typeface="+mj-lt"/>
                <a:ea typeface="+mn-ea"/>
                <a:cs typeface="Arial"/>
              </a:endParaRPr>
            </a:p>
          </p:txBody>
        </p: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5287372" name="Title 1"/>
          <p:cNvSpPr>
            <a:spLocks noGrp="1"/>
          </p:cNvSpPr>
          <p:nvPr>
            <p:ph type="title"/>
          </p:nvPr>
        </p:nvSpPr>
        <p:spPr bwMode="auto"/>
        <p:txBody>
          <a:bodyPr/>
          <a:lstStyle/>
          <a:p>
            <a:pPr>
              <a:defRPr/>
            </a:pPr>
            <a:r>
              <a:rPr/>
              <a:t>CR-2 result — the override fight</a:t>
            </a:r>
            <a:endParaRPr/>
          </a:p>
        </p:txBody>
      </p:sp>
      <p:sp>
        <p:nvSpPr>
          <p:cNvPr id="75644254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899506553"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stage-2-inheritance...stage-2-cr2-applied --stat</a:t>
            </a:r>
            <a:endParaRPr/>
          </a:p>
        </p:txBody>
      </p:sp>
      <p:sp>
        <p:nvSpPr>
          <p:cNvPr id="209023185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2 files  ·  +121  −48</a:t>
            </a:r>
            <a:endParaRPr/>
          </a:p>
        </p:txBody>
      </p:sp>
      <p:sp>
        <p:nvSpPr>
          <p:cNvPr id="2146533575"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5044835"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Inspect overrides Monitoring without calling SUPER.</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~80 lines reimplement mode + ack from scratch.</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Every future base change is now "did we update Inspect?"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664702798" name="Title 1"/>
          <p:cNvSpPr>
            <a:spLocks noGrp="1"/>
          </p:cNvSpPr>
          <p:nvPr>
            <p:ph type="title"/>
          </p:nvPr>
        </p:nvSpPr>
        <p:spPr bwMode="auto"/>
        <p:txBody>
          <a:bodyPr/>
          <a:lstStyle/>
          <a:p>
            <a:pPr>
              <a:defRPr/>
            </a:pPr>
            <a:r>
              <a:rPr/>
              <a:t>Block 2 · CR-2 the breaking-point reveal</a:t>
            </a:r>
            <a:endParaRPr/>
          </a:p>
        </p:txBody>
      </p:sp>
      <p:sp>
        <p:nvSpPr>
          <p:cNvPr id="190640949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279592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99510436"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The base class that helped you in Stage 1 → Stage 2 has now become the constraint. Inspect can't extend the base. It has to fight the base.</a:t>
            </a:r>
            <a:endParaRPr/>
          </a:p>
        </p:txBody>
      </p:sp>
      <p:sp>
        <p:nvSpPr>
          <p:cNvPr id="205766136"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This isn't your fault. It's a property of the design. Single inheritance is all-or-nothing.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60245643" name="Title 1"/>
          <p:cNvSpPr>
            <a:spLocks noGrp="1"/>
          </p:cNvSpPr>
          <p:nvPr>
            <p:ph type="title"/>
          </p:nvPr>
        </p:nvSpPr>
        <p:spPr bwMode="auto"/>
        <p:txBody>
          <a:bodyPr/>
          <a:lstStyle/>
          <a:p>
            <a:pPr>
              <a:defRPr/>
            </a:pPr>
            <a:r>
              <a:rPr/>
              <a:t>Pre-emptive pushback</a:t>
            </a:r>
            <a:endParaRPr/>
          </a:p>
        </p:txBody>
      </p:sp>
      <p:sp>
        <p:nvSpPr>
          <p:cNvPr id="84973575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CR-2 THE MOST IMPORTANT PUSHBACK</a:t>
            </a:r>
            <a:endParaRPr/>
          </a:p>
        </p:txBody>
      </p:sp>
      <p:sp>
        <p:nvSpPr>
          <p:cNvPr id="106588976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8866931"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8481021"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851401120"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 I just need to remember to mirror base changes into Inspect's override.</a:t>
            </a:r>
            <a:endParaRPr/>
          </a:p>
        </p:txBody>
      </p:sp>
      <p:sp>
        <p:nvSpPr>
          <p:cNvPr id="116697291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93447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215811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068679205"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4467496" name="Title 2"/>
          <p:cNvSpPr>
            <a:spLocks noGrp="1"/>
          </p:cNvSpPr>
          <p:nvPr>
            <p:ph type="title"/>
          </p:nvPr>
        </p:nvSpPr>
        <p:spPr bwMode="auto"/>
        <p:txBody>
          <a:bodyPr/>
          <a:lstStyle/>
          <a:p>
            <a:pPr>
              <a:defRPr/>
            </a:pPr>
            <a:r>
              <a:rPr/>
              <a:t>Lab 2D: CR-3  ·  Selective cycle logging</a:t>
            </a:r>
            <a:endParaRPr/>
          </a:p>
        </p:txBody>
      </p:sp>
      <p:sp>
        <p:nvSpPr>
          <p:cNvPr id="176958052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897962695" name="Text Placeholder 1"/>
          <p:cNvSpPr txBox="1"/>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Instructions:</a:t>
            </a:r>
            <a:endParaRPr lang="en-US" sz="2000" b="1">
              <a:solidFill>
                <a:srgbClr val="770000"/>
              </a:solidFill>
              <a:latin typeface="Arial"/>
            </a:endParaRPr>
          </a:p>
          <a:p>
            <a:pPr>
              <a:lnSpc>
                <a:spcPct val="130000"/>
              </a:lnSpc>
              <a:defRPr/>
            </a:pPr>
            <a:r>
              <a:rPr lang="en-US" sz="2000">
                <a:solidFill>
                  <a:srgbClr val="242A33"/>
                </a:solidFill>
                <a:latin typeface="Arial"/>
              </a:rPr>
              <a:t>Open CR3-applied branch and go to </a:t>
            </a:r>
            <a:r>
              <a:rPr lang="en-US" sz="2000">
                <a:solidFill>
                  <a:srgbClr val="242A33"/>
                </a:solidFill>
                <a:latin typeface="Arial"/>
              </a:rPr>
              <a:t>FillingLine_Inheritance</a:t>
            </a:r>
            <a:endParaRPr lang="en-US" sz="2000">
              <a:solidFill>
                <a:srgbClr val="242A33"/>
              </a:solidFill>
              <a:latin typeface="Arial"/>
            </a:endParaRPr>
          </a:p>
          <a:p>
            <a:pPr>
              <a:lnSpc>
                <a:spcPct val="130000"/>
              </a:lnSpc>
              <a:spcBef>
                <a:spcPts val="400"/>
              </a:spcBef>
              <a:defRPr/>
            </a:pPr>
            <a:r>
              <a:rPr lang="en-US" sz="2000">
                <a:latin typeface="Arial"/>
              </a:rPr>
              <a:t>Find buffer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added methods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overriding methods in derived FBs</a:t>
            </a:r>
            <a:endParaRPr/>
          </a:p>
        </p:txBody>
      </p:sp>
      <p:sp>
        <p:nvSpPr>
          <p:cNvPr id="492738304" name="Text Placeholder 1"/>
          <p:cNvSpPr txBox="1"/>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a:solidFill>
                  <a:srgbClr val="242A33"/>
                </a:solidFill>
                <a:latin typeface="Arial"/>
              </a:rPr>
              <a:t>Log cycle data for Fill and Inspect. Cap and Label don't need it.</a:t>
            </a:r>
            <a:endParaRPr/>
          </a:p>
          <a:p>
            <a:pPr>
              <a:lnSpc>
                <a:spcPct val="130000"/>
              </a:lnSpc>
              <a:spcBef>
                <a:spcPts val="400"/>
              </a:spcBef>
              <a:defRPr/>
            </a:pP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0904007" name="Title 1"/>
          <p:cNvSpPr>
            <a:spLocks noGrp="1"/>
          </p:cNvSpPr>
          <p:nvPr>
            <p:ph type="title"/>
          </p:nvPr>
        </p:nvSpPr>
        <p:spPr bwMode="auto"/>
        <p:txBody>
          <a:bodyPr/>
          <a:lstStyle/>
          <a:p>
            <a:pPr>
              <a:defRPr/>
            </a:pPr>
            <a:r>
              <a:rPr/>
              <a:t>CR-3 result — dead weight in unrelated children</a:t>
            </a:r>
            <a:endParaRPr/>
          </a:p>
        </p:txBody>
      </p:sp>
      <p:sp>
        <p:nvSpPr>
          <p:cNvPr id="11865100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2D  ·  CR-3 HANDS-ON (10 MIN)</a:t>
            </a:r>
            <a:endParaRPr/>
          </a:p>
        </p:txBody>
      </p:sp>
      <p:sp>
        <p:nvSpPr>
          <p:cNvPr id="156169703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stage-2-inheritance...stage-2-cr3-applied --stat</a:t>
            </a:r>
            <a:endParaRPr/>
          </a:p>
        </p:txBody>
      </p:sp>
      <p:sp>
        <p:nvSpPr>
          <p:cNvPr id="2102128106"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3 files  ·  +64  −25</a:t>
            </a:r>
            <a:endParaRPr/>
          </a:p>
        </p:txBody>
      </p:sp>
      <p:sp>
        <p:nvSpPr>
          <p:cNvPr id="1257238840"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427299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LogBuffer + LoggingEnabled added to the base.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Cap and Label inherit storage they never use.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Cognitive cost compounds even when memory cost doesn't.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4227935" name="Title 2"/>
          <p:cNvSpPr>
            <a:spLocks noGrp="1"/>
          </p:cNvSpPr>
          <p:nvPr>
            <p:ph type="title"/>
          </p:nvPr>
        </p:nvSpPr>
        <p:spPr bwMode="auto"/>
        <p:txBody>
          <a:bodyPr/>
          <a:lstStyle/>
          <a:p>
            <a:pPr>
              <a:defRPr/>
            </a:pPr>
            <a:r>
              <a:rPr/>
              <a:t>Block 2 debrief — Pros and Cons</a:t>
            </a:r>
            <a:endParaRPr/>
          </a:p>
        </p:txBody>
      </p:sp>
      <p:sp>
        <p:nvSpPr>
          <p:cNvPr id="18007355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2E DEBRIEF (5 MIN)</a:t>
            </a:r>
            <a:endParaRPr/>
          </a:p>
        </p:txBody>
      </p:sp>
      <p:graphicFrame>
        <p:nvGraphicFramePr>
          <p:cNvPr id="315684584" name="Table 6"/>
          <p:cNvGraphicFramePr>
            <a:graphicFrameLocks xmlns:a="http://schemas.openxmlformats.org/drawingml/2006/main" noGrp="1"/>
          </p:cNvGraphicFramePr>
          <p:nvPr/>
        </p:nvGraphicFramePr>
        <p:xfrm rot="0">
          <a:off x="533400" y="1447799"/>
          <a:ext cx="11201400" cy="4959415"/>
        </p:xfrm>
        <a:graphic>
          <a:graphicData uri="http://schemas.openxmlformats.org/drawingml/2006/table">
            <a:tbl>
              <a:tblPr firstRow="1" firstCol="0" lastRow="0" lastCol="0" bandRow="1" bandCol="0">
                <a:tableStyleId>{0817EA92-75D0-4044-A80A-286907CE0DDC}</a:tableStyleId>
              </a:tblPr>
              <a:tblGrid>
                <a:gridCol w="5600700"/>
                <a:gridCol w="5600700"/>
              </a:tblGrid>
              <a:tr h="991883">
                <a:tc>
                  <a:txBody>
                    <a:bodyPr/>
                    <a:p>
                      <a:pPr algn="ctr">
                        <a:defRPr/>
                      </a:pPr>
                      <a:r>
                        <a:rPr lang="en-US" sz="2800"/>
                        <a:t>Pros</a:t>
                      </a:r>
                      <a:endParaRPr/>
                    </a:p>
                  </a:txBody>
                  <a:tcPr anchor="ctr"/>
                </a:tc>
                <a:tc>
                  <a:txBody>
                    <a:bodyPr/>
                    <a:p>
                      <a:pPr algn="ctr">
                        <a:defRPr/>
                      </a:pPr>
                      <a:r>
                        <a:rPr lang="en-US" sz="2800"/>
                        <a:t>Cons</a:t>
                      </a:r>
                      <a:endParaRPr/>
                    </a:p>
                  </a:txBody>
                  <a:tcPr anchor="ctr"/>
                </a:tc>
              </a:tr>
              <a:tr h="991883">
                <a:tc>
                  <a:txBody>
                    <a:bodyPr/>
                    <a:p>
                      <a:pPr>
                        <a:defRPr/>
                      </a:pPr>
                      <a:r>
                        <a:rPr lang="en-US"/>
                        <a:t>Common code written once, inherited by all</a:t>
                      </a:r>
                      <a:endParaRPr/>
                    </a:p>
                  </a:txBody>
                  <a:tcPr/>
                </a:tc>
                <a:tc>
                  <a:txBody>
                    <a:bodyPr/>
                    <a:p>
                      <a:pPr>
                        <a:defRPr/>
                      </a:pPr>
                      <a:r>
                        <a:rPr lang="en-US"/>
                        <a:t>Base accumulates features all children inherit whether they need them or not</a:t>
                      </a:r>
                      <a:endParaRPr/>
                    </a:p>
                  </a:txBody>
                  <a:tcPr/>
                </a:tc>
              </a:tr>
              <a:tr h="991883">
                <a:tc>
                  <a:txBody>
                    <a:bodyPr/>
                    <a:p>
                      <a:pPr>
                        <a:defRPr/>
                      </a:pPr>
                      <a:r>
                        <a:rPr lang="en-US"/>
                        <a:t>Architecture enforces consistency – no discipline required</a:t>
                      </a:r>
                      <a:endParaRPr/>
                    </a:p>
                  </a:txBody>
                  <a:tcPr/>
                </a:tc>
                <a:tc>
                  <a:txBody>
                    <a:bodyPr/>
                    <a:p>
                      <a:pPr>
                        <a:defRPr/>
                      </a:pPr>
                      <a:r>
                        <a:rPr lang="en-US"/>
                        <a:t>No way to modify a part of an inherited method – it’s all or nothing </a:t>
                      </a:r>
                      <a:endParaRPr/>
                    </a:p>
                  </a:txBody>
                  <a:tcPr/>
                </a:tc>
              </a:tr>
              <a:tr h="991883">
                <a:tc>
                  <a:txBody>
                    <a:bodyPr/>
                    <a:p>
                      <a:pPr>
                        <a:defRPr/>
                      </a:pPr>
                      <a:r>
                        <a:rPr lang="en-US"/>
                        <a:t>Cross-cutting changes touch one file instead of four</a:t>
                      </a:r>
                      <a:endParaRPr/>
                    </a:p>
                  </a:txBody>
                  <a:tcPr/>
                </a:tc>
                <a:tc>
                  <a:txBody>
                    <a:bodyPr/>
                    <a:p>
                      <a:pPr>
                        <a:defRPr/>
                      </a:pPr>
                      <a:r>
                        <a:rPr lang="en-US"/>
                        <a:t>Skipping SUPER^ severs the entire framework chain (consequence of above)</a:t>
                      </a:r>
                      <a:endParaRPr/>
                    </a:p>
                  </a:txBody>
                  <a:tcPr/>
                </a:tc>
              </a:tr>
              <a:tr h="991883">
                <a:tc>
                  <a:txBody>
                    <a:bodyPr/>
                    <a:p>
                      <a:pPr>
                        <a:defRPr/>
                      </a:pPr>
                      <a:r>
                        <a:rPr lang="en-US"/>
                        <a:t>Stage 1 drift eliminated</a:t>
                      </a:r>
                      <a:endParaRPr/>
                    </a:p>
                  </a:txBody>
                  <a:tcPr/>
                </a:tc>
                <a:tc>
                  <a:txBody>
                    <a:bodyPr/>
                    <a:p>
                      <a:pPr>
                        <a:defRPr/>
                      </a:pPr>
                      <a:r>
                        <a:rPr lang="en-US"/>
                        <a:t>The base that helped in CR-1 becomes the constraint in CR-2</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3021804" name="Title 1"/>
          <p:cNvSpPr>
            <a:spLocks noGrp="1"/>
          </p:cNvSpPr>
          <p:nvPr>
            <p:ph type="title"/>
          </p:nvPr>
        </p:nvSpPr>
        <p:spPr bwMode="auto"/>
        <p:txBody>
          <a:bodyPr/>
          <a:lstStyle/>
          <a:p>
            <a:pPr>
              <a:defRPr/>
            </a:pPr>
            <a:r>
              <a:rPr/>
              <a:t>Block 2 → Block 3 break</a:t>
            </a:r>
            <a:endParaRPr/>
          </a:p>
        </p:txBody>
      </p:sp>
      <p:sp>
        <p:nvSpPr>
          <p:cNvPr id="715543565"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2153817"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627186"/>
                </a:solidFill>
                <a:latin typeface="Arial"/>
              </a:rPr>
              <a:t>BREAK</a:t>
            </a:r>
            <a:endParaRPr/>
          </a:p>
        </p:txBody>
      </p:sp>
      <p:sp>
        <p:nvSpPr>
          <p:cNvPr id="1503393909" name="TextBox 4"/>
          <p:cNvSpPr txBox="1"/>
          <p:nvPr/>
        </p:nvSpPr>
        <p:spPr bwMode="auto">
          <a:xfrm>
            <a:off x="0" y="2011680"/>
            <a:ext cx="10012680" cy="1554480"/>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10 min</a:t>
            </a:r>
            <a:endParaRPr/>
          </a:p>
        </p:txBody>
      </p:sp>
      <p:sp>
        <p:nvSpPr>
          <p:cNvPr id="704015157"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The longer of the two breaks if you can swing it. Block 3's payoff lands harder if the room comes back fresh.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4557241" name="Title 2"/>
          <p:cNvSpPr>
            <a:spLocks noGrp="1"/>
          </p:cNvSpPr>
          <p:nvPr>
            <p:ph type="title"/>
          </p:nvPr>
        </p:nvSpPr>
        <p:spPr bwMode="auto"/>
        <p:txBody>
          <a:bodyPr/>
          <a:lstStyle/>
          <a:p>
            <a:pPr>
              <a:defRPr/>
            </a:pPr>
            <a:r>
              <a:rPr/>
              <a:t>Block 3</a:t>
            </a:r>
            <a:endParaRPr/>
          </a:p>
        </p:txBody>
      </p:sp>
      <p:sp>
        <p:nvSpPr>
          <p:cNvPr id="49266295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0942005"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3 — Composition</a:t>
            </a:r>
            <a:endParaRPr/>
          </a:p>
        </p:txBody>
      </p:sp>
      <p:sp>
        <p:nvSpPr>
          <p:cNvPr id="171218515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70 min</a:t>
            </a:r>
            <a:endParaRPr/>
          </a:p>
        </p:txBody>
      </p:sp>
      <p:sp>
        <p:nvSpPr>
          <p:cNvPr id="11034449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What the rest of software engineering reaches for by default.</a:t>
            </a:r>
            <a:endParaRPr/>
          </a:p>
          <a:p>
            <a:pPr algn="l">
              <a:lnSpc>
                <a:spcPct val="140000"/>
              </a:lnSpc>
              <a:defRPr/>
            </a:pPr>
            <a:r>
              <a:rPr sz="2000" b="0" i="1">
                <a:solidFill>
                  <a:srgbClr val="242A33"/>
                </a:solidFill>
                <a:latin typeface="Arial"/>
              </a:rPr>
              <a:t>Build the line from interface-typed building blocks.</a:t>
            </a:r>
            <a:endParaRPr/>
          </a:p>
          <a:p>
            <a:pPr algn="l">
              <a:lnSpc>
                <a:spcPct val="140000"/>
              </a:lnSpc>
              <a:defRPr/>
            </a:pPr>
            <a:r>
              <a:rPr sz="2000" b="0" i="1">
                <a:solidFill>
                  <a:srgbClr val="242A33"/>
                </a:solidFill>
                <a:latin typeface="Arial"/>
              </a:rPr>
              <a:t>CR-2 — the killer requirement — becomes a one-line swap.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4633793"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endParaRPr/>
          </a:p>
        </p:txBody>
      </p:sp>
      <p:sp>
        <p:nvSpPr>
          <p:cNvPr id="1784637366" name="Title 2"/>
          <p:cNvSpPr>
            <a:spLocks noGrp="1"/>
          </p:cNvSpPr>
          <p:nvPr>
            <p:ph type="title"/>
          </p:nvPr>
        </p:nvSpPr>
        <p:spPr bwMode="auto"/>
        <p:txBody>
          <a:bodyPr/>
          <a:lstStyle/>
          <a:p>
            <a:pPr>
              <a:defRPr/>
            </a:pPr>
            <a:r>
              <a:rPr/>
              <a:t>The composition paradigm</a:t>
            </a:r>
            <a:endParaRPr/>
          </a:p>
        </p:txBody>
      </p:sp>
      <p:sp>
        <p:nvSpPr>
          <p:cNvPr id="45468516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7509534"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endParaRPr/>
          </a:p>
        </p:txBody>
      </p:sp>
      <p:sp>
        <p:nvSpPr>
          <p:cNvPr id="814047624" name="Title 2"/>
          <p:cNvSpPr>
            <a:spLocks noGrp="1"/>
          </p:cNvSpPr>
          <p:nvPr>
            <p:ph type="title"/>
          </p:nvPr>
        </p:nvSpPr>
        <p:spPr bwMode="auto"/>
        <p:txBody>
          <a:bodyPr/>
          <a:lstStyle/>
          <a:p>
            <a:pPr>
              <a:defRPr/>
            </a:pPr>
            <a:r>
              <a:rPr/>
              <a:t>The file tree — 18 files. Hold the judgment.</a:t>
            </a:r>
            <a:endParaRPr/>
          </a:p>
        </p:txBody>
      </p:sp>
      <p:sp>
        <p:nvSpPr>
          <p:cNvPr id="6408491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6554077" name="Title 1"/>
          <p:cNvSpPr>
            <a:spLocks noGrp="1"/>
          </p:cNvSpPr>
          <p:nvPr>
            <p:ph type="title"/>
          </p:nvPr>
        </p:nvSpPr>
        <p:spPr bwMode="auto"/>
        <p:txBody>
          <a:bodyPr/>
          <a:lstStyle/>
          <a:p>
            <a:pPr>
              <a:defRPr/>
            </a:pPr>
            <a:r>
              <a:rPr/>
              <a:t>The contract — I_AlarmHandler</a:t>
            </a:r>
            <a:endParaRPr/>
          </a:p>
        </p:txBody>
      </p:sp>
      <p:sp>
        <p:nvSpPr>
          <p:cNvPr id="64709520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6820811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52481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TWINCAT INTERFACE</a:t>
            </a:r>
            <a:endParaRPr/>
          </a:p>
        </p:txBody>
      </p:sp>
      <p:sp>
        <p:nvSpPr>
          <p:cNvPr id="154476722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I_AlarmHandler.TcPOU — a contract. No implementation.</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INTERFACE I_AlarmHandler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PROPERTY IsActive : BOOL    // is an alarm currently latched?</a:t>
            </a:r>
            <a:endParaRPr/>
          </a:p>
          <a:p>
            <a:pPr algn="l">
              <a:lnSpc>
                <a:spcPct val="125000"/>
              </a:lnSpc>
              <a:defRPr/>
            </a:pPr>
            <a:r>
              <a:rPr sz="1300" b="0" i="0">
                <a:solidFill>
                  <a:srgbClr val="E6E8EB"/>
                </a:solidFill>
                <a:latin typeface="Consolas"/>
              </a:rPr>
              <a:t>PROPERTY StopsLine : BOOL   // should this alarm stop the line?</a:t>
            </a:r>
            <a:endParaRPr/>
          </a:p>
          <a:p>
            <a:pPr algn="l">
              <a:lnSpc>
                <a:spcPct val="125000"/>
              </a:lnSpc>
              <a:defRPr/>
            </a:pPr>
            <a:r>
              <a:rPr sz="1300" b="0" i="0">
                <a:solidFill>
                  <a:srgbClr val="E6E8EB"/>
                </a:solidFill>
                <a:latin typeface="Consolas"/>
              </a:rPr>
              <a:t>                            // (TRUE for line faults, FALSE for quality flags)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Raise</a:t>
            </a:r>
            <a:endParaRPr/>
          </a:p>
          <a:p>
            <a:pPr algn="l">
              <a:lnSpc>
                <a:spcPct val="125000"/>
              </a:lnSpc>
              <a:defRPr/>
            </a:pPr>
            <a:r>
              <a:rPr sz="1300" b="0" i="0">
                <a:solidFill>
                  <a:srgbClr val="E6E8EB"/>
                </a:solidFill>
                <a:latin typeface="Consolas"/>
              </a:rPr>
              <a:t>VAR_INPUT</a:t>
            </a:r>
            <a:endParaRPr/>
          </a:p>
          <a:p>
            <a:pPr algn="l">
              <a:lnSpc>
                <a:spcPct val="125000"/>
              </a:lnSpc>
              <a:defRPr/>
            </a:pPr>
            <a:r>
              <a:rPr sz="1300" b="0" i="0">
                <a:solidFill>
                  <a:srgbClr val="E6E8EB"/>
                </a:solidFill>
                <a:latin typeface="Consolas"/>
              </a:rPr>
              <a:t>    Code   : INT;</a:t>
            </a:r>
            <a:endParaRPr/>
          </a:p>
          <a:p>
            <a:pPr algn="l">
              <a:lnSpc>
                <a:spcPct val="125000"/>
              </a:lnSpc>
              <a:defRPr/>
            </a:pPr>
            <a:r>
              <a:rPr sz="1300" b="0" i="0">
                <a:solidFill>
                  <a:srgbClr val="E6E8EB"/>
                </a:solidFill>
                <a:latin typeface="Consolas"/>
              </a:rPr>
              <a:t>    Text   : STRING(80);</a:t>
            </a:r>
            <a:endParaRPr/>
          </a:p>
          <a:p>
            <a:pPr algn="l">
              <a:lnSpc>
                <a:spcPct val="125000"/>
              </a:lnSpc>
              <a:defRPr/>
            </a:pPr>
            <a:r>
              <a:rPr sz="1300" b="0" i="0">
                <a:solidFill>
                  <a:srgbClr val="E6E8EB"/>
                </a:solidFill>
                <a:latin typeface="Consolas"/>
              </a:rPr>
              <a:t>END_VAR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Acknowledge</a:t>
            </a:r>
            <a:endParaRPr/>
          </a:p>
          <a:p>
            <a:pPr algn="l">
              <a:lnSpc>
                <a:spcPct val="125000"/>
              </a:lnSpc>
              <a:defRPr/>
            </a:pPr>
            <a:r>
              <a:rPr sz="1300" b="0" i="0">
                <a:solidFill>
                  <a:srgbClr val="E6E8EB"/>
                </a:solidFill>
                <a:latin typeface="Consolas"/>
              </a:rPr>
              <a:t>END_METHOD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56715451" name="Title 1"/>
          <p:cNvSpPr>
            <a:spLocks noGrp="1"/>
          </p:cNvSpPr>
          <p:nvPr>
            <p:ph type="title"/>
          </p:nvPr>
        </p:nvSpPr>
        <p:spPr bwMode="auto"/>
        <p:txBody>
          <a:bodyPr/>
          <a:lstStyle/>
          <a:p>
            <a:pPr>
              <a:defRPr/>
            </a:pPr>
            <a:r>
              <a:rPr/>
              <a:t>Two implementations — same shape, opposite policy</a:t>
            </a:r>
            <a:endParaRPr/>
          </a:p>
        </p:txBody>
      </p:sp>
      <p:sp>
        <p:nvSpPr>
          <p:cNvPr id="164991098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518358736"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8921639"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FB_ALARMHANDLER_LINEFAULT</a:t>
            </a:r>
            <a:endParaRPr/>
          </a:p>
        </p:txBody>
      </p:sp>
      <p:sp>
        <p:nvSpPr>
          <p:cNvPr id="1140575367"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endParaRPr/>
          </a:p>
        </p:txBody>
      </p:sp>
      <p:sp>
        <p:nvSpPr>
          <p:cNvPr id="1956764929"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FB_ALARMHANDLER_QUALITYFLAG</a:t>
            </a:r>
            <a:endParaRPr/>
          </a:p>
        </p:txBody>
      </p:sp>
      <p:sp>
        <p:nvSpPr>
          <p:cNvPr id="184488552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5157593" name="Title 1"/>
          <p:cNvSpPr>
            <a:spLocks noGrp="1"/>
          </p:cNvSpPr>
          <p:nvPr>
            <p:ph type="title"/>
          </p:nvPr>
        </p:nvSpPr>
        <p:spPr bwMode="auto"/>
        <p:txBody>
          <a:bodyPr/>
          <a:lstStyle/>
          <a:p>
            <a:pPr>
              <a:defRPr/>
            </a:pPr>
            <a:r>
              <a:rPr/>
              <a:t>A composed station — FB_StationFill</a:t>
            </a:r>
            <a:endParaRPr/>
          </a:p>
        </p:txBody>
      </p:sp>
      <p:sp>
        <p:nvSpPr>
          <p:cNvPr id="54652713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6815034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9394959"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2236359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FUNCTION_BLOCK FB_StationFill IMPLEMENTS I_HmiReportable, I_Sequenceable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REFERENCE TO FB_ModeManager;</a:t>
            </a:r>
            <a:endParaRPr/>
          </a:p>
          <a:p>
            <a:pPr algn="l">
              <a:lnSpc>
                <a:spcPct val="125000"/>
              </a:lnSpc>
              <a:defRPr/>
            </a:pPr>
            <a:r>
              <a:rPr sz="1200" b="0" i="0">
                <a:solidFill>
                  <a:srgbClr val="E6E8EB"/>
                </a:solidFill>
                <a:latin typeface="Consolas"/>
              </a:rPr>
              <a:t>    Alarm   : I_AlarmHandler;        // &lt;-- depends on the INTERFACE</a:t>
            </a:r>
            <a:endParaRPr/>
          </a:p>
          <a:p>
            <a:pPr algn="l">
              <a:lnSpc>
                <a:spcPct val="125000"/>
              </a:lnSpc>
              <a:defRPr/>
            </a:pPr>
            <a:r>
              <a:rPr sz="1200" b="0" i="0">
                <a:solidFill>
                  <a:srgbClr val="E6E8EB"/>
                </a:solidFill>
                <a:latin typeface="Consolas"/>
              </a:rPr>
              <a:t>    Logger  : I_DataLogger;          // &lt;-- same</a:t>
            </a:r>
            <a:endParaRPr/>
          </a:p>
          <a:p>
            <a:pPr algn="l">
              <a:lnSpc>
                <a:spcPct val="125000"/>
              </a:lnSpc>
              <a:defRPr/>
            </a:pPr>
            <a:r>
              <a:rPr sz="1200" b="0" i="0">
                <a:solidFill>
                  <a:srgbClr val="E6E8EB"/>
                </a:solidFill>
                <a:latin typeface="Consolas"/>
              </a:rPr>
              <a:t>    Seq     : FB_StepSequencer;</a:t>
            </a:r>
            <a:endParaRPr/>
          </a:p>
          <a:p>
            <a:pPr algn="l">
              <a:lnSpc>
                <a:spcPct val="125000"/>
              </a:lnSpc>
              <a:defRPr/>
            </a:pPr>
            <a:r>
              <a:rPr sz="1200" b="0" i="0">
                <a:solidFill>
                  <a:srgbClr val="E6E8EB"/>
                </a:solidFill>
                <a:latin typeface="Consolas"/>
              </a:rPr>
              <a:t>END_VAR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ModeRef       : REFERENCE TO FB_ModeManager;</a:t>
            </a:r>
            <a:endParaRPr/>
          </a:p>
          <a:p>
            <a:pPr algn="l">
              <a:lnSpc>
                <a:spcPct val="125000"/>
              </a:lnSpc>
              <a:defRPr/>
            </a:pPr>
            <a:r>
              <a:rPr sz="1200" b="0" i="0">
                <a:solidFill>
                  <a:srgbClr val="E6E8EB"/>
                </a:solidFill>
                <a:latin typeface="Consolas"/>
              </a:rPr>
              <a:t>    AlarmHandler  : I_AlarmHandler;     // &lt;-- injected at construction</a:t>
            </a:r>
            <a:endParaRPr/>
          </a:p>
          <a:p>
            <a:pPr algn="l">
              <a:lnSpc>
                <a:spcPct val="125000"/>
              </a:lnSpc>
              <a:defRPr/>
            </a:pPr>
            <a:r>
              <a:rPr sz="1200" b="0" i="0">
                <a:solidFill>
                  <a:srgbClr val="E6E8EB"/>
                </a:solidFill>
                <a:latin typeface="Consolas"/>
              </a:rPr>
              <a:t>    DataLogger    : I_DataLogger;       // &lt;-- injected at construction</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THIS^.Mode  REF= ModeRef;</a:t>
            </a:r>
            <a:endParaRPr/>
          </a:p>
          <a:p>
            <a:pPr algn="l">
              <a:lnSpc>
                <a:spcPct val="125000"/>
              </a:lnSpc>
              <a:defRPr/>
            </a:pPr>
            <a:r>
              <a:rPr sz="1200" b="0" i="0">
                <a:solidFill>
                  <a:srgbClr val="E6E8EB"/>
                </a:solidFill>
                <a:latin typeface="Consolas"/>
              </a:rPr>
              <a:t>THIS^.Alarm := AlarmHandler;</a:t>
            </a:r>
            <a:endParaRPr/>
          </a:p>
          <a:p>
            <a:pPr algn="l">
              <a:lnSpc>
                <a:spcPct val="125000"/>
              </a:lnSpc>
              <a:defRPr/>
            </a:pPr>
            <a:r>
              <a:rPr sz="1200" b="0" i="0">
                <a:solidFill>
                  <a:srgbClr val="E6E8EB"/>
                </a:solidFill>
                <a:latin typeface="Consolas"/>
              </a:rPr>
              <a:t>THIS^.Logger := DataLogger;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9238137" name="Title 1"/>
          <p:cNvSpPr>
            <a:spLocks noGrp="1"/>
          </p:cNvSpPr>
          <p:nvPr>
            <p:ph type="title"/>
          </p:nvPr>
        </p:nvSpPr>
        <p:spPr bwMode="auto"/>
        <p:txBody>
          <a:bodyPr/>
          <a:lstStyle/>
          <a:p>
            <a:pPr>
              <a:defRPr/>
            </a:pPr>
            <a:r>
              <a:rPr/>
              <a:t>MAIN — the construction is the architecture</a:t>
            </a:r>
            <a:endParaRPr/>
          </a:p>
        </p:txBody>
      </p:sp>
      <p:sp>
        <p:nvSpPr>
          <p:cNvPr id="110328656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2376467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9162631"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10243470"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PROGRAM MAIN</a:t>
            </a:r>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FB_ModeManager;</a:t>
            </a:r>
            <a:endParaRPr/>
          </a:p>
          <a:p>
            <a:pPr algn="l">
              <a:lnSpc>
                <a:spcPct val="125000"/>
              </a:lnSpc>
              <a:defRPr/>
            </a:pPr>
            <a:r>
              <a:rPr sz="1200" b="0" i="0">
                <a:solidFill>
                  <a:srgbClr val="E6E8EB"/>
                </a:solidFill>
                <a:latin typeface="Consolas"/>
              </a:rPr>
              <a:t>    LineFault     : FB_AlarmHandler_LineFault;</a:t>
            </a:r>
            <a:endParaRPr/>
          </a:p>
          <a:p>
            <a:pPr algn="l">
              <a:lnSpc>
                <a:spcPct val="125000"/>
              </a:lnSpc>
              <a:defRPr/>
            </a:pPr>
            <a:r>
              <a:rPr sz="1200" b="0" i="0">
                <a:solidFill>
                  <a:srgbClr val="E6E8EB"/>
                </a:solidFill>
                <a:latin typeface="Consolas"/>
              </a:rPr>
              <a:t>    QualityFlag   : FB_AlarmHandler_QualityFlag;   // &lt;-- both available</a:t>
            </a:r>
            <a:endParaRPr/>
          </a:p>
          <a:p>
            <a:pPr algn="l">
              <a:lnSpc>
                <a:spcPct val="125000"/>
              </a:lnSpc>
              <a:defRPr/>
            </a:pPr>
            <a:r>
              <a:rPr sz="1200" b="0" i="0">
                <a:solidFill>
                  <a:srgbClr val="E6E8EB"/>
                </a:solidFill>
                <a:latin typeface="Consolas"/>
              </a:rPr>
              <a:t>    CycleLogger   : FB_CycleDataLogger;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Fill          : FB_StationFill(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swap point</a:t>
            </a:r>
            <a:endParaRPr/>
          </a:p>
          <a:p>
            <a:pPr algn="l">
              <a:lnSpc>
                <a:spcPct val="125000"/>
              </a:lnSpc>
              <a:defRPr/>
            </a:pPr>
            <a:r>
              <a:rPr sz="1200" b="0" i="0">
                <a:solidFill>
                  <a:srgbClr val="E6E8EB"/>
                </a:solidFill>
                <a:latin typeface="Consolas"/>
              </a:rPr>
              <a:t>                        DataLogger    := CycleLogger);</a:t>
            </a:r>
            <a:endParaRPr/>
          </a:p>
          <a:p>
            <a:pPr algn="l">
              <a:lnSpc>
                <a:spcPct val="125000"/>
              </a:lnSpc>
              <a:defRPr/>
            </a:pPr>
            <a:r>
              <a:rPr sz="1200" b="0" i="0">
                <a:solidFill>
                  <a:srgbClr val="E6E8EB"/>
                </a:solidFill>
                <a:latin typeface="Consolas"/>
              </a:rPr>
              <a:t>    Cap           : FB_StationCap(</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Label         : FB_StationLabel(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Inspect       : FB_StationInspect(</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this line</a:t>
            </a:r>
            <a:endParaRPr/>
          </a:p>
          <a:p>
            <a:pPr algn="l">
              <a:lnSpc>
                <a:spcPct val="125000"/>
              </a:lnSpc>
              <a:defRPr/>
            </a:pPr>
            <a:r>
              <a:rPr sz="1200" b="0" i="0">
                <a:solidFill>
                  <a:srgbClr val="E6E8EB"/>
                </a:solidFill>
                <a:latin typeface="Consolas"/>
              </a:rPr>
              <a:t>END_VAR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1413499"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endParaRPr/>
          </a:p>
        </p:txBody>
      </p:sp>
      <p:sp>
        <p:nvSpPr>
          <p:cNvPr id="2061317324" name="Title 2"/>
          <p:cNvSpPr>
            <a:spLocks noGrp="1"/>
          </p:cNvSpPr>
          <p:nvPr>
            <p:ph type="title"/>
          </p:nvPr>
        </p:nvSpPr>
        <p:spPr bwMode="auto"/>
        <p:txBody>
          <a:bodyPr/>
          <a:lstStyle/>
          <a:p>
            <a:pPr>
              <a:defRPr/>
            </a:pPr>
            <a:r>
              <a:rPr/>
              <a:t>SOLID — concretely, in this codebase</a:t>
            </a:r>
            <a:endParaRPr/>
          </a:p>
        </p:txBody>
      </p:sp>
      <p:sp>
        <p:nvSpPr>
          <p:cNvPr id="203162545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8423946" name="Title 1"/>
          <p:cNvSpPr>
            <a:spLocks noGrp="1"/>
          </p:cNvSpPr>
          <p:nvPr>
            <p:ph type="title"/>
          </p:nvPr>
        </p:nvSpPr>
        <p:spPr bwMode="auto"/>
        <p:txBody>
          <a:bodyPr/>
          <a:lstStyle/>
          <a:p>
            <a:pPr>
              <a:defRPr/>
            </a:pPr>
            <a:r>
              <a:rPr/>
              <a:t>Pre-emptive pushback</a:t>
            </a:r>
            <a:endParaRPr/>
          </a:p>
        </p:txBody>
      </p:sp>
      <p:sp>
        <p:nvSpPr>
          <p:cNvPr id="151078805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3 · 3A PRE-EMPTIVE PUSHBACK</a:t>
            </a:r>
            <a:endParaRPr/>
          </a:p>
        </p:txBody>
      </p:sp>
      <p:sp>
        <p:nvSpPr>
          <p:cNvPr id="1650136208"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526749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8488315"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73490229"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Eighteen files for a 4-station machine? You've got to be kidding.</a:t>
            </a:r>
            <a:endParaRPr/>
          </a:p>
        </p:txBody>
      </p:sp>
      <p:sp>
        <p:nvSpPr>
          <p:cNvPr id="156217526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27235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441870"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212613490"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7630673" name="Title 1"/>
          <p:cNvSpPr>
            <a:spLocks noGrp="1"/>
          </p:cNvSpPr>
          <p:nvPr>
            <p:ph type="title"/>
          </p:nvPr>
        </p:nvSpPr>
        <p:spPr bwMode="auto"/>
        <p:txBody>
          <a:bodyPr/>
          <a:lstStyle/>
          <a:p>
            <a:pPr>
              <a:defRPr/>
            </a:pPr>
            <a:r>
              <a:rPr/>
              <a:t>CR-1 — the composition way (Fill's exception comes free)</a:t>
            </a:r>
            <a:endParaRPr/>
          </a:p>
        </p:txBody>
      </p:sp>
      <p:sp>
        <p:nvSpPr>
          <p:cNvPr id="17685562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3B  ·  CR-1 HANDS-ON (10 MIN)</a:t>
            </a:r>
            <a:endParaRPr/>
          </a:p>
        </p:txBody>
      </p:sp>
      <p:sp>
        <p:nvSpPr>
          <p:cNvPr id="193941456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stage-3-composition...stage-3-cr1-applied --stat</a:t>
            </a:r>
            <a:endParaRPr/>
          </a:p>
        </p:txBody>
      </p:sp>
      <p:sp>
        <p:nvSpPr>
          <p:cNvPr id="95358011"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2 files  ·  +19  −6</a:t>
            </a:r>
            <a:endParaRPr/>
          </a:p>
        </p:txBody>
      </p:sp>
      <p:sp>
        <p:nvSpPr>
          <p:cNvPr id="1598954409"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5084213"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Just modify FB_ModeManager. Stations are not touched.</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The abstraction already encoded the right behavior.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7367038" name="Title 2"/>
          <p:cNvSpPr>
            <a:spLocks noGrp="1"/>
          </p:cNvSpPr>
          <p:nvPr>
            <p:ph type="title"/>
          </p:nvPr>
        </p:nvSpPr>
        <p:spPr bwMode="auto"/>
        <p:txBody>
          <a:bodyPr/>
          <a:lstStyle/>
          <a:p>
            <a:pPr>
              <a:defRPr/>
            </a:pPr>
            <a:r>
              <a:rPr/>
              <a:t>Block 3 · 3C</a:t>
            </a:r>
            <a:endParaRPr/>
          </a:p>
        </p:txBody>
      </p:sp>
      <p:sp>
        <p:nvSpPr>
          <p:cNvPr id="80861721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472269"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headline swap demo</a:t>
            </a:r>
            <a:endParaRPr/>
          </a:p>
        </p:txBody>
      </p:sp>
      <p:sp>
        <p:nvSpPr>
          <p:cNvPr id="42775454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20 min  ·  the workshop's emotional payoff</a:t>
            </a:r>
            <a:endParaRPr/>
          </a:p>
        </p:txBody>
      </p:sp>
      <p:sp>
        <p:nvSpPr>
          <p:cNvPr id="722195777"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One line in MAIN. Watch.</a:t>
            </a:r>
            <a:endParaRPr/>
          </a:p>
          <a:p>
            <a:pPr algn="l">
              <a:lnSpc>
                <a:spcPct val="140000"/>
              </a:lnSpc>
              <a:defRPr/>
            </a:pPr>
            <a:r>
              <a:rPr sz="2000" b="0" i="1">
                <a:solidFill>
                  <a:srgbClr val="242A33"/>
                </a:solidFill>
                <a:latin typeface="Arial"/>
              </a:rPr>
              <a:t>Then pause. Don't fill the silence.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4745308" name="Title 1"/>
          <p:cNvSpPr>
            <a:spLocks noGrp="1"/>
          </p:cNvSpPr>
          <p:nvPr>
            <p:ph type="title"/>
          </p:nvPr>
        </p:nvSpPr>
        <p:spPr bwMode="auto"/>
        <p:txBody>
          <a:bodyPr/>
          <a:lstStyle/>
          <a:p>
            <a:pPr>
              <a:defRPr/>
            </a:pPr>
            <a:r>
              <a:rPr/>
              <a:t>The swap — one line in MAIN</a:t>
            </a:r>
            <a:endParaRPr/>
          </a:p>
        </p:txBody>
      </p:sp>
      <p:sp>
        <p:nvSpPr>
          <p:cNvPr id="119550117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THE HEADLINE SWAP</a:t>
            </a:r>
            <a:endParaRPr/>
          </a:p>
        </p:txBody>
      </p:sp>
      <p:sp>
        <p:nvSpPr>
          <p:cNvPr id="107416743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060608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86560980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MAIN.TcPOU — find this line: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LineFault);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Change to:</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QualityFlag);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Save. Build.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3008778" name="Title 1"/>
          <p:cNvSpPr>
            <a:spLocks noGrp="1"/>
          </p:cNvSpPr>
          <p:nvPr>
            <p:ph type="title"/>
          </p:nvPr>
        </p:nvSpPr>
        <p:spPr bwMode="auto"/>
        <p:txBody>
          <a:bodyPr/>
          <a:lstStyle/>
          <a:p>
            <a:pPr>
              <a:defRPr/>
            </a:pPr>
            <a:r>
              <a:rPr/>
              <a:t>Block 3 · the workshop's central claim</a:t>
            </a:r>
            <a:endParaRPr/>
          </a:p>
        </p:txBody>
      </p:sp>
      <p:sp>
        <p:nvSpPr>
          <p:cNvPr id="6808136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0926241"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1013470229"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Stage 1 CR-2: 92 lines of inline rewrite.</a:t>
            </a:r>
            <a:endParaRPr/>
          </a:p>
          <a:p>
            <a:pPr algn="l">
              <a:lnSpc>
                <a:spcPct val="130000"/>
              </a:lnSpc>
              <a:defRPr/>
            </a:pPr>
            <a:r>
              <a:rPr sz="2800" b="0" i="1">
                <a:solidFill>
                  <a:srgbClr val="FFFFFF"/>
                </a:solidFill>
                <a:latin typeface="Arial"/>
              </a:rPr>
              <a:t>Stage 2 CR-2: 121 lines of override fight.</a:t>
            </a:r>
            <a:endParaRPr/>
          </a:p>
          <a:p>
            <a:pPr algn="l">
              <a:lnSpc>
                <a:spcPct val="130000"/>
              </a:lnSpc>
              <a:defRPr/>
            </a:pPr>
            <a:r>
              <a:rPr sz="2800" b="0" i="1">
                <a:solidFill>
                  <a:srgbClr val="FFFFFF"/>
                </a:solidFill>
                <a:latin typeface="Arial"/>
              </a:rPr>
              <a:t>Stage 3 CR-2: ONE LINE.</a:t>
            </a:r>
            <a:endParaRPr/>
          </a:p>
        </p:txBody>
      </p:sp>
      <p:sp>
        <p:nvSpPr>
          <p:cNvPr id="1751322683"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Same requirements, three architectures, different blast radius.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0596796"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a:solidFill>
                  <a:srgbClr val="242A33"/>
                </a:solidFill>
                <a:latin typeface="Arial"/>
              </a:rPr>
              <a:t>Compose FB_ParallelSequencer alongside FB_StepSequencer.</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Configure for 2 branches in FB_init. Rework state 10.</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Composition, not rewriting.</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endParaRPr/>
          </a:p>
        </p:txBody>
      </p:sp>
      <p:sp>
        <p:nvSpPr>
          <p:cNvPr id="561780365" name="Title 2"/>
          <p:cNvSpPr>
            <a:spLocks noGrp="1"/>
          </p:cNvSpPr>
          <p:nvPr>
            <p:ph type="title"/>
          </p:nvPr>
        </p:nvSpPr>
        <p:spPr bwMode="auto"/>
        <p:txBody>
          <a:bodyPr/>
          <a:lstStyle/>
          <a:p>
            <a:pPr>
              <a:defRPr/>
            </a:pPr>
            <a:r>
              <a:rPr/>
              <a:t>CR-2 hands-on — the parallel sequencer</a:t>
            </a:r>
            <a:endParaRPr/>
          </a:p>
        </p:txBody>
      </p:sp>
      <p:sp>
        <p:nvSpPr>
          <p:cNvPr id="200425792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HANDS-ON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9941645" name="Title 1"/>
          <p:cNvSpPr>
            <a:spLocks noGrp="1"/>
          </p:cNvSpPr>
          <p:nvPr>
            <p:ph type="title"/>
          </p:nvPr>
        </p:nvSpPr>
        <p:spPr bwMode="auto"/>
        <p:txBody>
          <a:bodyPr/>
          <a:lstStyle/>
          <a:p>
            <a:pPr>
              <a:defRPr/>
            </a:pPr>
            <a:r>
              <a:rPr/>
              <a:t>CR-3 — DI all the way</a:t>
            </a:r>
            <a:endParaRPr/>
          </a:p>
        </p:txBody>
      </p:sp>
      <p:sp>
        <p:nvSpPr>
          <p:cNvPr id="15378493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3D  ·  CR-3 HANDS-ON (10 MIN)</a:t>
            </a:r>
            <a:endParaRPr/>
          </a:p>
        </p:txBody>
      </p:sp>
      <p:sp>
        <p:nvSpPr>
          <p:cNvPr id="24057674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stage-3-composition...stage-3-cr3-applied --stat</a:t>
            </a:r>
            <a:endParaRPr/>
          </a:p>
        </p:txBody>
      </p:sp>
      <p:sp>
        <p:nvSpPr>
          <p:cNvPr id="125589742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3 files  ·  +32  −11</a:t>
            </a:r>
            <a:endParaRPr/>
          </a:p>
        </p:txBody>
      </p:sp>
      <p:sp>
        <p:nvSpPr>
          <p:cNvPr id="616903431"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851695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Add I_DataLogger field + FB_init param to Fill and Inspect only.</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6601055"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Compiles. Runs. Halts Fill mid-cycle.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The right architecture nudges, doesn't force.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Right answer: 1-file diff. Wrong answer: 5-file diff.</a:t>
            </a:r>
            <a:endParaRPr/>
          </a:p>
        </p:txBody>
      </p:sp>
      <p:sp>
        <p:nvSpPr>
          <p:cNvPr id="197947847" name="Title 2"/>
          <p:cNvSpPr>
            <a:spLocks noGrp="1"/>
          </p:cNvSpPr>
          <p:nvPr>
            <p:ph type="title"/>
          </p:nvPr>
        </p:nvSpPr>
        <p:spPr bwMode="auto"/>
        <p:txBody>
          <a:bodyPr/>
          <a:lstStyle/>
          <a:p>
            <a:pPr>
              <a:defRPr/>
            </a:pPr>
            <a:r>
              <a:rPr/>
              <a:t>Even composition can be applied poorly</a:t>
            </a:r>
            <a:endParaRPr/>
          </a:p>
        </p:txBody>
      </p:sp>
      <p:sp>
        <p:nvSpPr>
          <p:cNvPr id="4876421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3E  ·  THE WRONG-WAY BRANCH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975348" name="Title 2"/>
          <p:cNvSpPr>
            <a:spLocks noGrp="1"/>
          </p:cNvSpPr>
          <p:nvPr>
            <p:ph type="title"/>
          </p:nvPr>
        </p:nvSpPr>
        <p:spPr bwMode="auto"/>
        <p:txBody>
          <a:bodyPr/>
          <a:lstStyle/>
          <a:p>
            <a:pPr>
              <a:defRPr/>
            </a:pPr>
            <a:r>
              <a:rPr/>
              <a:t>Block 4</a:t>
            </a:r>
            <a:endParaRPr/>
          </a:p>
        </p:txBody>
      </p:sp>
      <p:sp>
        <p:nvSpPr>
          <p:cNvPr id="1651827058"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128100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Scoreboard, discussion, take-home</a:t>
            </a:r>
            <a:endParaRPr/>
          </a:p>
        </p:txBody>
      </p:sp>
      <p:sp>
        <p:nvSpPr>
          <p:cNvPr id="1811537524"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20 min  ·  plan to overshoot</a:t>
            </a:r>
            <a:endParaRPr/>
          </a:p>
        </p:txBody>
      </p:sp>
      <p:sp>
        <p:nvSpPr>
          <p:cNvPr id="692991652"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numbers from the diffs go on the board.</a:t>
            </a:r>
            <a:endParaRPr/>
          </a:p>
          <a:p>
            <a:pPr algn="l">
              <a:lnSpc>
                <a:spcPct val="140000"/>
              </a:lnSpc>
              <a:defRPr/>
            </a:pPr>
            <a:r>
              <a:rPr sz="2000" b="0" i="1">
                <a:solidFill>
                  <a:srgbClr val="242A33"/>
                </a:solidFill>
                <a:latin typeface="Arial"/>
              </a:rPr>
              <a:t>When does each stage fit your real workload?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82137265" name="Title 1"/>
          <p:cNvSpPr>
            <a:spLocks noGrp="1"/>
          </p:cNvSpPr>
          <p:nvPr>
            <p:ph type="title"/>
          </p:nvPr>
        </p:nvSpPr>
        <p:spPr bwMode="auto"/>
        <p:txBody>
          <a:bodyPr/>
          <a:lstStyle/>
          <a:p>
            <a:pPr>
              <a:defRPr/>
            </a:pPr>
            <a:r>
              <a:rPr/>
              <a:t>The scoreboard</a:t>
            </a:r>
            <a:endParaRPr/>
          </a:p>
        </p:txBody>
      </p:sp>
      <p:sp>
        <p:nvSpPr>
          <p:cNvPr id="13144775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a:t>
            </a:r>
            <a:endParaRPr/>
          </a:p>
        </p:txBody>
      </p:sp>
      <p:sp>
        <p:nvSpPr>
          <p:cNvPr id="1190641128" name="Rectangle 3"/>
          <p:cNvSpPr/>
          <p:nvPr/>
        </p:nvSpPr>
        <p:spPr bwMode="auto">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6440004" name="TextBox 4"/>
          <p:cNvSpPr txBox="1"/>
          <p:nvPr/>
        </p:nvSpPr>
        <p:spPr bwMode="auto">
          <a:xfrm>
            <a:off x="2926079"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1 — Procedural</a:t>
            </a:r>
            <a:endParaRPr/>
          </a:p>
        </p:txBody>
      </p:sp>
      <p:sp>
        <p:nvSpPr>
          <p:cNvPr id="1987896523" name="Rectangle 5"/>
          <p:cNvSpPr/>
          <p:nvPr/>
        </p:nvSpPr>
        <p:spPr bwMode="auto">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969908" name="TextBox 6"/>
          <p:cNvSpPr txBox="1"/>
          <p:nvPr/>
        </p:nvSpPr>
        <p:spPr bwMode="auto">
          <a:xfrm>
            <a:off x="5349240"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2 — Inheritance</a:t>
            </a:r>
            <a:endParaRPr/>
          </a:p>
        </p:txBody>
      </p:sp>
      <p:sp>
        <p:nvSpPr>
          <p:cNvPr id="569120780" name="Rectangle 7"/>
          <p:cNvSpPr/>
          <p:nvPr/>
        </p:nvSpPr>
        <p:spPr bwMode="auto">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294908" name="TextBox 8"/>
          <p:cNvSpPr txBox="1"/>
          <p:nvPr/>
        </p:nvSpPr>
        <p:spPr bwMode="auto">
          <a:xfrm>
            <a:off x="7772400" y="1399031"/>
            <a:ext cx="210312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3 — Composition</a:t>
            </a:r>
            <a:endParaRPr/>
          </a:p>
        </p:txBody>
      </p:sp>
      <p:sp>
        <p:nvSpPr>
          <p:cNvPr id="1346349388" name="Rectangle 9"/>
          <p:cNvSpPr/>
          <p:nvPr/>
        </p:nvSpPr>
        <p:spPr bwMode="auto">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2716806" name="TextBox 10"/>
          <p:cNvSpPr txBox="1"/>
          <p:nvPr/>
        </p:nvSpPr>
        <p:spPr bwMode="auto">
          <a:xfrm>
            <a:off x="182880" y="194767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CR-1  Pause mode</a:t>
            </a:r>
            <a:endParaRPr/>
          </a:p>
        </p:txBody>
      </p:sp>
      <p:sp>
        <p:nvSpPr>
          <p:cNvPr id="993772847" name="Rectangle 11"/>
          <p:cNvSpPr/>
          <p:nvPr/>
        </p:nvSpPr>
        <p:spPr bwMode="auto">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467620" name="TextBox 12"/>
          <p:cNvSpPr txBox="1"/>
          <p:nvPr/>
        </p:nvSpPr>
        <p:spPr bwMode="auto">
          <a:xfrm>
            <a:off x="2926079"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5 files</a:t>
            </a:r>
            <a:endParaRPr/>
          </a:p>
          <a:p>
            <a:pPr algn="l">
              <a:lnSpc>
                <a:spcPct val="120000"/>
              </a:lnSpc>
              <a:defRPr/>
            </a:pPr>
            <a:r>
              <a:rPr sz="1300" b="0" i="0">
                <a:solidFill>
                  <a:srgbClr val="414D5C"/>
                </a:solidFill>
                <a:latin typeface="Consolas"/>
              </a:rPr>
              <a:t>+50  −13</a:t>
            </a:r>
            <a:endParaRPr/>
          </a:p>
        </p:txBody>
      </p:sp>
      <p:sp>
        <p:nvSpPr>
          <p:cNvPr id="1190348328" name="Rectangle 13"/>
          <p:cNvSpPr/>
          <p:nvPr/>
        </p:nvSpPr>
        <p:spPr bwMode="auto">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1677366" name="TextBox 14"/>
          <p:cNvSpPr txBox="1"/>
          <p:nvPr/>
        </p:nvSpPr>
        <p:spPr bwMode="auto">
          <a:xfrm>
            <a:off x="5349240"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+65  −48</a:t>
            </a:r>
            <a:endParaRPr/>
          </a:p>
        </p:txBody>
      </p:sp>
      <p:sp>
        <p:nvSpPr>
          <p:cNvPr id="1583186968" name="Rectangle 15"/>
          <p:cNvSpPr/>
          <p:nvPr/>
        </p:nvSpPr>
        <p:spPr bwMode="auto">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240232" name="TextBox 16"/>
          <p:cNvSpPr txBox="1"/>
          <p:nvPr/>
        </p:nvSpPr>
        <p:spPr bwMode="auto">
          <a:xfrm>
            <a:off x="7772400" y="194767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2 files</a:t>
            </a:r>
            <a:endParaRPr/>
          </a:p>
          <a:p>
            <a:pPr algn="l">
              <a:lnSpc>
                <a:spcPct val="120000"/>
              </a:lnSpc>
              <a:defRPr/>
            </a:pPr>
            <a:r>
              <a:rPr sz="1300" b="1" i="0">
                <a:solidFill>
                  <a:srgbClr val="2D76AD"/>
                </a:solidFill>
                <a:latin typeface="Consolas"/>
              </a:rPr>
              <a:t>+19  −6</a:t>
            </a:r>
            <a:endParaRPr/>
          </a:p>
        </p:txBody>
      </p:sp>
      <p:sp>
        <p:nvSpPr>
          <p:cNvPr id="1856222384" name="Rectangle 17"/>
          <p:cNvSpPr/>
          <p:nvPr/>
        </p:nvSpPr>
        <p:spPr bwMode="auto">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1280259" name="TextBox 18"/>
          <p:cNvSpPr txBox="1"/>
          <p:nvPr/>
        </p:nvSpPr>
        <p:spPr bwMode="auto">
          <a:xfrm>
            <a:off x="182880" y="2999232"/>
            <a:ext cx="2423160" cy="100584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CR-2  Inspect quality + parallel</a:t>
            </a:r>
            <a:endParaRPr/>
          </a:p>
        </p:txBody>
      </p:sp>
      <p:sp>
        <p:nvSpPr>
          <p:cNvPr id="1054463538" name="Rectangle 19"/>
          <p:cNvSpPr/>
          <p:nvPr/>
        </p:nvSpPr>
        <p:spPr bwMode="auto">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9086856" name="TextBox 20"/>
          <p:cNvSpPr txBox="1"/>
          <p:nvPr/>
        </p:nvSpPr>
        <p:spPr bwMode="auto">
          <a:xfrm>
            <a:off x="2926079"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+92  −55</a:t>
            </a:r>
            <a:endParaRPr/>
          </a:p>
        </p:txBody>
      </p:sp>
      <p:sp>
        <p:nvSpPr>
          <p:cNvPr id="1282944555" name="Rectangle 21"/>
          <p:cNvSpPr/>
          <p:nvPr/>
        </p:nvSpPr>
        <p:spPr bwMode="auto">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9225465" name="TextBox 22"/>
          <p:cNvSpPr txBox="1"/>
          <p:nvPr/>
        </p:nvSpPr>
        <p:spPr bwMode="auto">
          <a:xfrm>
            <a:off x="5349240"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+121  −48</a:t>
            </a:r>
            <a:endParaRPr/>
          </a:p>
        </p:txBody>
      </p:sp>
      <p:sp>
        <p:nvSpPr>
          <p:cNvPr id="407413322" name="Rectangle 23"/>
          <p:cNvSpPr/>
          <p:nvPr/>
        </p:nvSpPr>
        <p:spPr bwMode="auto">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95528303" name="TextBox 24"/>
          <p:cNvSpPr txBox="1"/>
          <p:nvPr/>
        </p:nvSpPr>
        <p:spPr bwMode="auto">
          <a:xfrm>
            <a:off x="7772400" y="2999232"/>
            <a:ext cx="2103120" cy="100584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1 line in MAIN</a:t>
            </a:r>
            <a:endParaRPr/>
          </a:p>
          <a:p>
            <a:pPr algn="l">
              <a:lnSpc>
                <a:spcPct val="120000"/>
              </a:lnSpc>
              <a:defRPr/>
            </a:pPr>
            <a:r>
              <a:rPr sz="1300" b="1" i="0">
                <a:solidFill>
                  <a:srgbClr val="2D76AD"/>
                </a:solidFill>
                <a:latin typeface="Consolas"/>
              </a:rPr>
              <a:t>+ ~3 internal</a:t>
            </a:r>
            <a:endParaRPr/>
          </a:p>
        </p:txBody>
      </p:sp>
      <p:sp>
        <p:nvSpPr>
          <p:cNvPr id="503487440" name="Rectangle 25"/>
          <p:cNvSpPr/>
          <p:nvPr/>
        </p:nvSpPr>
        <p:spPr bwMode="auto">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8123850" name="TextBox 26"/>
          <p:cNvSpPr txBox="1"/>
          <p:nvPr/>
        </p:nvSpPr>
        <p:spPr bwMode="auto">
          <a:xfrm>
            <a:off x="182880" y="418795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CR-3  Selective logging</a:t>
            </a:r>
            <a:endParaRPr/>
          </a:p>
        </p:txBody>
      </p:sp>
      <p:sp>
        <p:nvSpPr>
          <p:cNvPr id="2047431180" name="Rectangle 27"/>
          <p:cNvSpPr/>
          <p:nvPr/>
        </p:nvSpPr>
        <p:spPr bwMode="auto">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2360921" name="TextBox 28"/>
          <p:cNvSpPr txBox="1"/>
          <p:nvPr/>
        </p:nvSpPr>
        <p:spPr bwMode="auto">
          <a:xfrm>
            <a:off x="2926079"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+13  −3</a:t>
            </a:r>
            <a:endParaRPr/>
          </a:p>
        </p:txBody>
      </p:sp>
      <p:sp>
        <p:nvSpPr>
          <p:cNvPr id="1515515380" name="Rectangle 29"/>
          <p:cNvSpPr/>
          <p:nvPr/>
        </p:nvSpPr>
        <p:spPr bwMode="auto">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08524749" name="TextBox 30"/>
          <p:cNvSpPr txBox="1"/>
          <p:nvPr/>
        </p:nvSpPr>
        <p:spPr bwMode="auto">
          <a:xfrm>
            <a:off x="5349240"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+64  −25</a:t>
            </a:r>
            <a:endParaRPr/>
          </a:p>
        </p:txBody>
      </p:sp>
      <p:sp>
        <p:nvSpPr>
          <p:cNvPr id="621114164" name="Rectangle 31"/>
          <p:cNvSpPr/>
          <p:nvPr/>
        </p:nvSpPr>
        <p:spPr bwMode="auto">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7978805" name="TextBox 32"/>
          <p:cNvSpPr txBox="1"/>
          <p:nvPr/>
        </p:nvSpPr>
        <p:spPr bwMode="auto">
          <a:xfrm>
            <a:off x="7772400" y="418795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3 files</a:t>
            </a:r>
            <a:endParaRPr/>
          </a:p>
          <a:p>
            <a:pPr algn="l">
              <a:lnSpc>
                <a:spcPct val="120000"/>
              </a:lnSpc>
              <a:defRPr/>
            </a:pPr>
            <a:r>
              <a:rPr sz="1300" b="1" i="0">
                <a:solidFill>
                  <a:srgbClr val="2D76AD"/>
                </a:solidFill>
                <a:latin typeface="Consolas"/>
              </a:rPr>
              <a:t>+32  −11</a:t>
            </a:r>
            <a:endParaRPr/>
          </a:p>
        </p:txBody>
      </p:sp>
      <p:sp>
        <p:nvSpPr>
          <p:cNvPr id="114760556" name="TextBox 33"/>
          <p:cNvSpPr txBox="1"/>
          <p:nvPr/>
        </p:nvSpPr>
        <p:spPr bwMode="auto">
          <a:xfrm>
            <a:off x="0" y="5989320"/>
            <a:ext cx="10012680" cy="457200"/>
          </a:xfrm>
          <a:prstGeom prst="rect">
            <a:avLst/>
          </a:prstGeom>
          <a:noFill/>
        </p:spPr>
        <p:txBody>
          <a:bodyPr wrap="square" lIns="0" tIns="0" rIns="0" bIns="0" anchor="t">
            <a:spAutoFit/>
          </a:bodyPr>
          <a:lstStyle/>
          <a:p>
            <a:pPr algn="l">
              <a:lnSpc>
                <a:spcPct val="114999"/>
              </a:lnSpc>
              <a:defRPr/>
            </a:pPr>
            <a:r>
              <a:rPr sz="1400" b="0" i="1">
                <a:solidFill>
                  <a:srgbClr val="627186"/>
                </a:solidFill>
                <a:latin typeface="Arial"/>
              </a:rPr>
              <a:t>On these cross-cutting CRs, composition has the smallest blast radius. Different workloads would shift the ranking — the shape of the win matters more than the line count.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3514426" name="Text Placeholder 1"/>
          <p:cNvSpPr>
            <a:spLocks noGrp="1"/>
          </p:cNvSpPr>
          <p:nvPr>
            <p:ph type="body" sz="quarter" idx="15"/>
          </p:nvPr>
        </p:nvSpPr>
        <p:spPr bwMode="auto"/>
        <p:txBody>
          <a:bodyPr wrap="square"/>
          <a:lstStyle/>
          <a:p>
            <a:pPr algn="l">
              <a:lnSpc>
                <a:spcPct val="130000"/>
              </a:lnSpc>
              <a:defRPr/>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endParaRPr/>
          </a:p>
        </p:txBody>
      </p:sp>
      <p:sp>
        <p:nvSpPr>
          <p:cNvPr id="262072970" name="Title 2"/>
          <p:cNvSpPr>
            <a:spLocks noGrp="1"/>
          </p:cNvSpPr>
          <p:nvPr>
            <p:ph type="title"/>
          </p:nvPr>
        </p:nvSpPr>
        <p:spPr bwMode="auto"/>
        <p:txBody>
          <a:bodyPr/>
          <a:lstStyle/>
          <a:p>
            <a:pPr>
              <a:defRPr/>
            </a:pPr>
            <a:r>
              <a:rPr/>
              <a:t>Reading the numbers — blast radius, not lines</a:t>
            </a:r>
            <a:endParaRPr/>
          </a:p>
        </p:txBody>
      </p:sp>
      <p:sp>
        <p:nvSpPr>
          <p:cNvPr id="16094752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4870826"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If your shop wants CI for PLC code, this is the prerequisite.</a:t>
            </a:r>
            <a:endParaRPr/>
          </a:p>
        </p:txBody>
      </p:sp>
      <p:sp>
        <p:nvSpPr>
          <p:cNvPr id="1064776691" name="Title 2"/>
          <p:cNvSpPr>
            <a:spLocks noGrp="1"/>
          </p:cNvSpPr>
          <p:nvPr>
            <p:ph type="title"/>
          </p:nvPr>
        </p:nvSpPr>
        <p:spPr bwMode="auto"/>
        <p:txBody>
          <a:bodyPr/>
          <a:lstStyle/>
          <a:p>
            <a:pPr>
              <a:defRPr/>
            </a:pPr>
            <a:r>
              <a:rPr/>
              <a:t>The quiet long-tail value — testability</a:t>
            </a:r>
            <a:endParaRPr/>
          </a:p>
        </p:txBody>
      </p:sp>
      <p:sp>
        <p:nvSpPr>
          <p:cNvPr id="28005299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3604022" name="Title 1"/>
          <p:cNvSpPr>
            <a:spLocks noGrp="1"/>
          </p:cNvSpPr>
          <p:nvPr>
            <p:ph type="title"/>
          </p:nvPr>
        </p:nvSpPr>
        <p:spPr bwMode="auto"/>
        <p:txBody>
          <a:bodyPr/>
          <a:lstStyle/>
          <a:p>
            <a:pPr>
              <a:defRPr/>
            </a:pPr>
            <a:r>
              <a:rPr/>
              <a:t>Which stage for which shop?</a:t>
            </a:r>
            <a:endParaRPr/>
          </a:p>
        </p:txBody>
      </p:sp>
      <p:sp>
        <p:nvSpPr>
          <p:cNvPr id="1719359395"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DISCUSSION (THE MOST IMPORTANT ONE)</a:t>
            </a:r>
            <a:endParaRPr/>
          </a:p>
        </p:txBody>
      </p:sp>
      <p:sp>
        <p:nvSpPr>
          <p:cNvPr id="208283917" name="Rectangle 3"/>
          <p:cNvSpPr/>
          <p:nvPr/>
        </p:nvSpPr>
        <p:spPr bwMode="auto">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6109321" name="TextBox 4"/>
          <p:cNvSpPr txBox="1"/>
          <p:nvPr/>
        </p:nvSpPr>
        <p:spPr bwMode="auto">
          <a:xfrm>
            <a:off x="137160"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1 — Procedural is right for</a:t>
            </a:r>
            <a:endParaRPr/>
          </a:p>
        </p:txBody>
      </p:sp>
      <p:sp>
        <p:nvSpPr>
          <p:cNvPr id="1443120474" name="TextBox 5"/>
          <p:cNvSpPr txBox="1"/>
          <p:nvPr/>
        </p:nvSpPr>
        <p:spPr bwMode="auto">
          <a:xfrm>
            <a:off x="45720" y="1783080"/>
            <a:ext cx="3154679" cy="4480560"/>
          </a:xfrm>
          <a:prstGeom prst="rect">
            <a:avLst/>
          </a:prstGeom>
          <a:noFill/>
        </p:spPr>
        <p:txBody>
          <a:bodyPr wrap="square" lIns="0" tIns="0" rIns="0" bIns="0">
            <a:spAutoFit/>
          </a:bodyPr>
          <a:lstStyle/>
          <a:p>
            <a:pPr algn="l">
              <a:lnSpc>
                <a:spcPct val="130000"/>
              </a:lnSpc>
              <a:defRPr/>
            </a:pPr>
            <a:r>
              <a:rPr sz="1400" b="1">
                <a:solidFill>
                  <a:srgbClr val="770000"/>
                </a:solidFill>
                <a:latin typeface="Arial"/>
              </a:rPr>
              <a:t>▸  </a:t>
            </a:r>
            <a:r>
              <a:rPr sz="1400">
                <a:solidFill>
                  <a:srgbClr val="242A33"/>
                </a:solidFill>
                <a:latin typeface="Arial"/>
              </a:rPr>
              <a:t>Single-machine integrators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Panel shops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One-engineer teams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Short-lifespan code</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Ship-and-walk-away contracts</a:t>
            </a:r>
            <a:endParaRPr/>
          </a:p>
        </p:txBody>
      </p:sp>
      <p:sp>
        <p:nvSpPr>
          <p:cNvPr id="2020443495" name="Rectangle 6"/>
          <p:cNvSpPr/>
          <p:nvPr/>
        </p:nvSpPr>
        <p:spPr bwMode="auto">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9443770" name="Rectangle 7"/>
          <p:cNvSpPr/>
          <p:nvPr/>
        </p:nvSpPr>
        <p:spPr bwMode="auto">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2441992" name="TextBox 8"/>
          <p:cNvSpPr txBox="1"/>
          <p:nvPr/>
        </p:nvSpPr>
        <p:spPr bwMode="auto">
          <a:xfrm>
            <a:off x="3502151"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2 — Inheritance is right for</a:t>
            </a:r>
            <a:endParaRPr/>
          </a:p>
        </p:txBody>
      </p:sp>
      <p:sp>
        <p:nvSpPr>
          <p:cNvPr id="908593052" name="TextBox 9"/>
          <p:cNvSpPr txBox="1"/>
          <p:nvPr/>
        </p:nvSpPr>
        <p:spPr bwMode="auto">
          <a:xfrm>
            <a:off x="3410711" y="1783080"/>
            <a:ext cx="3154679" cy="4480560"/>
          </a:xfrm>
          <a:prstGeom prst="rect">
            <a:avLst/>
          </a:prstGeom>
          <a:noFill/>
        </p:spPr>
        <p:txBody>
          <a:bodyPr wrap="square" lIns="0" tIns="0" rIns="0" bIns="0">
            <a:spAutoFit/>
          </a:bodyPr>
          <a:lstStyle/>
          <a:p>
            <a:pPr algn="l">
              <a:lnSpc>
                <a:spcPct val="130000"/>
              </a:lnSpc>
              <a:defRPr/>
            </a:pPr>
            <a:r>
              <a:rPr sz="1400" b="1">
                <a:solidFill>
                  <a:srgbClr val="627186"/>
                </a:solidFill>
                <a:latin typeface="Arial"/>
              </a:rPr>
              <a:t>▸  </a:t>
            </a:r>
            <a:r>
              <a:rPr sz="1400">
                <a:solidFill>
                  <a:srgbClr val="242A33"/>
                </a:solidFill>
                <a:latin typeface="Arial"/>
              </a:rPr>
              <a:t>Homogeneous machine families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Mid-sized teams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Long-lifespan, medium variation</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Teams comfortable with EXTENDS / SUPER</a:t>
            </a:r>
            <a:endParaRPr/>
          </a:p>
        </p:txBody>
      </p:sp>
      <p:sp>
        <p:nvSpPr>
          <p:cNvPr id="1754737" name="Rectangle 10"/>
          <p:cNvSpPr/>
          <p:nvPr/>
        </p:nvSpPr>
        <p:spPr bwMode="auto">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7876705" name="Rectangle 11"/>
          <p:cNvSpPr/>
          <p:nvPr/>
        </p:nvSpPr>
        <p:spPr bwMode="auto">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8836013" name="TextBox 12"/>
          <p:cNvSpPr txBox="1"/>
          <p:nvPr/>
        </p:nvSpPr>
        <p:spPr bwMode="auto">
          <a:xfrm>
            <a:off x="6867144"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3 — Composition is right for</a:t>
            </a:r>
            <a:endParaRPr/>
          </a:p>
        </p:txBody>
      </p:sp>
      <p:sp>
        <p:nvSpPr>
          <p:cNvPr id="509208686" name="TextBox 13"/>
          <p:cNvSpPr txBox="1"/>
          <p:nvPr/>
        </p:nvSpPr>
        <p:spPr bwMode="auto">
          <a:xfrm>
            <a:off x="6775703" y="1783080"/>
            <a:ext cx="3154679" cy="4480560"/>
          </a:xfrm>
          <a:prstGeom prst="rect">
            <a:avLst/>
          </a:prstGeom>
          <a:noFill/>
        </p:spPr>
        <p:txBody>
          <a:bodyPr wrap="square" lIns="0" tIns="0" rIns="0" bIns="0">
            <a:spAutoFit/>
          </a:bodyPr>
          <a:lstStyle/>
          <a:p>
            <a:pPr algn="l">
              <a:lnSpc>
                <a:spcPct val="130000"/>
              </a:lnSpc>
              <a:defRPr/>
            </a:pPr>
            <a:r>
              <a:rPr sz="1400" b="1">
                <a:solidFill>
                  <a:srgbClr val="2D76AD"/>
                </a:solidFill>
                <a:latin typeface="Arial"/>
              </a:rPr>
              <a:t>▸  </a:t>
            </a:r>
            <a:r>
              <a:rPr sz="1400">
                <a:solidFill>
                  <a:srgbClr val="242A33"/>
                </a:solidFill>
                <a:latin typeface="Arial"/>
              </a:rPr>
              <a:t>OEMs building product families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Multi-engineer teams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Multi-customer variation</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Long-lifespan codebases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Shops moving toward CI / TDD for PLC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8141752"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a:solidFill>
                  <a:srgbClr val="242A33"/>
                </a:solidFill>
                <a:latin typeface="Arial"/>
              </a:rPr>
              <a:t>You'll go back. Someone will say "this is overkill" or "just give me the procedural version."</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Pick three pushbacks. Roleplay.</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The answer isn't "composition is always right."</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Discipline is bounded; architecture is unbounded.</a:t>
            </a:r>
            <a:endParaRPr/>
          </a:p>
        </p:txBody>
      </p:sp>
      <p:sp>
        <p:nvSpPr>
          <p:cNvPr id="1250101915" name="Title 2"/>
          <p:cNvSpPr>
            <a:spLocks noGrp="1"/>
          </p:cNvSpPr>
          <p:nvPr>
            <p:ph type="title"/>
          </p:nvPr>
        </p:nvSpPr>
        <p:spPr bwMode="auto"/>
        <p:txBody>
          <a:bodyPr/>
          <a:lstStyle/>
          <a:p>
            <a:pPr>
              <a:defRPr/>
            </a:pPr>
            <a:r>
              <a:rPr/>
              <a:t>Customer-conversation rehearsal</a:t>
            </a:r>
            <a:endParaRPr/>
          </a:p>
        </p:txBody>
      </p:sp>
      <p:sp>
        <p:nvSpPr>
          <p:cNvPr id="99821116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4B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40932695"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Send me one specific machine this material applies to.</a:t>
            </a:r>
            <a:endParaRPr/>
          </a:p>
        </p:txBody>
      </p:sp>
      <p:sp>
        <p:nvSpPr>
          <p:cNvPr id="893134567" name="Title 2"/>
          <p:cNvSpPr>
            <a:spLocks noGrp="1"/>
          </p:cNvSpPr>
          <p:nvPr>
            <p:ph type="title"/>
          </p:nvPr>
        </p:nvSpPr>
        <p:spPr bwMode="auto"/>
        <p:txBody>
          <a:bodyPr/>
          <a:lstStyle/>
          <a:p>
            <a:pPr>
              <a:defRPr/>
            </a:pPr>
            <a:r>
              <a:rPr/>
              <a:t>Continuation kit</a:t>
            </a:r>
            <a:endParaRPr/>
          </a:p>
        </p:txBody>
      </p:sp>
      <p:sp>
        <p:nvSpPr>
          <p:cNvPr id="93512624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27524870"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Generic advice fades. Specific advice sticks.</a:t>
            </a:r>
            <a:endParaRPr/>
          </a:p>
        </p:txBody>
      </p:sp>
      <p:sp>
        <p:nvSpPr>
          <p:cNvPr id="972344354" name="Title 2"/>
          <p:cNvSpPr>
            <a:spLocks noGrp="1"/>
          </p:cNvSpPr>
          <p:nvPr>
            <p:ph type="title"/>
          </p:nvPr>
        </p:nvSpPr>
        <p:spPr bwMode="auto"/>
        <p:txBody>
          <a:bodyPr/>
          <a:lstStyle/>
          <a:p>
            <a:pPr>
              <a:defRPr/>
            </a:pPr>
            <a:r>
              <a:rPr/>
              <a:t>Personal recommendations — what makes it stick</a:t>
            </a:r>
            <a:endParaRPr/>
          </a:p>
        </p:txBody>
      </p:sp>
      <p:sp>
        <p:nvSpPr>
          <p:cNvPr id="103221545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CONTINUATION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0620604" name="Title 1"/>
          <p:cNvSpPr>
            <a:spLocks noGrp="1"/>
          </p:cNvSpPr>
          <p:nvPr>
            <p:ph type="title"/>
          </p:nvPr>
        </p:nvSpPr>
        <p:spPr bwMode="auto"/>
        <p:txBody>
          <a:bodyPr/>
          <a:lstStyle/>
          <a:p>
            <a:pPr>
              <a:defRPr/>
            </a:pPr>
            <a:r>
              <a:rPr/>
              <a:t>Wrap</a:t>
            </a:r>
            <a:endParaRPr/>
          </a:p>
        </p:txBody>
      </p:sp>
      <p:sp>
        <p:nvSpPr>
          <p:cNvPr id="1769734898"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3290181"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300" b="1" i="0">
                <a:solidFill>
                  <a:srgbClr val="000000"/>
                </a:solidFill>
                <a:latin typeface="Arial"/>
              </a:rPr>
              <a:t>FROM PROCEDURAL TO SOLID  ·  CLOSING</a:t>
            </a:r>
            <a:endParaRPr/>
          </a:p>
        </p:txBody>
      </p:sp>
      <p:sp>
        <p:nvSpPr>
          <p:cNvPr id="374028735" name="TextBox 4"/>
          <p:cNvSpPr txBox="1"/>
          <p:nvPr/>
        </p:nvSpPr>
        <p:spPr bwMode="auto">
          <a:xfrm>
            <a:off x="0" y="1920240"/>
            <a:ext cx="10012680" cy="1280160"/>
          </a:xfrm>
          <a:prstGeom prst="rect">
            <a:avLst/>
          </a:prstGeom>
          <a:noFill/>
        </p:spPr>
        <p:txBody>
          <a:bodyPr wrap="square" lIns="0" tIns="0" rIns="0" bIns="0" anchor="t">
            <a:spAutoFit/>
          </a:bodyPr>
          <a:lstStyle/>
          <a:p>
            <a:pPr algn="l">
              <a:lnSpc>
                <a:spcPct val="100000"/>
              </a:lnSpc>
              <a:defRPr/>
            </a:pPr>
            <a:r>
              <a:rPr sz="4400" b="1" i="0">
                <a:solidFill>
                  <a:srgbClr val="FFFFFF"/>
                </a:solidFill>
                <a:latin typeface="Arial"/>
              </a:rPr>
              <a:t>Become practitioners, then teachers</a:t>
            </a:r>
            <a:endParaRPr/>
          </a:p>
        </p:txBody>
      </p:sp>
      <p:sp>
        <p:nvSpPr>
          <p:cNvPr id="1429126157" name="TextBox 5"/>
          <p:cNvSpPr txBox="1"/>
          <p:nvPr/>
        </p:nvSpPr>
        <p:spPr bwMode="auto">
          <a:xfrm>
            <a:off x="0" y="2769503"/>
            <a:ext cx="10012680" cy="2468880"/>
          </a:xfrm>
          <a:prstGeom prst="rect">
            <a:avLst/>
          </a:prstGeom>
          <a:noFill/>
        </p:spPr>
        <p:txBody>
          <a:bodyPr wrap="square" lIns="0" tIns="0" rIns="0" bIns="0" anchor="t">
            <a:spAutoFit/>
          </a:bodyPr>
          <a:lstStyle/>
          <a:p>
            <a:pPr algn="l">
              <a:lnSpc>
                <a:spcPct val="140000"/>
              </a:lnSpc>
              <a:defRPr/>
            </a:pPr>
            <a:r>
              <a:rPr sz="1800" b="0" i="1">
                <a:solidFill>
                  <a:srgbClr val="E5E8EC"/>
                </a:solidFill>
                <a:latin typeface="Arial"/>
              </a:rPr>
              <a:t>The practitioner part comes from doing the workshop. You did that today.</a:t>
            </a:r>
            <a:endParaRPr/>
          </a:p>
          <a:p>
            <a:pPr algn="l">
              <a:lnSpc>
                <a:spcPct val="140000"/>
              </a:lnSpc>
              <a:defRPr/>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endParaRPr/>
          </a:p>
        </p:txBody>
      </p:sp>
      <p:sp>
        <p:nvSpPr>
          <p:cNvPr id="1911550173" name="TextBox 6"/>
          <p:cNvSpPr txBox="1"/>
          <p:nvPr/>
        </p:nvSpPr>
        <p:spPr bwMode="auto">
          <a:xfrm>
            <a:off x="0" y="6035039"/>
            <a:ext cx="10012680" cy="365760"/>
          </a:xfrm>
          <a:prstGeom prst="rect">
            <a:avLst/>
          </a:prstGeom>
          <a:noFill/>
        </p:spPr>
        <p:txBody>
          <a:bodyPr wrap="square" lIns="0" tIns="0" rIns="0" bIns="0" anchor="t">
            <a:spAutoFit/>
          </a:bodyPr>
          <a:lstStyle/>
          <a:p>
            <a:pPr algn="l">
              <a:lnSpc>
                <a:spcPct val="114999"/>
              </a:lnSpc>
              <a:defRPr/>
            </a:pPr>
            <a:r>
              <a:rPr sz="1200" b="0" i="0">
                <a:solidFill>
                  <a:srgbClr val="B3BCC8"/>
                </a:solidFill>
                <a:latin typeface="Arial"/>
              </a:rPr>
              <a:t>github.com/Mark-Code-Cowboys/NEM_Workshop  ·  ./serve-docs.sh  ·  Questions welcome.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4605336" name="Title 2"/>
          <p:cNvSpPr>
            <a:spLocks noGrp="1"/>
          </p:cNvSpPr>
          <p:nvPr>
            <p:ph type="title"/>
          </p:nvPr>
        </p:nvSpPr>
        <p:spPr bwMode="auto"/>
        <p:txBody>
          <a:bodyPr/>
          <a:lstStyle/>
          <a:p>
            <a:pPr>
              <a:defRPr/>
            </a:pPr>
            <a:r>
              <a:rPr/>
              <a:t>Backup</a:t>
            </a:r>
            <a:endParaRPr/>
          </a:p>
        </p:txBody>
      </p:sp>
      <p:sp>
        <p:nvSpPr>
          <p:cNvPr id="1388709113"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207823"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Facilitator reference (skip in live presentation)</a:t>
            </a:r>
            <a:endParaRPr/>
          </a:p>
        </p:txBody>
      </p:sp>
      <p:sp>
        <p:nvSpPr>
          <p:cNvPr id="42353933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reference  ·  not for projection</a:t>
            </a:r>
            <a:endParaRPr/>
          </a:p>
        </p:txBody>
      </p:sp>
      <p:sp>
        <p:nvSpPr>
          <p:cNvPr id="18262572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Pacing levers. PlcTestSuite demo script. Materials. Shorter versions.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0053147" name="Title 1"/>
          <p:cNvSpPr>
            <a:spLocks noGrp="1"/>
          </p:cNvSpPr>
          <p:nvPr>
            <p:ph type="title"/>
          </p:nvPr>
        </p:nvSpPr>
        <p:spPr bwMode="auto"/>
        <p:txBody>
          <a:bodyPr/>
          <a:lstStyle/>
          <a:p>
            <a:pPr>
              <a:defRPr/>
            </a:pPr>
            <a:r>
              <a:rPr/>
              <a:t>Pacing levers — what to cut, what to add</a:t>
            </a:r>
            <a:endParaRPr/>
          </a:p>
        </p:txBody>
      </p:sp>
      <p:sp>
        <p:nvSpPr>
          <p:cNvPr id="143780893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
        <p:nvSpPr>
          <p:cNvPr id="1779515032"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40042633"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EF0000"/>
                </a:solidFill>
                <a:latin typeface="Arial"/>
              </a:rPr>
              <a:t>IF YOU'RE 15+ MIN BEHIND</a:t>
            </a:r>
            <a:endParaRPr/>
          </a:p>
        </p:txBody>
      </p:sp>
      <p:sp>
        <p:nvSpPr>
          <p:cNvPr id="105350175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endParaRPr/>
          </a:p>
        </p:txBody>
      </p:sp>
      <p:sp>
        <p:nvSpPr>
          <p:cNvPr id="2101038866"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IF YOU'RE AHEAD</a:t>
            </a:r>
            <a:endParaRPr/>
          </a:p>
        </p:txBody>
      </p:sp>
      <p:sp>
        <p:nvSpPr>
          <p:cNvPr id="610316722"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4564413" name="Text Placeholder 1"/>
          <p:cNvSpPr>
            <a:spLocks noGrp="1"/>
          </p:cNvSpPr>
          <p:nvPr>
            <p:ph type="body" sz="quarter" idx="15"/>
          </p:nvPr>
        </p:nvSpPr>
        <p:spPr bwMode="auto"/>
        <p:txBody>
          <a:bodyPr wrap="square"/>
          <a:lstStyle/>
          <a:p>
            <a:pPr algn="l">
              <a:lnSpc>
                <a:spcPct val="130000"/>
              </a:lnSpc>
              <a:defRPr/>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endParaRPr/>
          </a:p>
        </p:txBody>
      </p:sp>
      <p:sp>
        <p:nvSpPr>
          <p:cNvPr id="186437808" name="Title 2"/>
          <p:cNvSpPr>
            <a:spLocks noGrp="1"/>
          </p:cNvSpPr>
          <p:nvPr>
            <p:ph type="title"/>
          </p:nvPr>
        </p:nvSpPr>
        <p:spPr bwMode="auto"/>
        <p:txBody>
          <a:bodyPr/>
          <a:lstStyle/>
          <a:p>
            <a:pPr>
              <a:defRPr/>
            </a:pPr>
            <a:r>
              <a:rPr/>
              <a:t>Bonus — PlcTestSuite demo (only if class finishes early)</a:t>
            </a:r>
            <a:endParaRPr/>
          </a:p>
        </p:txBody>
      </p:sp>
      <p:sp>
        <p:nvSpPr>
          <p:cNvPr id="165542085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BONUS CONTENT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1315912" name="Title 1"/>
          <p:cNvSpPr>
            <a:spLocks noGrp="1"/>
          </p:cNvSpPr>
          <p:nvPr>
            <p:ph type="title"/>
          </p:nvPr>
        </p:nvSpPr>
        <p:spPr bwMode="auto"/>
        <p:txBody>
          <a:bodyPr/>
          <a:lstStyle/>
          <a:p>
            <a:pPr>
              <a:defRPr/>
            </a:pPr>
            <a:r>
              <a:rPr/>
              <a:t>Materials checklist</a:t>
            </a:r>
            <a:endParaRPr/>
          </a:p>
        </p:txBody>
      </p:sp>
      <p:sp>
        <p:nvSpPr>
          <p:cNvPr id="162766179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CHECKLIST</a:t>
            </a:r>
            <a:endParaRPr/>
          </a:p>
        </p:txBody>
      </p:sp>
      <p:sp>
        <p:nvSpPr>
          <p:cNvPr id="1899505251"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866477"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DAY-OF</a:t>
            </a:r>
            <a:endParaRPr/>
          </a:p>
        </p:txBody>
      </p:sp>
      <p:sp>
        <p:nvSpPr>
          <p:cNvPr id="15008184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Repo cloned, all branches fetched.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TwinCAT XAE 3.1.4026+, two instances open.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Browser with the scoreboard bookmarked.</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Whiteboard or large sticky notes for the physical scoreboard.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Timer for the timed exercises.</a:t>
            </a:r>
            <a:endParaRPr/>
          </a:p>
        </p:txBody>
      </p:sp>
      <p:sp>
        <p:nvSpPr>
          <p:cNvPr id="560553017"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DAY-AFTER</a:t>
            </a:r>
            <a:endParaRPr/>
          </a:p>
        </p:txBody>
      </p:sp>
      <p:sp>
        <p:nvSpPr>
          <p:cNvPr id="186581569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Send each attendee a personal recommendation.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Send the repo URL and scoreboard compare links.</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Solicit feedback in the workshop's chat / channel.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7210186"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endParaRPr/>
          </a:p>
        </p:txBody>
      </p:sp>
      <p:sp>
        <p:nvSpPr>
          <p:cNvPr id="2134141392" name="Title 2"/>
          <p:cNvSpPr>
            <a:spLocks noGrp="1"/>
          </p:cNvSpPr>
          <p:nvPr>
            <p:ph type="title"/>
          </p:nvPr>
        </p:nvSpPr>
        <p:spPr bwMode="auto"/>
        <p:txBody>
          <a:bodyPr/>
          <a:lstStyle/>
          <a:p>
            <a:pPr>
              <a:defRPr/>
            </a:pPr>
            <a:r>
              <a:rPr/>
              <a:t>Shorter versions — when 4 hours isn't on the table</a:t>
            </a:r>
            <a:endParaRPr/>
          </a:p>
        </p:txBody>
      </p:sp>
      <p:sp>
        <p:nvSpPr>
          <p:cNvPr id="157179147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"We don't use SPT — we already have our own base classes."</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fine. We're teaching a methodology, not a library. Stage 2 uses SPT — Beckhoff USA's public Community library, a useful starting point if you want one. Stage 3 sits on Core / CoreComponents, which are internal Beckhoff USA libraries today (the foundation SPT itself builds on). Your in-house base classes apply the same patterns: base + virtual hooks for Stage 2 ergonomics; interfaces + DI for Stage 3.</a:t>
            </a:r>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"How does this play with PackML / OMAC / ISA-88?"</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PackML and OMAC are the same idea at machine scale — a shared base contract for states (Idle / Running / Suspended / Aborted). The Stage 2 base-class approach IS a small PackML; Tc3_PackML_V3 is the full version. Stage 3's interfaces complement it — your PackML lifecycle becomes one component among many that your stations compose.</a:t>
            </a:r>
            <a:endParaRPr/>
          </a:p>
        </p:txBody>
      </p:sp>
    </p:spTree>
  </p:cSld>
  <p:clrMapOvr>
    <a:masterClrMapping/>
  </p:clrMapOvr>
</p:sld>
</file>

<file path=ppt/theme/theme1.xml><?xml version="1.0" encoding="utf-8"?>
<a:theme xmlns:a="http://schemas.openxmlformats.org/drawingml/2006/main" xmlns:r="http://schemas.openxmlformats.org/officeDocument/2006/relationships" xmlns:p="http://schemas.openxmlformats.org/presentation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 ds:uri="http://www.w3.org/2001/XMLSchema-instance"/>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0</Words>
  <Application>ONLYOFFICE/9.3.1.8</Application>
  <PresentationFormat>On-screen Show (4:3)</PresentationFormat>
  <Paragraphs>0</Paragraphs>
  <Slides>82</Slides>
  <Notes>82</Notes>
  <HiddenSlides>0</HiddenSlides>
  <MMClips>2</MMClips>
  <ScaleCrop>0</ScaleCrop>
  <HeadingPairs>
    <vt:vector size="4" baseType="variant">
      <vt:variant>
        <vt:lpstr>Theme</vt:lpstr>
      </vt:variant>
      <vt:variant>
        <vt:i4>2</vt:i4>
      </vt:variant>
      <vt:variant>
        <vt:lpstr>Slide Titles</vt:lpstr>
      </vt:variant>
      <vt:variant>
        <vt:i4>82</vt:i4>
      </vt:variant>
    </vt:vector>
  </HeadingPairs>
  <TitlesOfParts>
    <vt:vector size="84" baseType="lpstr">
      <vt:lpstr>Theme 1</vt:lpstr>
      <vt:lpstr>Theme 2</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
  <cp:revision>51</cp:revision>
  <dcterms:created xsi:type="dcterms:W3CDTF">2023-02-27T12:44:26Z</dcterms:created>
  <dcterms:modified xsi:type="dcterms:W3CDTF">2026-05-22T17:48:23Z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