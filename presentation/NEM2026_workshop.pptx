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26"/>
  </p:notesMasterIdLst>
  <p:handoutMasterIdLst>
    <p:handoutMasterId r:id="rId27"/>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12"/>
    <p:sldId id="270" r:id="rId11"/>
    <p:sldId id="271" r:id="rId10"/>
    <p:sldId id="272" r:id="rId9"/>
    <p:sldId id="273" r:id="rId8"/>
    <p:sldId id="274" r:id="rId7"/>
    <p:sldId id="275" r:id="rId6"/>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 id="322" r:id="rId79"/>
    <p:sldId id="323" r:id="rId80"/>
  </p:sldIdLst>
  <p:sldSz cx="12192000" cy="6858000"/>
  <p:notesSz cx="6797675" cy="9926638"/>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6765" autoAdjust="0"/>
  </p:normalViewPr>
  <p:slideViewPr>
    <p:cSldViewPr snapToObjects="1" showGuides="1">
      <p:cViewPr varScale="1">
        <p:scale>
          <a:sx n="107" d="100"/>
          <a:sy n="107" d="100"/>
        </p:scale>
        <p:origin x="10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20.xml"/><Relationship Id="rId7" Type="http://schemas.openxmlformats.org/officeDocument/2006/relationships/slide" Target="slides/slide19.xml"/><Relationship Id="rId8" Type="http://schemas.openxmlformats.org/officeDocument/2006/relationships/slide" Target="slides/slide18.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15.xml"/><Relationship Id="rId12" Type="http://schemas.openxmlformats.org/officeDocument/2006/relationships/slide" Target="slides/slide14.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12.05.2026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12.05.2026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Welcome them into the room. This title slide is on while attendees settle. Don't speak to it; the next slide is the real opener.</a:t>
            </a:r>
          </a:p>
          <a:p>
            <a:r>
              <a:rPr sz="1200">
                <a:latin typeface="Arial"/>
              </a:rPr>
              <a:t>When ready: confirm everyone has the repo cloned and a working XAE. Hands up. Anyone who can't build, surface that NOW — there's a 5-min Block 0 budget for env triage.</a:t>
            </a:r>
          </a:p>
          <a:p>
            <a:r>
              <a:rPr sz="1200">
                <a:latin typeface="Arial"/>
              </a:rPr>
              <a:t>Frame in 30 seconds: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this slide aloud, slowly. The framing controls the whole day.</a:t>
            </a:r>
          </a:p>
          <a:p>
            <a:r>
              <a:rPr sz="1200">
                <a:latin typeface="Arial"/>
              </a:rPr>
              <a:t>Key phrase: "the diffs tell the story." We are not lecturing about SOLID. We are running a controlled experiment — same inputs, three different blast radii.</a:t>
            </a:r>
          </a:p>
          <a:p>
            <a:r>
              <a:rPr sz="1200">
                <a:latin typeface="Arial"/>
              </a:rPr>
              <a:t>Discussion-first is non-negotiable. If they sit silent, the workshop fails. Coax discussion early so the precedent is set.</a:t>
            </a:r>
          </a:p>
          <a:p>
            <a:r>
              <a:rPr sz="1200">
                <a:latin typeface="Arial"/>
              </a:rPr>
              <a:t>Don't dive into the branch tree yet — that's the next slide.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Walk this in 60 seconds. Don't dwell. The point is to set expectations: "We'll be done by hour 4. Breaks are real. Stretch zones are where I'm planning to spend overflow."</a:t>
            </a:r>
          </a:p>
          <a:p>
            <a:r>
              <a:rPr sz="1200">
                <a:latin typeface="Arial"/>
              </a:rPr>
              <a:t>If anyone asks "what about the testing demo?" — answer: "Bonus content if we finish ahead. Don't count on it."</a:t>
            </a:r>
          </a:p>
          <a:p>
            <a:r>
              <a:rPr sz="1200">
                <a:latin typeface="Arial"/>
              </a:rPr>
              <a:t>Total budget on paper is 4:30 — plan to land in 4:00.</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Ask the question. Wait for hands. You should see most of the room.</a:t>
            </a:r>
          </a:p>
          <a:p>
            <a:r>
              <a:rPr sz="1200">
                <a:latin typeface="Arial"/>
              </a:rPr>
              <a:t>Follow-up that lands the framing: "Then this workshop is calibrated for you. The pain we're going to surface is pain you've already felt — but you've probably never named it. Today we name it, score it, and rehearse what to say when a customer pushes back."</a:t>
            </a:r>
          </a:p>
          <a:p>
            <a:r>
              <a:rPr sz="1200">
                <a:latin typeface="Arial"/>
              </a:rPr>
              <a:t>Set expectations one more time: "We move at FAE pace. But I want lots of discussion. If something feels wrong or you've seen it work differently, say so."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Section break. Take a breath. Switch to `stage-1-procedural` on your presenter machine before clicking past this slide.</a:t>
            </a:r>
          </a:p>
          <a:p>
            <a:r>
              <a:rPr sz="1200">
                <a:latin typeface="Arial"/>
              </a:rPr>
              <a:t>Open all four station FBs side by side: FB_StationFill, FB_StationCap, FB_StationLabel, FB_StationInspect. The visual side-by-side is the lesson.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read this aloud. Summarize: "This is the architecture you've been writing for 20 years. Nothing wrong with it. We're going to feel where it stops scaling."</a:t>
            </a:r>
          </a:p>
          <a:p>
            <a:r>
              <a:rPr sz="1200">
                <a:latin typeface="Arial"/>
              </a:rPr>
              <a:t>Skip the academic origin material if the room is engaged. Spend more time on the "what it's bad at" line — that's the segue into the drift demo.</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Pull up Fill and Cap side by side. Walk the five sections in order. Pause on section 4 — point out that it's the only meaningfully different section. The other four are duplication waiting to happen.</a:t>
            </a:r>
          </a:p>
          <a:p>
            <a:r>
              <a:rPr sz="1200">
                <a:latin typeface="Arial"/>
              </a:rPr>
              <a:t>This is the foundation for the next three slides on drift. Don't editorialize yet — they'll see it themselves on the next click.</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the drifts one at a time. The next three slides have the code excerpts.</a:t>
            </a:r>
          </a:p>
          <a:p>
            <a:r>
              <a:rPr sz="1200">
                <a:latin typeface="Arial"/>
              </a:rPr>
              <a:t>Don't editorialize on the drift yet. Just show them. The discussion comes after CR-1 when attendees discover they've inherited the drift by copy-paste.</a:t>
            </a:r>
          </a:p>
          <a:p>
            <a:r>
              <a:rPr sz="1200">
                <a:latin typeface="Arial"/>
              </a:rPr>
              <a:t>If anyone in the room laughs or groans during the drift reveal — that's the workshop working. Note who it was; ask them later if they have a specific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most insidious of the three drifts because both implementations look reasonable in isolation. Side-by-side they're a maintenance trap.</a:t>
            </a:r>
          </a:p>
          <a:p>
            <a:r>
              <a:rPr sz="1200">
                <a:latin typeface="Arial"/>
              </a:rPr>
              <a:t>The pedagogical point: nobody wrote buggy code. Both stations work. The system itself failed to enforce consistency — there's no way for the procedural architecture to say "all stations ack the same way."</a:t>
            </a:r>
          </a:p>
          <a:p>
            <a:r>
              <a:rPr sz="1200">
                <a:latin typeface="Arial"/>
              </a:rPr>
              <a:t>This is the drift that catches people on CR-1. They copy the Pause guard from Fill (R_TRIG style) into Label (level style) and the inconsistency compounds.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easiest drift to laugh about. Someone clearly copied Label from a different project where 100/200/300 was the convention, and never normalized it.</a:t>
            </a:r>
          </a:p>
          <a:p>
            <a:r>
              <a:rPr sz="1200">
                <a:latin typeface="Arial"/>
              </a:rPr>
              <a:t>The lesson: the architecture has no opinion on naming. Conventions are tribal — they live in your head, not the compiler. Stage 2's base class will normalize this for free; you'll see it in Block 2.</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smallest drift, but the one that makes the point cleanest: in procedural code, dead state lingers because removing it requires reading every reference everywhere. Nobody owns the cleanup.</a:t>
            </a:r>
          </a:p>
          <a:p>
            <a:r>
              <a:rPr sz="1200">
                <a:latin typeface="Arial"/>
              </a:rPr>
              <a:t>In Stage 2 the base class won't carry ManualStep, so it can't propagate. In Stage 3 the FB has explicit dependencies; an unused field is loud.</a:t>
            </a:r>
          </a:p>
          <a:p>
            <a:r>
              <a:rPr sz="1200">
                <a:latin typeface="Arial"/>
              </a:rPr>
              <a:t>Don't dwell — just show it and move 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Run this as a three-step audience hands-up:</a:t>
            </a:r>
          </a:p>
          <a:p>
            <a:r>
              <a:rPr sz="1200">
                <a:latin typeface="Arial"/>
              </a:rPr>
              <a:t>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Then close: "Good. Hold on to that feeling. We're about to make it worse with CR-1."</a:t>
            </a:r>
          </a:p>
          <a:p>
            <a:r>
              <a:rPr sz="1200">
                <a:latin typeface="Arial"/>
              </a:rPr>
              <a:t>The first reveal in the workshop is coming. Don't rush past this slide — earn the audience commitment before starting the timer.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first of ~10 pre-emptive pushback slides. The format is the same throughout: the customer's actual objection on top, the rehearsed FAE answer below.</a:t>
            </a:r>
          </a:p>
          <a:p>
            <a:r>
              <a:rPr sz="1200">
                <a:latin typeface="Arial"/>
              </a:rPr>
              <a:t>Run this slide ONCE explicitly. After that, attendees know the format. Later pushback slides can be flashed quickly unless the room wants to dwell.</a:t>
            </a:r>
          </a:p>
          <a:p>
            <a:r>
              <a:rPr sz="1200">
                <a:latin typeface="Arial"/>
              </a:rPr>
              <a:t>Why this one matters: it's the most common objection FAEs get from senior controls engineers. The rehearsed answer respects the customer ("you're right") before pivoting to the cost ("what happens when…"). That sequence is the customer-conversation pattern; flag it as a template.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CR-1 aloud verbatim. The "Fill exception" line is the trap — most attendees will miss it on first read and write a uniform Pause guard, then realize Fill needs special handling.</a:t>
            </a:r>
          </a:p>
          <a:p>
            <a:r>
              <a:rPr sz="1200">
                <a:latin typeface="Arial"/>
              </a:rPr>
              <a:t>Switch the presenter machine to `stage-1-broken`. Show the compile error in MAIN. "30 seconds to read the broken state, then 15 minutes to fix it."</a:t>
            </a:r>
          </a:p>
          <a:p>
            <a:r>
              <a:rPr sz="1200">
                <a:latin typeface="Arial"/>
              </a:rPr>
              <a:t>Set the timer. Walk the room. Don't help. Wait until people are ~10 minutes in before you interrupt for the reveal.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workshop's first reveal. Pace it.</a:t>
            </a:r>
          </a:p>
          <a:p>
            <a:r>
              <a:rPr sz="1200">
                <a:latin typeface="Arial"/>
              </a:rPr>
              <a:t>After ~10 minutes (when most attendees are mid-fix), interrupt and run the two questions in sequence. Mixed hands on the first; the room goes quiet on the second because some attendees realize they copied from a station with one ack style and pasted into one with the other.</a:t>
            </a:r>
          </a:p>
          <a:p>
            <a:r>
              <a:rPr sz="1200">
                <a:latin typeface="Arial"/>
              </a:rPr>
              <a:t>Then deliver the lesson exactly as written below the quote: drift you didn't know was there, system failed to enforce consistency, you weren't being sloppy — the architecture didn't help.</a:t>
            </a:r>
          </a:p>
          <a:p>
            <a:r>
              <a:rPr sz="1200">
                <a:latin typeface="Arial"/>
              </a:rPr>
              <a:t>Let the silence sit for 5 seconds before moving on. The realization is the lesson; don't trample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After attendees finish (or you call time), `git switch stage-1-cr1-applied` and `git diff stage-1-procedural --stat` on screen.</a:t>
            </a:r>
          </a:p>
          <a:p>
            <a:r>
              <a:rPr sz="1200">
                <a:latin typeface="Arial"/>
              </a:rPr>
              <a:t>The 5 files / +50 / −13 number is what goes on the physical scoreboard whiteboard. Walk the audience to it: "this is what your codebase looks like after one CR."</a:t>
            </a:r>
          </a:p>
          <a:p>
            <a:r>
              <a:rPr sz="1200">
                <a:latin typeface="Arial"/>
              </a:rPr>
              <a:t>Discussion prompt: "Show of hands — who got Fill's mid-cycle exception right on the first try?" Most won't.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"we have process" objection. Acknowledge that process catches some drift — then sharpen the point: process catches the drift you notice. Architecture catches the drift you don't.</a:t>
            </a:r>
          </a:p>
          <a:p>
            <a:r>
              <a:rPr sz="1200">
                <a:latin typeface="Arial"/>
              </a:rPr>
              <a:t>Pair this with the framing: "Discipline is bounded; architecture is unbounded." (You'll use that line again in Block 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CR-2 aloud. Emphasize "two axes of variation at once" — this is the trickiest CR and most attendees will underestimate it.</a:t>
            </a:r>
          </a:p>
          <a:p>
            <a:r>
              <a:rPr sz="1200">
                <a:latin typeface="Arial"/>
              </a:rPr>
              <a:t>Set the timer. Walk the room. The attempt to watch for: rewriting Inspect's CASE machine entirely, including QualityFlag/QualityCode/QualityText outputs and a CameraDone/RejectDone parallel coordination inside step 10.</a:t>
            </a:r>
          </a:p>
          <a:p>
            <a:r>
              <a:rPr sz="1200">
                <a:latin typeface="Arial"/>
              </a:rPr>
              <a:t>When the room is wrapped: stretch the discussion. "How many of you ended up with a 60+ line rewrite of one CASE machine?" (Most.) "Now: think about the next station that needs parallel branches. How much of what you just wrote can the next person reuse?" (Almost none — the parallel coordination is buried in Inspect's CASE.)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the diff. Land the lesson on slide: this isn't just duplication of the base — it's duplication of new patterns each time they appear. Stage 2 will help with this. Stage 3 will help even more.</a:t>
            </a:r>
          </a:p>
          <a:p>
            <a:r>
              <a:rPr sz="1200">
                <a:latin typeface="Arial"/>
              </a:rPr>
              <a:t>The pre-emptive pushback to rehearse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Easier CR. Read it, set the timer, let them go. Most attendees finish in 7-8 minutes.</a:t>
            </a:r>
          </a:p>
          <a:p>
            <a:r>
              <a:rPr sz="1200">
                <a:latin typeface="Arial"/>
              </a:rPr>
              <a:t>The pedagogical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Discussion prompt: "That looked small. Anyone want to defend it as 'fine'?" Some attendees will defend it. Let them — then sharpen.</a:t>
            </a:r>
          </a:p>
          <a:p>
            <a:r>
              <a:rPr sz="1200">
                <a:latin typeface="Arial"/>
              </a:rPr>
              <a:t>"Now imagine the logging requirements change in six months — say we want to write to a file instead of an in-memory buffer. Where do you change the code?" (Two places.) "And if you forget one of them?" (Drift.)</a:t>
            </a:r>
          </a:p>
          <a:p>
            <a:r>
              <a:rPr sz="1200">
                <a:latin typeface="Arial"/>
              </a:rPr>
              <a:t>Pre-emptive pushback if it comes up: "It's literally 13 lines. Stop making it a big deal." → "It's 13 lines today. The cost isn't the lines; it's the duplication. Every future change to that logic happens twice. We'll show you the same feature in Stage 3 — same lines, but only one place to change."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Switch presenter to stage-1-complete. Show the diff stat live.</a:t>
            </a:r>
          </a:p>
          <a:p>
            <a:r>
              <a:rPr sz="1200">
                <a:latin typeface="Arial"/>
              </a:rPr>
              <a:t>The "Stage 1 isn't broken — so why are we moving on?" question is the bridge to Block 2. Take audience answers. The right ones surface naturally — capture them on the whiteboard if you have one.</a:t>
            </a:r>
          </a:p>
          <a:p>
            <a:r>
              <a:rPr sz="1200">
                <a:latin typeface="Arial"/>
              </a:rPr>
              <a:t>Pacing lever: if you're behind, cut CR-3 hands-on (smallest CR, easiest to walk through declaratively). If you're ahead, extend the CR-1 reveal into a longer drift discussion.</a:t>
            </a:r>
          </a:p>
          <a:p>
            <a:r>
              <a:rPr sz="1200">
                <a:latin typeface="Arial"/>
              </a:rPr>
              <a:t>Set up the next break: "10 minutes. Coffee, bathroom. Block 2 is denser — come back fresh."</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Real break. Don't compress to 5 minutes — you'll pay for it in Block 2's CR-2 attention crash.</a:t>
            </a:r>
          </a:p>
          <a:p>
            <a:r>
              <a:rPr sz="1200">
                <a:latin typeface="Arial"/>
              </a:rPr>
              <a:t>While they're out: pull `stage-2-inheritance` on the presenter machine. Open FB_StationBase and FB_StationFill in side-by-side tabs.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Section break. While reading, switch presenter to `stage-2-inheritance`. Open FB_StationBase first, then FB_StationFill alongside.</a:t>
            </a:r>
          </a:p>
          <a:p>
            <a:r>
              <a:rPr sz="1200">
                <a:latin typeface="Arial"/>
              </a:rPr>
              <a:t>Block 2 is the trickiest to facilitate. Inheritance has real wins; don't dismiss them. But the audience has to feel where it stops working, not just be told. Pace the CR-2 reveal carefully — that's the workshop's hardest moment.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this. Read the bullets, gesture at the FB_StationBase tab, and move on.</a:t>
            </a:r>
          </a:p>
          <a:p>
            <a:r>
              <a:rPr sz="1200">
                <a:latin typeface="Arial"/>
              </a:rPr>
              <a:t>The line that matters: "the common path becomes a constraint when any child needs to opt out." That's the seed of the CR-2 lesson — plant it now, water it later.</a:t>
            </a:r>
          </a:p>
          <a:p>
            <a:r>
              <a:rPr sz="1200">
                <a:latin typeface="Arial"/>
              </a:rPr>
              <a:t>If anyone asks "why FB_init?" — short answer: it's TwinCAT's constructor, runs once at instantiation, takes parameters that never change. Use it for injecting names, sizes, references that the FB will hold for its lifetime.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FB_StationFill. Walk the audience through the shrinkage. Then open FB_StationBase and show where each section moved.</a:t>
            </a:r>
          </a:p>
          <a:p>
            <a:r>
              <a:rPr sz="1200">
                <a:latin typeface="Arial"/>
              </a:rPr>
              <a:t>The "drift fixed" notes are the headline win for Stage 2. Walk through each fix slowly — earn the win before you puncture it.</a:t>
            </a:r>
          </a:p>
          <a:p>
            <a:r>
              <a:rPr sz="1200">
                <a:latin typeface="Arial"/>
              </a:rPr>
              <a:t>Then ask: "What did this refactor cost?" Take answers. Likely first answers: nothing visible, lower line count, etc. 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"TwinCAT inheritance has a learning cost" slide. Walk all four constructs.</a:t>
            </a:r>
          </a:p>
          <a:p>
            <a:r>
              <a:rPr sz="1200">
                <a:latin typeface="Arial"/>
              </a:rPr>
              <a:t>For the FAE audience this is review — most have used inheritance in TwinCAT. But explicitly call them out by name (EXTENDS, SUPER^, override, FB_init) because they'll have to TEACH this to controls engineers who haven't used inheritance, and the vocabulary matters.</a:t>
            </a:r>
          </a:p>
          <a:p>
            <a:r>
              <a:rPr sz="1200">
                <a:latin typeface="Arial"/>
              </a:rPr>
              <a:t>The line to deliver: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Common controls-engineering objection. Don't dismiss it — the customer is correct that inheritance has a learning cost. The honest framing is the trade-off, not the dismissal.</a:t>
            </a:r>
          </a:p>
          <a:p>
            <a:r>
              <a:rPr sz="1200">
                <a:latin typeface="Arial"/>
              </a:rPr>
              <a:t>Variant of this you might hear: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the requirement. Set the timer. Walk the room. Most attendees will start with Option A because it feels more "inheritance-y."</a:t>
            </a:r>
          </a:p>
          <a:p>
            <a:r>
              <a:rPr sz="1200">
                <a:latin typeface="Arial"/>
              </a:rPr>
              <a:t>When attendees are stuck, walk the room and ask: "How are you handling the exception?" Both options will surface. Run the "both are ugly in the same way" line out loud — make sure the room hears it.</a:t>
            </a:r>
          </a:p>
          <a:p>
            <a:r>
              <a:rPr sz="1200">
                <a:latin typeface="Arial"/>
              </a:rPr>
              <a:t>This is the workshop's second reveal: inheritance trades one cost for another. Stage 1 had per-station pollution; Stage 2 puts the pollution on the base, where every reader and every child pays.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the diff. Drive the comparison: 5 files / +50 / −13 (Stage 1) vs 3 files / +65 / −48 (Stage 2).</a:t>
            </a:r>
          </a:p>
          <a:p>
            <a:r>
              <a:rPr sz="1200">
                <a:latin typeface="Arial"/>
              </a:rPr>
              <a:t>The discussion question: "Which is worse — scattered pollution paid by 4 stations, or centralized pollution paid by every reader of the base?" There's no right answer. The point is that inheritance didn't eliminate the cost; it relocated it.</a:t>
            </a:r>
          </a:p>
          <a:p>
            <a:r>
              <a:rPr sz="1200">
                <a:latin typeface="Arial"/>
              </a:rPr>
              <a:t>This sets up CR-2, where the relocation becomes a trap.</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block is the workshop's hardest moment. Plan to slow down.</a:t>
            </a:r>
          </a:p>
          <a:p>
            <a:r>
              <a:rPr sz="1200">
                <a:latin typeface="Arial"/>
              </a:rPr>
              <a:t>Read CR-2 again — same requirement as Stage 1. Set a 15-minute timer. Walk the room. Most attendees start by overriding Monitoring and adding their quality-flag logic AFTER calling SUPER^.Monitoring(). This produces broken behavior — the base latches the alarm before their override can flag it as quality.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Walk the room while attendees are stuck. Use the leading questions in order — let them arrive at the realization.</a:t>
            </a:r>
          </a:p>
          <a:p>
            <a:r>
              <a:rPr sz="1200">
                <a:latin typeface="Arial"/>
              </a:rPr>
              <a:t>When the room is at the "you can't call SUPER" moment, gather attention and deliver the lesson: "There's no way to say 'inherit everything except the alarm policy.' Inheritance is all-or-nothing. Whatever the base does, every child gets — unless the child reimplements that behavior in an override."</a:t>
            </a:r>
          </a:p>
          <a:p>
            <a:r>
              <a:rPr sz="1200">
                <a:latin typeface="Arial"/>
              </a:rPr>
              <a:t>Then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Workshop's third reveal. This is the climax of Block 2.</a:t>
            </a:r>
          </a:p>
          <a:p>
            <a:r>
              <a:rPr sz="1200">
                <a:latin typeface="Arial"/>
              </a:rPr>
              <a:t>Read the quote slowly. Wait. Let it land. The room should be uncomfortable — that's the lesson working.</a:t>
            </a:r>
          </a:p>
          <a:p>
            <a:r>
              <a:rPr sz="1200">
                <a:latin typeface="Arial"/>
              </a:rPr>
              <a:t>If you're tempted to fill the silence: don't. The silence is the workshop. Senior controls engineers in the room are recognizing this pattern from their own codebases right now.</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the diff. Land the cost: 121 lines of override fight, including duplicated mode resolution.</a:t>
            </a:r>
          </a:p>
          <a:p>
            <a:r>
              <a:rPr sz="1200">
                <a:latin typeface="Arial"/>
              </a:rPr>
              <a:t>Highlight the ~80-line override. Open it on the projector if you have time. The visible cost is the line count; the invisible cost is the future-change burden every time the base evolves.</a:t>
            </a:r>
          </a:p>
          <a:p>
            <a:r>
              <a:rPr sz="1200">
                <a:latin typeface="Arial"/>
              </a:rPr>
              <a:t>The most important pushback rehearsal in the workshop is on the next slide. Don't skip it.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most important pushback in the workshop. Run it explicitly. If only one customer-conversation Q&amp;A sticks, this is the one you want.</a:t>
            </a:r>
          </a:p>
          <a:p>
            <a:r>
              <a:rPr sz="1200">
                <a:latin typeface="Arial"/>
              </a:rPr>
              <a:t>The line "discipline is bounded; architecture is unbounded" is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the requirement. 5-minute timer. The attempt: LogBuffer + LoggingEnabled virtual on the base; Fill and Inspect override to TRUE.</a:t>
            </a:r>
          </a:p>
          <a:p>
            <a:r>
              <a:rPr sz="1200">
                <a:latin typeface="Arial"/>
              </a:rPr>
              <a:t>Show the diff. The discussion: "Where does Cap's LogBuffer storage live in memory?" → in every Cap and Label instance, even though they never write to it. "Is that a problem?" → in 4 stations, no. In a 50-station factory, yes.</a:t>
            </a:r>
          </a:p>
          <a:p>
            <a:r>
              <a:rPr sz="1200">
                <a:latin typeface="Arial"/>
              </a:rPr>
              <a:t>Pre-emptive pushback: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lever: if you're behind, cut this hands-on entirely (just show the diff). The CR-2 breakdown is the lesson; CR-3 is supplementary.</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Switch presenter to stage-2-complete. Show the diff stat live. Walk the FB_StationBase tab — point to each new accumulation: ModePause field, AllowPause virtual, LogBuffer, LoggingEnabled virtual, LogCycleData helper.</a:t>
            </a:r>
          </a:p>
          <a:p>
            <a:r>
              <a:rPr sz="1200">
                <a:latin typeface="Arial"/>
              </a:rPr>
              <a:t>Ask the room: "Stage 2 fixed real problems Stage 1 had. What new problems did it create?" Take answers. The right ones: base-class pollution, SUPER-can't-be-called fragility, dead weight.</a:t>
            </a:r>
          </a:p>
          <a:p>
            <a:r>
              <a:rPr sz="1200">
                <a:latin typeface="Arial"/>
              </a:rPr>
              <a:t>Then the bridge: "Stage 3 will keep what's good — clean abstractions, consistency enforcement — and fix what's wrong. Let's go."</a:t>
            </a:r>
          </a:p>
          <a:p>
            <a:r>
              <a:rPr sz="1200">
                <a:latin typeface="Arial"/>
              </a:rPr>
              <a:t>Set up the break.</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Real break. While they're out: pull `stage-3-composition` on the presenter machine. Open the file tree, then I_AlarmHandler.TcPOU and FB_AlarmHandler_LineFault.TcPOU side by side.</a:t>
            </a:r>
          </a:p>
          <a:p>
            <a:r>
              <a:rPr sz="1200">
                <a:latin typeface="Arial"/>
              </a:rPr>
              <a:t>If you have a second laptop: open MAIN.TcPOU on it. The MAIN swap demo in Block 3 is the workshop's emotional climax — preparing it now saves a switching delay later.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Section break. Switch presenter to `stage-3-composition`. The file tree should be visible — 18 files in three directories.</a:t>
            </a:r>
          </a:p>
          <a:p>
            <a:r>
              <a:rPr sz="1200">
                <a:latin typeface="Arial"/>
              </a:rPr>
              <a:t>This block is the emotional payoff of the workshop. Pace it so the room has time to FEEL the win, not just observe it. Don't rush past CR-2.</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Don't lecture this. Read the bullets, gesture at the file tree, and move on.</a:t>
            </a:r>
          </a:p>
          <a:p>
            <a:r>
              <a:rPr sz="1200">
                <a:latin typeface="Arial"/>
              </a:rPr>
              <a:t>The line that matters: "variation by injection." That's the seed of CR-2's swap demo. Plant it now — they'll see it in 30 minutes.</a:t>
            </a:r>
          </a:p>
          <a:p>
            <a:r>
              <a:rPr sz="1200">
                <a:latin typeface="Arial"/>
              </a:rPr>
              <a:t>If anyone asks "is this just dependency injection?" — answer: "Yes. DI is one of the patterns. We'll name them all in Block 4."</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the file tree. Walk it from top to bottom. Pre-empt the objection — "this is more files than Stage 1 had" — by acknowledging it explicitly.</a:t>
            </a:r>
          </a:p>
          <a:p>
            <a:r>
              <a:rPr sz="1200">
                <a:latin typeface="Arial"/>
              </a:rPr>
              <a:t>The "hold that judgment" framing is deliberate. The architecture's payback comes in the next 40 minutes. Don't defend it now; let CR-2 defend it.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I_AlarmHandler.TcPOU on the projector. Walk through the four members.</a:t>
            </a:r>
          </a:p>
          <a:p>
            <a:r>
              <a:rPr sz="1200">
                <a:latin typeface="Arial"/>
              </a:rPr>
              <a:t>The line to deliver: "Stations depend on I_AlarmHandler — they never know which implementation they have. That's the seam where CR-2's swap will happen."</a:t>
            </a:r>
          </a:p>
          <a:p>
            <a:r>
              <a:rPr sz="1200">
                <a:latin typeface="Arial"/>
              </a:rPr>
              <a:t>Don't explain the swap yet. Just plant the seam. Reveal in 25 minutes.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both files side by side. Walk the symmetry: same shape, opposite policy. Both satisfy I_AlarmHandler.</a:t>
            </a:r>
          </a:p>
          <a:p>
            <a:r>
              <a:rPr sz="1200">
                <a:latin typeface="Arial"/>
              </a:rPr>
              <a:t>The line to deliver: "Same contract, opposite behavior. The station code can't tell them apart — that's the point.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FB_StationFill on the projector. Walk the VAR block first — point at the I_AlarmHandler / I_DataLogger fields. Then walk FB_init — point at the AlarmHandler / DataLogger parameters.</a:t>
            </a:r>
          </a:p>
          <a:p>
            <a:r>
              <a:rPr sz="1200">
                <a:latin typeface="Arial"/>
              </a:rPr>
              <a:t>The line to deliver: "The station never constructs its dependencies. It receives them. That's dependency injection — the seam that makes CR-2 trivial."</a:t>
            </a:r>
          </a:p>
          <a:p>
            <a:r>
              <a:rPr sz="1200">
                <a:latin typeface="Arial"/>
              </a:rPr>
              <a:t>If anyone asks "what's REFERENCE TO?" — short answer: "TwinCAT's pointer-with-syntax-sugar. Use REF= to bind, then dereference with .field syntax. We use it for FB_ModeManager because there's exactly one shared instance."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Open MAIN on the projector. Walk the construction calls. Highlight the AlarmHandler := LineFault line on Inspect — call it the "swap point."</a:t>
            </a:r>
          </a:p>
          <a:p>
            <a:r>
              <a:rPr sz="1200">
                <a:latin typeface="Arial"/>
              </a:rPr>
              <a:t>The line to deliver: "Read MAIN top-to-bottom — it IS the wiring diagram for the line. In Stage 1, MAIN was 'instantiate stations.' In Stage 3, MAIN is 'wire the dependency graph.' The architecture is realized at construction."</a:t>
            </a:r>
          </a:p>
          <a:p>
            <a:r>
              <a:rPr sz="1200">
                <a:latin typeface="Arial"/>
              </a:rPr>
              <a:t>This sets up CR-2 directly. The audience should be ready to predict what the swap looks like.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Walk SOLID once, slowly, with the codebase as the example. This is the vocabulary attendees will take to customer conversations — make sure each principle is named with a specific Stage 3 file as the example.</a:t>
            </a:r>
          </a:p>
          <a:p>
            <a:r>
              <a:rPr sz="1200">
                <a:latin typeface="Arial"/>
              </a:rPr>
              <a:t>For an FAE audience, SOLID is review at the conceptual level — what's new is mapping each principle to a specific TwinCAT file they just walked through.</a:t>
            </a:r>
          </a:p>
          <a:p>
            <a:r>
              <a:rPr sz="1200">
                <a:latin typeface="Arial"/>
              </a:rPr>
              <a:t>Discussion prompt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"this is overkill" objection. Critical to acknowledge — for the workshop's 4-station example, the customer is RIGHT. Stage 3 is overkill at this scale.</a:t>
            </a:r>
          </a:p>
          <a:p>
            <a:r>
              <a:rPr sz="1200">
                <a:latin typeface="Arial"/>
              </a:rPr>
              <a:t>The honest framing is the trade-off: Stage 3's payoff is at scale and over time. For a one-off machine, Stage 1 is correct. For a product family that ships 50 variants over 5 years, Stage 3 is the only sane answer.</a:t>
            </a:r>
          </a:p>
          <a:p>
            <a:r>
              <a:rPr sz="1200">
                <a:latin typeface="Arial"/>
              </a:rPr>
              <a:t>Don't oversell composition. The workshop's value is the trade-off vocabulary, not the religion.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the requirement: same Pause requirement as Stage 1. 5-minute timer. The realization comes fast: just modify FB_ModeManager.</a:t>
            </a:r>
          </a:p>
          <a:p>
            <a:r>
              <a:rPr sz="1200">
                <a:latin typeface="Arial"/>
              </a:rPr>
              <a:t>Discussion prompt: "Why is the Fill mid-cycle exception automatic in this architecture?" Walk the audience to the answer: Fill's state-10 logic gates on Accumulated &gt;= TargetVolume, not on AllowRun. The abstraction already encoded the right behavior.</a:t>
            </a:r>
          </a:p>
          <a:p>
            <a:r>
              <a:rPr sz="1200">
                <a:latin typeface="Arial"/>
              </a:rPr>
              <a:t>Pre-emptive pushback: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workshop's emotional payoff. Pace it carefully.</a:t>
            </a:r>
          </a:p>
          <a:p>
            <a:r>
              <a:rPr sz="1200">
                <a:latin typeface="Arial"/>
              </a:rPr>
              <a:t>Read CR-2 again: "Inspect: non-faulting alarm AND parallel state-10. Same as Stage 1 (60 inline lines) and Stage 2 (the override mess). Apply it the composition way."</a:t>
            </a:r>
          </a:p>
          <a:p>
            <a:r>
              <a:rPr sz="1200">
                <a:latin typeface="Arial"/>
              </a:rPr>
              <a:t>Demonstrate FIRST — on the presenter machine, before they try. The next slide is the one-line swap.</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Demonstrate this LIVE on the presenter machine. The slide is the script — but the demo is the lesson.</a:t>
            </a:r>
          </a:p>
          <a:p>
            <a:r>
              <a:rPr sz="1200">
                <a:latin typeface="Arial"/>
              </a:rPr>
              <a:t>1. Open MAIN. Find the line.
2. Change LineFault to QualityFlag.
3. Save. Build.
4. PAUSE. Don't speak. Let the implication land. Count to 10 silently.
5. After the silence, ask: "Did Inspect's behavior just change?" (Yes — alarms are non-latching, line keeps running.) "Did we modify any Inspect code?" (No.) "How is this possible?" (Because the alarm strategy is injected, not hardcoded.)</a:t>
            </a:r>
          </a:p>
          <a:p>
            <a:r>
              <a:rPr sz="1200">
                <a:latin typeface="Arial"/>
              </a:rPr>
              <a:t>The silence is the lesson. Don't fill it.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workshop's headline claim. Read it slowly. Repeat it. This is the line attendees will take home.</a:t>
            </a:r>
          </a:p>
          <a:p>
            <a:r>
              <a:rPr sz="1200">
                <a:latin typeface="Arial"/>
              </a:rPr>
              <a:t>If only one slide of the workshop sticks, this is the one you want. The 92 → 121 → 1 progression is the receipt for the entire 4 hours.</a:t>
            </a:r>
          </a:p>
          <a:p>
            <a:r>
              <a:rPr sz="1200">
                <a:latin typeface="Arial"/>
              </a:rPr>
              <a:t>Pre-emptive pushback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After the swap demo, hand them the parallel-sequencer half. 10-minute timer.</a:t>
            </a:r>
          </a:p>
          <a:p>
            <a:r>
              <a:rPr sz="1200">
                <a:latin typeface="Arial"/>
              </a:rPr>
              <a:t>The pattern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lever: if you're behind, skip this hands-on. The reveal moment is the swap on the presenter screen — that's the lesson. The parallel sequencer is supplementary.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Read the requirement. 5-minute timer. The path: add I_DataLogger field + FB_init param to Fill and Inspect only.</a:t>
            </a:r>
          </a:p>
          <a:p>
            <a:r>
              <a:rPr sz="1200">
                <a:latin typeface="Arial"/>
              </a:rPr>
              <a:t>Discussion prompt: "Where does Cap's logger storage live now?" → nowhere. Cap doesn't have the field. "What changes if we swap from in-memory buffer to file-based logger?" → only FB_CycleDataLogger is replaced. Stations don't change. MAIN doesn't change.</a:t>
            </a:r>
          </a:p>
          <a:p>
            <a:r>
              <a:rPr sz="1200">
                <a:latin typeface="Arial"/>
              </a:rPr>
              <a:t>Compare to Stage 2's logger refactor cost: base + every override + LogCycleData helper. Stage 3: just the building block.</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Show stage-3-broken on the projector. Walk the per-station guards. Then compare to stage-3-cr1-applied (FB_ModeManager-only). The right answer is loud and small; the wrong answer is loud and large.</a:t>
            </a:r>
          </a:p>
          <a:p>
            <a:r>
              <a:rPr sz="1200">
                <a:latin typeface="Arial"/>
              </a:rPr>
              <a:t>The lesson: the right architecture makes the right thing easy and the wrong thing visible.</a:t>
            </a:r>
          </a:p>
          <a:p>
            <a:r>
              <a:rPr sz="1200">
                <a:latin typeface="Arial"/>
              </a:rPr>
              <a:t>Pre-emptive pushback: "So composition can be done wrong too. What's the point?" → "Every paradigm can be done wrong. The point is which one MAKES THE RIGHT THING EASY AND THE WRONG THING VISIBLE. Stage 1's right answer for cross-cutting concerns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Section break. This is where the workshop cements. Plan to overshoot the 20-minute budget if discussion is gold — that's the workshop's value.</a:t>
            </a:r>
          </a:p>
          <a:p>
            <a:r>
              <a:rPr sz="1200">
                <a:latin typeface="Arial"/>
              </a:rPr>
              <a:t>Pull up the scoreboard page on the projector OR reveal the whiteboard with cells pre-drawn. Walk through the 9 cells.</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Walk the matrix cell-by-cell. The audience has now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The deeper lessons are on the next slide.</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This is the slide that recasts the scoreboard. Lines are the visible cost; blast radius is the real cost.</a:t>
            </a:r>
          </a:p>
          <a:p>
            <a:r>
              <a:rPr sz="1200">
                <a:latin typeface="Arial"/>
              </a:rPr>
              <a:t>The blast-radius framing is the language attendees will take to customer conversations. Mark it. Repeat it.</a:t>
            </a:r>
          </a:p>
          <a:p>
            <a:r>
              <a:rPr sz="1200">
                <a:latin typeface="Arial"/>
              </a:rPr>
              <a:t>If you have a whiteboard: write "BLAST RADIUS" in big letters next to the scoreboard matrix. Visual anchor.</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testability argument is the workshop's quiet long-tail value. Some attendees will care about this more than the blast-radius argument.</a:t>
            </a:r>
          </a:p>
          <a:p>
            <a:r>
              <a:rPr sz="1200">
                <a:latin typeface="Arial"/>
              </a:rPr>
              <a:t>If you're running ahead and the room is technically engaged, this is the springboard into the bonus TcUnit demo (see backup slides).</a:t>
            </a:r>
          </a:p>
          <a:p>
            <a:r>
              <a:rPr sz="1200">
                <a:latin typeface="Arial"/>
              </a:rPr>
              <a:t>If you're running on time: deliver this as a sentence and move on. The next slide is the discussion that earns the workshop.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most important discussion of the workshop.</a:t>
            </a:r>
          </a:p>
          <a:p>
            <a:r>
              <a:rPr sz="1200">
                <a:latin typeface="Arial"/>
              </a:rPr>
              <a:t>Ask: "Walk back to your shop. What machine, codebase, or customer is each stage right for? Be specific. Name names if you can."</a:t>
            </a:r>
          </a:p>
          <a:p>
            <a:r>
              <a:rPr sz="1200">
                <a:latin typeface="Arial"/>
              </a:rPr>
              <a:t>Take answers. Encourage debate. The slide is the honest framing — the workshop value is the customer-specific application.</a:t>
            </a:r>
          </a:p>
          <a:p>
            <a:r>
              <a:rPr sz="1200">
                <a:latin typeface="Arial"/>
              </a:rPr>
              <a:t>If the room is shy, prime with: "Anyone here own a single-machine codebase that Stage 1 is fine for?" → hands. "Anyone working on a product family where Stage 3 is the prerequisite?" → hands. "Anyone in the messy middle where Stage 2 is what you're already doing and you're feeling the limits?" → most hands.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Pick three of the pushback questions. Roleplay them with the room. Let attendees take the FAE side; you take the customer side.</a:t>
            </a:r>
          </a:p>
          <a:p>
            <a:r>
              <a:rPr sz="1200">
                <a:latin typeface="Arial"/>
              </a:rPr>
              <a:t>The point: the customer-conversation rehearsal is the workshop's transferable skill. They've heard the pushbacks all day; now they practice the answers.</a:t>
            </a:r>
          </a:p>
          <a:p>
            <a:r>
              <a:rPr sz="1200">
                <a:latin typeface="Arial"/>
              </a:rPr>
              <a:t>If time is short: pick the ONE pushback most likely to come up in their next customer conversation. The "discipline is bounded; architecture is unbounded" line is the close.</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Three modes for keeping the material alive. Walk them in order.</a:t>
            </a:r>
          </a:p>
          <a:p>
            <a:r>
              <a:rPr sz="1200">
                <a:latin typeface="Arial"/>
              </a:rPr>
              <a:t>The "send me one specific machine" ask is real. Senior FAEs who attend are the workshop's distribution channel — they need to teach it. Knowing what they'll teach it FOR makes the next iteration of the workshop better.</a:t>
            </a:r>
          </a:p>
          <a:p>
            <a:r>
              <a:rPr sz="1200">
                <a:latin typeface="Arial"/>
              </a:rPr>
              <a:t>If you have time and the workshop is intimate enough (&lt; 20 attendees), promise a personal recommendation per attendee in the post-workshop follow-up. The next slide.</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personal-recommendation pattern is what makes the workshop transferable. Generic advice ('use composition more') fades within a week; specific advice ('try the I_AlarmHandler swap on your test rigs next month') sticks.</a:t>
            </a:r>
          </a:p>
          <a:p>
            <a:r>
              <a:rPr sz="1200">
                <a:latin typeface="Arial"/>
              </a:rPr>
              <a:t>This slide IS the template. Copy the structure: name, observed situation, specific recommended action.</a:t>
            </a:r>
          </a:p>
          <a:p>
            <a:r>
              <a:rPr sz="1200">
                <a:latin typeface="Arial"/>
              </a:rPr>
              <a:t>If your audience is &gt; 20: skip this slide. The personal-recommendation pattern doesn't scale past intimate workshops.</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Closing slide. Read the body slowly.</a:t>
            </a:r>
          </a:p>
          <a:p>
            <a:r>
              <a:rPr sz="1200">
                <a:latin typeface="Arial"/>
              </a:rPr>
              <a:t>The "recognize themselves in Stage 1's drift" line is the emotional bookend to the CR-1 reveal in Block 1. Pull that thread explicitly: "Remember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Backup slides are reference material. NOT part of the live flow.</a:t>
            </a:r>
          </a:p>
          <a:p>
            <a:r>
              <a:rPr sz="1200">
                <a:latin typeface="Arial"/>
              </a:rPr>
              <a:t>Hide these from the slide order if presenting from a printed agenda — but keep them in the deck file for your own reference and for FAEs who reuse the deck for shorter versions.</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Quick reference card for facilitators. Use it during breaks to recalibrate.</a:t>
            </a:r>
          </a:p>
          <a:p>
            <a:r>
              <a:rPr sz="1200">
                <a:latin typeface="Arial"/>
              </a:rPr>
              <a:t>The 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The TcUnit demo is the most powerful single addition to the workshop — but it's deliberately bonus. Three reasons:</a:t>
            </a:r>
          </a:p>
          <a:p>
            <a:r>
              <a:rPr sz="1200">
                <a:latin typeface="Arial"/>
              </a:rPr>
              <a:t>1. PlcTestSuite is a separate library install (5+ min per machine if attendees don't have it).
2. It only works on Stage 3 code. Demonstrating WHY it doesn't work on Stage 1 or 2 requires extra setup time the core workshop doesn't budget.
3. It needs a running TwinCAT runtime. Review-only attendees can't actually execute.</a:t>
            </a:r>
          </a:p>
          <a:p>
            <a:r>
              <a:rPr sz="1200">
                <a:latin typeface="Arial"/>
              </a:rPr>
              <a:t>If you DO get to it: the lesson surfaces naturally — 'what would it take to test a Stage 1 station? A Stage 2 station? Why is this only possible on Stage 3?' Answer: Stage 1 and 2 stations don't have the dependency-injection seam, so there's nowhere to plug in mocks.</a:t>
            </a:r>
          </a:p>
          <a:p>
            <a:r>
              <a:rPr sz="1200">
                <a:latin typeface="Arial"/>
              </a:rPr>
              <a:t>If you DON'T get to it: send the testing.md link in the post-workshop follow-up. The architectural lesson lands fully without the testing demo. Testing is the cherry on top, not the load-bearing beam.</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Reference card for the day-of and day-after of running the workshop. Print it; tape it next to your laptop.</a:t>
            </a:r>
          </a:p>
          <a:p>
            <a:r>
              <a:rPr sz="1200">
                <a:latin typeface="Arial"/>
              </a:rPr>
              <a:t>The physical scoreboard line matters more than it sounds. Watching the cells get filled in on a whiteboard as the exercises complete creates a different kind of engagement than a static slide.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rPr sz="1200">
                <a:latin typeface="Arial"/>
              </a:rPr>
              <a:t>FAEs running customer training or internal sessions often need 1-2 hour versions. These three pre-built shapes are battle-tested.</a:t>
            </a:r>
          </a:p>
          <a:p>
            <a:r>
              <a:rPr sz="1200">
                <a:latin typeface="Arial"/>
              </a:rPr>
              <a:t>The 30-minute version is the most useful for customer pitches: one demo, one seed. The 1-hour version is the most useful for internal team training. The 2-hour version is the closest to the full experience without burning a half-day.</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rIns="0" t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rIns="0" t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rIns="0" tIns="0" bIns="0" anchor="t">
            <a:spAutoFit/>
          </a:bodyPr>
          <a:lstStyle/>
          <a:p>
            <a:pPr algn="l">
              <a:lnSpc>
                <a:spcPct val="115000"/>
              </a:lnSpc>
            </a:pPr>
            <a:r>
              <a:rPr sz="1200" b="0" i="1">
                <a:solidFill>
                  <a:srgbClr val="627186"/>
                </a:solidFill>
                <a:latin typeface="Arial"/>
              </a:rPr>
              <a:t>A 4-hour workshop for Beckhoff FAEs and customer-training staff  ·  NEM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b="1">
                <a:solidFill>
                  <a:srgbClr val="242A33"/>
                </a:solidFill>
                <a:latin typeface="Arial"/>
              </a:rPr>
              <a:t>Same machine, three architectures </a:t>
            </a:r>
            <a:r>
              <a:rPr sz="1700">
                <a:solidFill>
                  <a:srgbClr val="242A33"/>
                </a:solidFill>
                <a:latin typeface="Arial"/>
              </a:rPr>
              <a:t>— a 4-station filling line built procedurally, with inheritance, then with composition.</a:t>
            </a:r>
          </a:p>
          <a:p>
            <a:pPr algn="l">
              <a:lnSpc>
                <a:spcPct val="130000"/>
              </a:lnSpc>
              <a:spcBef>
                <a:spcPts val="400"/>
              </a:spcBef>
            </a:pPr>
            <a:r>
              <a:rPr sz="1700" b="1">
                <a:solidFill>
                  <a:srgbClr val="2D76AD"/>
                </a:solidFill>
                <a:latin typeface="Arial"/>
              </a:rPr>
              <a:t>▸  </a:t>
            </a:r>
            <a:r>
              <a:rPr sz="1700" b="1">
                <a:solidFill>
                  <a:srgbClr val="242A33"/>
                </a:solidFill>
                <a:latin typeface="Arial"/>
              </a:rPr>
              <a:t>Same three change requests at every stage </a:t>
            </a:r>
            <a:r>
              <a:rPr sz="1700">
                <a:solidFill>
                  <a:srgbClr val="242A33"/>
                </a:solidFill>
                <a:latin typeface="Arial"/>
              </a:rPr>
              <a:t>— Pause mode, Inspect quality + parallel, selective logging.</a:t>
            </a:r>
          </a:p>
          <a:p>
            <a:pPr algn="l">
              <a:lnSpc>
                <a:spcPct val="130000"/>
              </a:lnSpc>
              <a:spcBef>
                <a:spcPts val="400"/>
              </a:spcBef>
            </a:pPr>
            <a:r>
              <a:rPr sz="1700" b="1">
                <a:solidFill>
                  <a:srgbClr val="2D76AD"/>
                </a:solidFill>
                <a:latin typeface="Arial"/>
              </a:rPr>
              <a:t>▸  </a:t>
            </a:r>
            <a:r>
              <a:rPr sz="1700" b="1">
                <a:solidFill>
                  <a:srgbClr val="242A33"/>
                </a:solidFill>
                <a:latin typeface="Arial"/>
              </a:rPr>
              <a:t>One running scoreboard </a:t>
            </a:r>
            <a:r>
              <a:rPr sz="1700">
                <a:solidFill>
                  <a:srgbClr val="242A33"/>
                </a:solidFill>
                <a:latin typeface="Arial"/>
              </a:rPr>
              <a:t>— files touched and lines changed for every (stage × CR) cell. Nine cells total.</a:t>
            </a:r>
          </a:p>
          <a:p>
            <a:pPr algn="l">
              <a:lnSpc>
                <a:spcPct val="130000"/>
              </a:lnSpc>
              <a:spcBef>
                <a:spcPts val="400"/>
              </a:spcBef>
            </a:pPr>
            <a:r>
              <a:rPr sz="1700" b="1">
                <a:solidFill>
                  <a:srgbClr val="2D76AD"/>
                </a:solidFill>
                <a:latin typeface="Arial"/>
              </a:rPr>
              <a:t>▸  </a:t>
            </a:r>
            <a:r>
              <a:rPr sz="1700" b="1">
                <a:solidFill>
                  <a:srgbClr val="242A33"/>
                </a:solidFill>
                <a:latin typeface="Arial"/>
              </a:rPr>
              <a:t>One question we keep coming back to </a:t>
            </a:r>
            <a:r>
              <a:rPr sz="1700">
                <a:solidFill>
                  <a:srgbClr val="242A33"/>
                </a:solidFill>
                <a:latin typeface="Arial"/>
              </a:rPr>
              <a:t>— when does each architectural choice actually pay off?</a:t>
            </a:r>
          </a:p>
          <a:p>
            <a:pPr algn="l">
              <a:lnSpc>
                <a:spcPct val="130000"/>
              </a:lnSpc>
              <a:spcBef>
                <a:spcPts val="400"/>
              </a:spcBef>
            </a:pPr>
            <a:r>
              <a:rPr sz="1700" b="1">
                <a:solidFill>
                  <a:srgbClr val="2D76AD"/>
                </a:solidFill>
                <a:latin typeface="Arial"/>
              </a:rPr>
              <a:t>▸  </a:t>
            </a:r>
            <a:r>
              <a:rPr sz="1700" b="1">
                <a:solidFill>
                  <a:srgbClr val="242A33"/>
                </a:solidFill>
                <a:latin typeface="Arial"/>
              </a:rPr>
              <a:t>Discussion is the whole point </a:t>
            </a:r>
            <a:r>
              <a:rPr sz="1700">
                <a:solidFill>
                  <a:srgbClr val="242A33"/>
                </a:solidFill>
                <a:latin typeface="Arial"/>
              </a:rPr>
              <a:t>— you're FAEs, you'll teach this. Half the workshop's value is what gets debated in the room.</a:t>
            </a:r>
          </a:p>
        </p:txBody>
      </p:sp>
      <p:sp>
        <p:nvSpPr>
          <p:cNvPr id="3" name="Title 2"/>
          <p:cNvSpPr>
            <a:spLocks noGrp="1"/>
          </p:cNvSpPr>
          <p:nvPr>
            <p:ph type="title"/>
          </p:nvPr>
        </p:nvSpPr>
        <p:spPr/>
        <p:txBody>
          <a:bodyPr/>
          <a:lstStyle/>
          <a:p>
            <a:r>
              <a:t>What we're going to do for the next 4 hours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400" b="1">
                <a:solidFill>
                  <a:srgbClr val="2D76AD"/>
                </a:solidFill>
                <a:latin typeface="Arial"/>
              </a:rPr>
              <a:t>▸  </a:t>
            </a:r>
            <a:r>
              <a:rPr sz="1400" b="1">
                <a:solidFill>
                  <a:srgbClr val="242A33"/>
                </a:solidFill>
                <a:latin typeface="Arial"/>
              </a:rPr>
              <a:t>Block 0  ·  Welcome  ·  5 min </a:t>
            </a:r>
            <a:r>
              <a:rPr sz="1400">
                <a:solidFill>
                  <a:srgbClr val="242A33"/>
                </a:solidFill>
                <a:latin typeface="Arial"/>
              </a:rPr>
              <a:t>— audience check, repo confirmation</a:t>
            </a:r>
          </a:p>
          <a:p>
            <a:pPr algn="l">
              <a:lnSpc>
                <a:spcPct val="130000"/>
              </a:lnSpc>
              <a:spcBef>
                <a:spcPts val="400"/>
              </a:spcBef>
            </a:pPr>
            <a:r>
              <a:rPr sz="1400" b="1">
                <a:solidFill>
                  <a:srgbClr val="2D76AD"/>
                </a:solidFill>
                <a:latin typeface="Arial"/>
              </a:rPr>
              <a:t>▸  </a:t>
            </a:r>
            <a:r>
              <a:rPr sz="1400" b="1">
                <a:solidFill>
                  <a:srgbClr val="242A33"/>
                </a:solidFill>
                <a:latin typeface="Arial"/>
              </a:rPr>
              <a:t>Block 1  ·  Stage 1 </a:t>
            </a:r>
            <a:r>
              <a:rPr sz="1400">
                <a:solidFill>
                  <a:srgbClr val="242A33"/>
                </a:solidFill>
                <a:latin typeface="Arial"/>
              </a:rPr>
              <a:t>— Procedural  ·  85 min — walkthrough, CR-1, CR-2, CR-3, debrief.  Stretch: "Who copied from Fill?" reveal.</a:t>
            </a:r>
          </a:p>
          <a:p>
            <a:pPr algn="l">
              <a:lnSpc>
                <a:spcPct val="130000"/>
              </a:lnSpc>
              <a:spcBef>
                <a:spcPts val="400"/>
              </a:spcBef>
            </a:pPr>
            <a:r>
              <a:rPr sz="1400" b="1">
                <a:solidFill>
                  <a:srgbClr val="2D76AD"/>
                </a:solidFill>
                <a:latin typeface="Arial"/>
              </a:rPr>
              <a:t>▸  </a:t>
            </a:r>
            <a:r>
              <a:rPr sz="1400">
                <a:solidFill>
                  <a:srgbClr val="242A33"/>
                </a:solidFill>
                <a:latin typeface="Arial"/>
              </a:rPr>
              <a:t>Break  ·  10 min</a:t>
            </a:r>
          </a:p>
          <a:p>
            <a:pPr algn="l">
              <a:lnSpc>
                <a:spcPct val="130000"/>
              </a:lnSpc>
              <a:spcBef>
                <a:spcPts val="400"/>
              </a:spcBef>
            </a:pPr>
            <a:r>
              <a:rPr sz="1400" b="1">
                <a:solidFill>
                  <a:srgbClr val="2D76AD"/>
                </a:solidFill>
                <a:latin typeface="Arial"/>
              </a:rPr>
              <a:t>▸  </a:t>
            </a:r>
            <a:r>
              <a:rPr sz="1400" b="1">
                <a:solidFill>
                  <a:srgbClr val="242A33"/>
                </a:solidFill>
                <a:latin typeface="Arial"/>
              </a:rPr>
              <a:t>Block 2  ·  Stage 2 </a:t>
            </a:r>
            <a:r>
              <a:rPr sz="1400">
                <a:solidFill>
                  <a:srgbClr val="242A33"/>
                </a:solidFill>
                <a:latin typeface="Arial"/>
              </a:rPr>
              <a:t>— Inheritance  ·  70 min — refactor, CR-1, CR-2, CR-3, debrief.  Stretch: SUPER-can't-be-called moment.</a:t>
            </a:r>
          </a:p>
          <a:p>
            <a:pPr algn="l">
              <a:lnSpc>
                <a:spcPct val="130000"/>
              </a:lnSpc>
              <a:spcBef>
                <a:spcPts val="400"/>
              </a:spcBef>
            </a:pPr>
            <a:r>
              <a:rPr sz="1400" b="1">
                <a:solidFill>
                  <a:srgbClr val="2D76AD"/>
                </a:solidFill>
                <a:latin typeface="Arial"/>
              </a:rPr>
              <a:t>▸  </a:t>
            </a:r>
            <a:r>
              <a:rPr sz="1400">
                <a:solidFill>
                  <a:srgbClr val="242A33"/>
                </a:solidFill>
                <a:latin typeface="Arial"/>
              </a:rPr>
              <a:t>Break  ·  10 min</a:t>
            </a:r>
          </a:p>
          <a:p>
            <a:pPr algn="l">
              <a:lnSpc>
                <a:spcPct val="130000"/>
              </a:lnSpc>
              <a:spcBef>
                <a:spcPts val="400"/>
              </a:spcBef>
            </a:pPr>
            <a:r>
              <a:rPr sz="1400" b="1">
                <a:solidFill>
                  <a:srgbClr val="2D76AD"/>
                </a:solidFill>
                <a:latin typeface="Arial"/>
              </a:rPr>
              <a:t>▸  </a:t>
            </a:r>
            <a:r>
              <a:rPr sz="1400" b="1">
                <a:solidFill>
                  <a:srgbClr val="242A33"/>
                </a:solidFill>
                <a:latin typeface="Arial"/>
              </a:rPr>
              <a:t>Block 3  ·  Stage 3 </a:t>
            </a:r>
            <a:r>
              <a:rPr sz="1400">
                <a:solidFill>
                  <a:srgbClr val="242A33"/>
                </a:solidFill>
                <a:latin typeface="Arial"/>
              </a:rPr>
              <a:t>— Composition  ·  70 min — architecture, CR-1, CR-2 swap demo, CR-3.  Stretch: let the silence land after the swap.</a:t>
            </a:r>
          </a:p>
          <a:p>
            <a:pPr algn="l">
              <a:lnSpc>
                <a:spcPct val="130000"/>
              </a:lnSpc>
              <a:spcBef>
                <a:spcPts val="400"/>
              </a:spcBef>
            </a:pPr>
            <a:r>
              <a:rPr sz="1400" b="1">
                <a:solidFill>
                  <a:srgbClr val="2D76AD"/>
                </a:solidFill>
                <a:latin typeface="Arial"/>
              </a:rPr>
              <a:t>▸  </a:t>
            </a:r>
            <a:r>
              <a:rPr sz="1400" b="1">
                <a:solidFill>
                  <a:srgbClr val="242A33"/>
                </a:solidFill>
                <a:latin typeface="Arial"/>
              </a:rPr>
              <a:t>Block 4  ·  Scoreboard + take-home  ·  20 min </a:t>
            </a:r>
            <a:r>
              <a:rPr sz="1400">
                <a:solidFill>
                  <a:srgbClr val="242A33"/>
                </a:solidFill>
                <a:latin typeface="Arial"/>
              </a:rPr>
              <a:t>— methodology fit discussion, customer-conversation rehearsal.</a:t>
            </a:r>
          </a:p>
        </p:txBody>
      </p:sp>
      <p:sp>
        <p:nvSpPr>
          <p:cNvPr id="3" name="Title 2"/>
          <p:cNvSpPr>
            <a:spLocks noGrp="1"/>
          </p:cNvSpPr>
          <p:nvPr>
            <p:ph type="title"/>
          </p:nvPr>
        </p:nvSpPr>
        <p:spPr/>
        <p:txBody>
          <a:bodyPr/>
          <a:lstStyle/>
          <a:p>
            <a:r>
              <a:t>The schedule (be honest about the stretch zones)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0  ·  opening discussion prompt</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600" b="0" i="1">
                <a:solidFill>
                  <a:srgbClr val="414D5C"/>
                </a:solidFill>
                <a:latin typeface="Arial"/>
              </a:rPr>
              <a:t>Before we start — quickly: 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Then this workshop is calibrated for you. The pain we're about to surface is pain you've already felt.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Stage 1 — Procedural</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414D5C"/>
                </a:solidFill>
                <a:latin typeface="Arial"/>
              </a:rPr>
              <a:t>85 min  ·  walkthrough · CR-1 · CR-2 · CR-3 · debrief</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The architecture you've been writing for 20 years.</a:t>
            </a:r>
          </a:p>
          <a:p>
            <a:pPr algn="l">
              <a:lnSpc>
                <a:spcPct val="140000"/>
              </a:lnSpc>
            </a:pPr>
            <a:r>
              <a:rPr sz="1600" b="0" i="1">
                <a:solidFill>
                  <a:srgbClr val="242A33"/>
                </a:solidFill>
                <a:latin typeface="Arial"/>
              </a:rPr>
              <a:t>IEC 61131-3 was designed for it. There's nothing wrong with it.</a:t>
            </a:r>
          </a:p>
          <a:p>
            <a:pPr algn="l">
              <a:lnSpc>
                <a:spcPct val="140000"/>
              </a:lnSpc>
            </a:pPr>
            <a:r>
              <a:rPr sz="1600" b="0" i="1">
                <a:solidFill>
                  <a:srgbClr val="242A33"/>
                </a:solidFill>
                <a:latin typeface="Arial"/>
              </a:rPr>
              <a:t>Today we feel where it stops scaling.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Origin </a:t>
            </a:r>
            <a:r>
              <a:rPr sz="1700">
                <a:solidFill>
                  <a:srgbClr val="242A33"/>
                </a:solidFill>
                <a:latin typeface="Arial"/>
              </a:rPr>
              <a:t>— 1970s structured programming + 1980s industrial controls. IEC 61131-3 (1993) codified it for PLCs.</a:t>
            </a:r>
          </a:p>
          <a:p>
            <a:pPr algn="l">
              <a:lnSpc>
                <a:spcPct val="130000"/>
              </a:lnSpc>
              <a:spcBef>
                <a:spcPts val="400"/>
              </a:spcBef>
            </a:pPr>
            <a:r>
              <a:rPr sz="1700" b="1">
                <a:solidFill>
                  <a:srgbClr val="414D5C"/>
                </a:solidFill>
                <a:latin typeface="Arial"/>
              </a:rPr>
              <a:t>▸  </a:t>
            </a:r>
            <a:r>
              <a:rPr sz="1700" b="1">
                <a:solidFill>
                  <a:srgbClr val="242A33"/>
                </a:solidFill>
                <a:latin typeface="Arial"/>
              </a:rPr>
              <a:t>Mental model </a:t>
            </a:r>
            <a:r>
              <a:rPr sz="1700">
                <a:solidFill>
                  <a:srgbClr val="242A33"/>
                </a:solidFill>
                <a:latin typeface="Arial"/>
              </a:rPr>
              <a:t>— a station is a function block that runs once per cycle. It owns its state. It reads inputs, runs a CASE machine, writes outputs.</a:t>
            </a:r>
          </a:p>
          <a:p>
            <a:pPr algn="l">
              <a:lnSpc>
                <a:spcPct val="130000"/>
              </a:lnSpc>
              <a:spcBef>
                <a:spcPts val="400"/>
              </a:spcBef>
            </a:pPr>
            <a:r>
              <a:rPr sz="1700" b="1">
                <a:solidFill>
                  <a:srgbClr val="414D5C"/>
                </a:solidFill>
                <a:latin typeface="Arial"/>
              </a:rPr>
              <a:t>▸  </a:t>
            </a:r>
            <a:r>
              <a:rPr sz="1700" b="1">
                <a:solidFill>
                  <a:srgbClr val="242A33"/>
                </a:solidFill>
                <a:latin typeface="Arial"/>
              </a:rPr>
              <a:t>Why it dominates TwinCAT </a:t>
            </a:r>
            <a:r>
              <a:rPr sz="1700">
                <a:solidFill>
                  <a:srgbClr val="242A33"/>
                </a:solidFill>
                <a:latin typeface="Arial"/>
              </a:rPr>
              <a:t>— the runtime, libraries, training material, and customer expectations all assume it. It's the path of least resistance.</a:t>
            </a:r>
          </a:p>
          <a:p>
            <a:pPr algn="l">
              <a:lnSpc>
                <a:spcPct val="130000"/>
              </a:lnSpc>
              <a:spcBef>
                <a:spcPts val="400"/>
              </a:spcBef>
            </a:pPr>
            <a:r>
              <a:rPr sz="1700" b="1">
                <a:solidFill>
                  <a:srgbClr val="414D5C"/>
                </a:solidFill>
                <a:latin typeface="Arial"/>
              </a:rPr>
              <a:t>▸  </a:t>
            </a:r>
            <a:r>
              <a:rPr sz="1700" b="1">
                <a:solidFill>
                  <a:srgbClr val="242A33"/>
                </a:solidFill>
                <a:latin typeface="Arial"/>
              </a:rPr>
              <a:t>What it's good at </a:t>
            </a:r>
            <a:r>
              <a:rPr sz="1700">
                <a:solidFill>
                  <a:srgbClr val="242A33"/>
                </a:solidFill>
                <a:latin typeface="Arial"/>
              </a:rPr>
              <a:t>— small machines, single integrators, code that won't outlive the contract.</a:t>
            </a:r>
          </a:p>
          <a:p>
            <a:pPr algn="l">
              <a:lnSpc>
                <a:spcPct val="130000"/>
              </a:lnSpc>
              <a:spcBef>
                <a:spcPts val="400"/>
              </a:spcBef>
            </a:pPr>
            <a:r>
              <a:rPr sz="1700" b="1">
                <a:solidFill>
                  <a:srgbClr val="414D5C"/>
                </a:solidFill>
                <a:latin typeface="Arial"/>
              </a:rPr>
              <a:t>▸  </a:t>
            </a:r>
            <a:r>
              <a:rPr sz="1700" b="1">
                <a:solidFill>
                  <a:srgbClr val="242A33"/>
                </a:solidFill>
                <a:latin typeface="Arial"/>
              </a:rPr>
              <a:t>What it's bad at </a:t>
            </a:r>
            <a:r>
              <a:rPr sz="1700">
                <a:solidFill>
                  <a:srgbClr val="242A33"/>
                </a:solidFill>
                <a:latin typeface="Arial"/>
              </a:rPr>
              <a:t>— cross-cutting changes that have to land in N stations consistently. Today we'll feel exactly that.</a:t>
            </a:r>
          </a:p>
        </p:txBody>
      </p:sp>
      <p:sp>
        <p:nvSpPr>
          <p:cNvPr id="3" name="Title 2"/>
          <p:cNvSpPr>
            <a:spLocks noGrp="1"/>
          </p:cNvSpPr>
          <p:nvPr>
            <p:ph type="title"/>
          </p:nvPr>
        </p:nvSpPr>
        <p:spPr/>
        <p:txBody>
          <a:bodyPr/>
          <a:lstStyle/>
          <a:p>
            <a:r>
              <a:t>The procedural paradigm in one slide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Mode block </a:t>
            </a:r>
            <a:r>
              <a:rPr sz="1700">
                <a:solidFill>
                  <a:srgbClr val="242A33"/>
                </a:solidFill>
                <a:latin typeface="Arial"/>
              </a:rPr>
              <a:t>— read ModeAuto/ModeManual/ModeStop, decide whether to advance.</a:t>
            </a:r>
          </a:p>
          <a:p>
            <a:pPr algn="l">
              <a:lnSpc>
                <a:spcPct val="130000"/>
              </a:lnSpc>
              <a:spcBef>
                <a:spcPts val="400"/>
              </a:spcBef>
            </a:pPr>
            <a:r>
              <a:rPr sz="1700" b="1">
                <a:solidFill>
                  <a:srgbClr val="414D5C"/>
                </a:solidFill>
                <a:latin typeface="Arial"/>
              </a:rPr>
              <a:t>▸  </a:t>
            </a:r>
            <a:r>
              <a:rPr sz="1700" b="1">
                <a:solidFill>
                  <a:srgbClr val="242A33"/>
                </a:solidFill>
                <a:latin typeface="Arial"/>
              </a:rPr>
              <a:t>Alarm-ack block </a:t>
            </a:r>
            <a:r>
              <a:rPr sz="1700">
                <a:solidFill>
                  <a:srgbClr val="242A33"/>
                </a:solidFill>
                <a:latin typeface="Arial"/>
              </a:rPr>
              <a:t>— clear latched alarms when AlarmAck is held or pulses.</a:t>
            </a:r>
          </a:p>
          <a:p>
            <a:pPr algn="l">
              <a:lnSpc>
                <a:spcPct val="130000"/>
              </a:lnSpc>
              <a:spcBef>
                <a:spcPts val="400"/>
              </a:spcBef>
            </a:pPr>
            <a:r>
              <a:rPr sz="1700" b="1">
                <a:solidFill>
                  <a:srgbClr val="414D5C"/>
                </a:solidFill>
                <a:latin typeface="Arial"/>
              </a:rPr>
              <a:t>▸  </a:t>
            </a:r>
            <a:r>
              <a:rPr sz="1700" b="1">
                <a:solidFill>
                  <a:srgbClr val="242A33"/>
                </a:solidFill>
                <a:latin typeface="Arial"/>
              </a:rPr>
              <a:t>Reset block </a:t>
            </a:r>
            <a:r>
              <a:rPr sz="1700">
                <a:solidFill>
                  <a:srgbClr val="242A33"/>
                </a:solidFill>
                <a:latin typeface="Arial"/>
              </a:rPr>
              <a:t>— return state to 0 when Reset is held.</a:t>
            </a:r>
          </a:p>
          <a:p>
            <a:pPr algn="l">
              <a:lnSpc>
                <a:spcPct val="130000"/>
              </a:lnSpc>
              <a:spcBef>
                <a:spcPts val="400"/>
              </a:spcBef>
            </a:pPr>
            <a:r>
              <a:rPr sz="1700" b="1">
                <a:solidFill>
                  <a:srgbClr val="414D5C"/>
                </a:solidFill>
                <a:latin typeface="Arial"/>
              </a:rPr>
              <a:t>▸  </a:t>
            </a:r>
            <a:r>
              <a:rPr sz="1700" b="1">
                <a:solidFill>
                  <a:srgbClr val="242A33"/>
                </a:solidFill>
                <a:latin typeface="Arial"/>
              </a:rPr>
              <a:t>State machine </a:t>
            </a:r>
            <a:r>
              <a:rPr sz="1700">
                <a:solidFill>
                  <a:srgbClr val="242A33"/>
                </a:solidFill>
                <a:latin typeface="Arial"/>
              </a:rPr>
              <a:t>— the actual sequence (CASE).  This is the only meaningfully different section between stations.</a:t>
            </a:r>
          </a:p>
          <a:p>
            <a:pPr algn="l">
              <a:lnSpc>
                <a:spcPct val="130000"/>
              </a:lnSpc>
              <a:spcBef>
                <a:spcPts val="400"/>
              </a:spcBef>
            </a:pPr>
            <a:r>
              <a:rPr sz="1700" b="1">
                <a:solidFill>
                  <a:srgbClr val="414D5C"/>
                </a:solidFill>
                <a:latin typeface="Arial"/>
              </a:rPr>
              <a:t>▸  </a:t>
            </a:r>
            <a:r>
              <a:rPr sz="1700" b="1">
                <a:solidFill>
                  <a:srgbClr val="242A33"/>
                </a:solidFill>
                <a:latin typeface="Arial"/>
              </a:rPr>
              <a:t>HMI mapping </a:t>
            </a:r>
            <a:r>
              <a:rPr sz="1700">
                <a:solidFill>
                  <a:srgbClr val="242A33"/>
                </a:solidFill>
                <a:latin typeface="Arial"/>
              </a:rPr>
              <a:t>— copy internal state to HMI tags.</a:t>
            </a:r>
          </a:p>
          <a:p>
            <a:pPr algn="l">
              <a:lnSpc>
                <a:spcPct val="130000"/>
              </a:lnSpc>
              <a:spcBef>
                <a:spcPts val="400"/>
              </a:spcBef>
            </a:pPr>
            <a:r>
              <a:rPr sz="1700" b="1">
                <a:solidFill>
                  <a:srgbClr val="414D5C"/>
                </a:solidFill>
                <a:latin typeface="Arial"/>
              </a:rPr>
              <a:t>▸  </a:t>
            </a:r>
            <a:r>
              <a:rPr sz="1700" b="1">
                <a:solidFill>
                  <a:srgbClr val="242A33"/>
                </a:solidFill>
                <a:latin typeface="Arial"/>
              </a:rPr>
              <a:t>Look at any two stations side by side. Sections 1, 2, 3, 5 are nearly identical. Section 4 is the only thing that varies </a:t>
            </a:r>
            <a:r>
              <a:rPr sz="1700">
                <a:solidFill>
                  <a:srgbClr val="242A33"/>
                </a:solidFill>
                <a:latin typeface="Arial"/>
              </a:rPr>
              <a:t>— and section 4 is what makes the station the station.</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Drift #1 </a:t>
            </a:r>
            <a:r>
              <a:rPr sz="1700">
                <a:solidFill>
                  <a:srgbClr val="242A33"/>
                </a:solidFill>
                <a:latin typeface="Arial"/>
              </a:rPr>
              <a:t>— alarm-ack edge vs level. Fill uses R_TRIG; the others use level — or vice-versa.</a:t>
            </a:r>
          </a:p>
          <a:p>
            <a:pPr algn="l">
              <a:lnSpc>
                <a:spcPct val="130000"/>
              </a:lnSpc>
              <a:spcBef>
                <a:spcPts val="400"/>
              </a:spcBef>
            </a:pPr>
            <a:r>
              <a:rPr sz="1700" b="1">
                <a:solidFill>
                  <a:srgbClr val="414D5C"/>
                </a:solidFill>
                <a:latin typeface="Arial"/>
              </a:rPr>
              <a:t>▸  </a:t>
            </a:r>
            <a:r>
              <a:rPr sz="1700" b="1">
                <a:solidFill>
                  <a:srgbClr val="242A33"/>
                </a:solidFill>
                <a:latin typeface="Arial"/>
              </a:rPr>
              <a:t>Drift #2 </a:t>
            </a:r>
            <a:r>
              <a:rPr sz="1700">
                <a:solidFill>
                  <a:srgbClr val="242A33"/>
                </a:solidFill>
                <a:latin typeface="Arial"/>
              </a:rPr>
              <a:t>— step numbering. FB_StationLabel uses 0/100/200/300; the others use 0/10/20/30.</a:t>
            </a:r>
          </a:p>
          <a:p>
            <a:pPr algn="l">
              <a:lnSpc>
                <a:spcPct val="130000"/>
              </a:lnSpc>
              <a:spcBef>
                <a:spcPts val="400"/>
              </a:spcBef>
            </a:pPr>
            <a:r>
              <a:rPr sz="1700" b="1">
                <a:solidFill>
                  <a:srgbClr val="414D5C"/>
                </a:solidFill>
                <a:latin typeface="Arial"/>
              </a:rPr>
              <a:t>▸  </a:t>
            </a:r>
            <a:r>
              <a:rPr sz="1700" b="1">
                <a:solidFill>
                  <a:srgbClr val="242A33"/>
                </a:solidFill>
                <a:latin typeface="Arial"/>
              </a:rPr>
              <a:t>Drift #3 </a:t>
            </a:r>
            <a:r>
              <a:rPr sz="1700">
                <a:solidFill>
                  <a:srgbClr val="242A33"/>
                </a:solidFill>
                <a:latin typeface="Arial"/>
              </a:rPr>
              <a:t>— dead variable. FB_StationInspect declares ManualStep : INT; that nothing reads or writes.</a:t>
            </a:r>
          </a:p>
          <a:p>
            <a:pPr algn="l">
              <a:lnSpc>
                <a:spcPct val="130000"/>
              </a:lnSpc>
              <a:spcBef>
                <a:spcPts val="400"/>
              </a:spcBef>
            </a:pPr>
            <a:r>
              <a:rPr sz="1700" b="1">
                <a:solidFill>
                  <a:srgbClr val="414D5C"/>
                </a:solidFill>
                <a:latin typeface="Arial"/>
              </a:rPr>
              <a:t>▸  </a:t>
            </a:r>
            <a:r>
              <a:rPr sz="1700">
                <a:solidFill>
                  <a:srgbClr val="242A33"/>
                </a:solidFill>
                <a:latin typeface="Arial"/>
              </a:rPr>
              <a:t>These are pedagogical, not bugs. They're the setup for CR-1's reveal moment. Don't tidy them up before the workshop.</a:t>
            </a:r>
          </a:p>
        </p:txBody>
      </p:sp>
      <p:sp>
        <p:nvSpPr>
          <p:cNvPr id="3" name="Title 2"/>
          <p:cNvSpPr>
            <a:spLocks noGrp="1"/>
          </p:cNvSpPr>
          <p:nvPr>
            <p:ph type="title"/>
          </p:nvPr>
        </p:nvSpPr>
        <p:spPr/>
        <p:txBody>
          <a:bodyPr/>
          <a:lstStyle/>
          <a:p>
            <a:r>
              <a:t>Three deliberate drifts (don't fix them)</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1A WALKTHROUGH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Both work. Neither is wrong. They diverge for no reason.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r>
              <a:rPr sz="1600" b="0" i="0">
                <a:solidFill>
                  <a:srgbClr val="E6E8EB"/>
                </a:solidFill>
                <a:latin typeface="Consolas"/>
              </a:rPr>
              <a:t/>
            </a: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1A discussion prompt</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414D5C"/>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600" b="0" i="1">
                <a:solidFill>
                  <a:srgbClr val="414D5C"/>
                </a:solidFill>
                <a:latin typeface="Arial"/>
              </a:rPr>
              <a:t>Look at this code. 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627186"/>
                </a:solidFill>
                <a:latin typeface="Arial"/>
              </a:rPr>
              <a:t>— Anyone copied station 5 from station 4 and then had to fix four things? Hold on to that feeling — we're about to make it worse.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7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6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Requirement </a:t>
            </a:r>
            <a:r>
              <a:rPr sz="1700">
                <a:solidFill>
                  <a:srgbClr val="242A33"/>
                </a:solidFill>
                <a:latin typeface="Arial"/>
              </a:rPr>
              <a:t>— Add a global Pause input. When ModePause is TRUE, every station should hold.</a:t>
            </a:r>
          </a:p>
          <a:p>
            <a:pPr algn="l">
              <a:lnSpc>
                <a:spcPct val="130000"/>
              </a:lnSpc>
              <a:spcBef>
                <a:spcPts val="400"/>
              </a:spcBef>
            </a:pPr>
            <a:r>
              <a:rPr sz="1700" b="1">
                <a:solidFill>
                  <a:srgbClr val="414D5C"/>
                </a:solidFill>
                <a:latin typeface="Arial"/>
              </a:rPr>
              <a:t>▸  </a:t>
            </a:r>
            <a:r>
              <a:rPr sz="1700" b="1">
                <a:solidFill>
                  <a:srgbClr val="242A33"/>
                </a:solidFill>
                <a:latin typeface="Arial"/>
              </a:rPr>
              <a:t>Exception </a:t>
            </a:r>
            <a:r>
              <a:rPr sz="1700">
                <a:solidFill>
                  <a:srgbClr val="242A33"/>
                </a:solidFill>
                <a:latin typeface="Arial"/>
              </a:rPr>
              <a:t>— the Fill station must ignore Pause mid-cycle. Pausing a half-filled bottle ruins the product.</a:t>
            </a:r>
          </a:p>
          <a:p>
            <a:pPr algn="l">
              <a:lnSpc>
                <a:spcPct val="130000"/>
              </a:lnSpc>
              <a:spcBef>
                <a:spcPts val="400"/>
              </a:spcBef>
            </a:pPr>
            <a:r>
              <a:rPr sz="1700" b="1">
                <a:solidFill>
                  <a:srgbClr val="414D5C"/>
                </a:solidFill>
                <a:latin typeface="Arial"/>
              </a:rPr>
              <a:t>▸  </a:t>
            </a:r>
            <a:r>
              <a:rPr sz="1700" b="1">
                <a:solidFill>
                  <a:srgbClr val="242A33"/>
                </a:solidFill>
                <a:latin typeface="Arial"/>
              </a:rPr>
              <a:t>Why it hurts </a:t>
            </a:r>
            <a:r>
              <a:rPr sz="1700">
                <a:solidFill>
                  <a:srgbClr val="242A33"/>
                </a:solidFill>
                <a:latin typeface="Arial"/>
              </a:rPr>
              <a:t>— cross-cutting (every station), has an exception (Fill is special), feels small (one English sentence).</a:t>
            </a:r>
          </a:p>
          <a:p>
            <a:pPr algn="l">
              <a:lnSpc>
                <a:spcPct val="130000"/>
              </a:lnSpc>
              <a:spcBef>
                <a:spcPts val="400"/>
              </a:spcBef>
            </a:pPr>
            <a:r>
              <a:rPr sz="1700" b="1">
                <a:solidFill>
                  <a:srgbClr val="414D5C"/>
                </a:solidFill>
                <a:latin typeface="Arial"/>
              </a:rPr>
              <a:t>▸  </a:t>
            </a:r>
            <a:r>
              <a:rPr sz="1700" b="1">
                <a:solidFill>
                  <a:srgbClr val="242A33"/>
                </a:solidFill>
                <a:latin typeface="Arial"/>
              </a:rPr>
              <a:t>Half-applied state to start from </a:t>
            </a:r>
            <a:r>
              <a:rPr sz="1700">
                <a:solidFill>
                  <a:srgbClr val="242A33"/>
                </a:solidFill>
                <a:latin typeface="Arial"/>
              </a:rPr>
              <a:t>— git switch stage-1-broken. Compile error in MAIN tells you what's missing.</a:t>
            </a:r>
          </a:p>
          <a:p>
            <a:pPr algn="l">
              <a:lnSpc>
                <a:spcPct val="130000"/>
              </a:lnSpc>
              <a:spcBef>
                <a:spcPts val="400"/>
              </a:spcBef>
            </a:pPr>
            <a:r>
              <a:rPr sz="1700" b="1">
                <a:solidFill>
                  <a:srgbClr val="414D5C"/>
                </a:solidFill>
                <a:latin typeface="Arial"/>
              </a:rPr>
              <a:t>▸  </a:t>
            </a:r>
            <a:r>
              <a:rPr sz="1700">
                <a:solidFill>
                  <a:srgbClr val="242A33"/>
                </a:solidFill>
                <a:latin typeface="Arial"/>
              </a:rPr>
              <a:t>15-minute timer. Don't help. Walk the room.</a:t>
            </a:r>
          </a:p>
        </p:txBody>
      </p:sp>
      <p:sp>
        <p:nvSpPr>
          <p:cNvPr id="3" name="Title 2"/>
          <p:cNvSpPr>
            <a:spLocks noGrp="1"/>
          </p:cNvSpPr>
          <p:nvPr>
            <p:ph type="title"/>
          </p:nvPr>
        </p:nvSpPr>
        <p:spPr/>
        <p:txBody>
          <a:bodyPr/>
          <a:lstStyle/>
          <a:p>
            <a:r>
              <a:t>CR-1  ·  Add a Pause mode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1B  ·  CR-1 HANDS-ON (20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CR-1 the reveal moment</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600" b="0" i="1">
                <a:solidFill>
                  <a:srgbClr val="FFFFFF"/>
                </a:solidFill>
                <a:latin typeface="Arial"/>
              </a:rPr>
              <a:t>Quick check — how many of you copied your Pause logic into Label from Cap? From Fill? From Inspect?  Now: who has a level-based AlarmAck and who has an R_TRIG?</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That's the procedural maintenance trap. Drift you didn't even know was there. The system itself failed to enforce consistency.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 — the procedural blast radius</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414D5C"/>
                </a:solidFill>
                <a:latin typeface="Arial"/>
              </a:rPr>
              <a:t>5 files  ·  +50  −13</a:t>
            </a:r>
          </a:p>
        </p:txBody>
      </p:sp>
      <p:sp>
        <p:nvSpPr>
          <p:cNvPr id="6" name="Rectangle 5"/>
          <p:cNvSpPr/>
          <p:nvPr/>
        </p:nvSpPr>
        <p:spPr>
          <a:xfrm>
            <a:off x="0" y="310896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414D5C"/>
                </a:solidFill>
                <a:latin typeface="Arial"/>
              </a:rPr>
              <a:t>▸  </a:t>
            </a:r>
            <a:r>
              <a:rPr sz="1500" b="1">
                <a:solidFill>
                  <a:srgbClr val="242A33"/>
                </a:solidFill>
                <a:latin typeface="Arial"/>
              </a:rPr>
              <a:t>Five files modified </a:t>
            </a:r>
            <a:r>
              <a:rPr sz="1500">
                <a:solidFill>
                  <a:srgbClr val="242A33"/>
                </a:solidFill>
                <a:latin typeface="Arial"/>
              </a:rPr>
              <a:t>— every station gets a ModePause input and the same Pause guard.</a:t>
            </a:r>
          </a:p>
          <a:p>
            <a:pPr algn="l">
              <a:lnSpc>
                <a:spcPct val="130000"/>
              </a:lnSpc>
              <a:spcBef>
                <a:spcPts val="400"/>
              </a:spcBef>
            </a:pPr>
            <a:r>
              <a:rPr sz="1500" b="1">
                <a:solidFill>
                  <a:srgbClr val="414D5C"/>
                </a:solidFill>
                <a:latin typeface="Arial"/>
              </a:rPr>
              <a:t>▸  </a:t>
            </a:r>
            <a:r>
              <a:rPr sz="1500" b="1">
                <a:solidFill>
                  <a:srgbClr val="242A33"/>
                </a:solidFill>
                <a:latin typeface="Arial"/>
              </a:rPr>
              <a:t>Fill's exception </a:t>
            </a:r>
            <a:r>
              <a:rPr sz="1500">
                <a:solidFill>
                  <a:srgbClr val="242A33"/>
                </a:solidFill>
                <a:latin typeface="Arial"/>
              </a:rPr>
              <a:t>— a State &lt;&gt; 10 check on the guard, easy to miss, easy to copy wrong.</a:t>
            </a:r>
          </a:p>
          <a:p>
            <a:pPr algn="l">
              <a:lnSpc>
                <a:spcPct val="130000"/>
              </a:lnSpc>
              <a:spcBef>
                <a:spcPts val="400"/>
              </a:spcBef>
            </a:pPr>
            <a:r>
              <a:rPr sz="1500" b="1">
                <a:solidFill>
                  <a:srgbClr val="414D5C"/>
                </a:solidFill>
                <a:latin typeface="Arial"/>
              </a:rPr>
              <a:t>▸  </a:t>
            </a:r>
            <a:r>
              <a:rPr sz="1500" b="1">
                <a:solidFill>
                  <a:srgbClr val="242A33"/>
                </a:solidFill>
                <a:latin typeface="Arial"/>
              </a:rPr>
              <a:t>Same 25 lines of guard logic, paid four times </a:t>
            </a:r>
            <a:r>
              <a:rPr sz="1500">
                <a:solidFill>
                  <a:srgbClr val="242A33"/>
                </a:solidFill>
                <a:latin typeface="Arial"/>
              </a:rPr>
              <a:t>— that's the procedural cost shape.</a:t>
            </a:r>
          </a:p>
          <a:p>
            <a:pPr algn="l">
              <a:lnSpc>
                <a:spcPct val="130000"/>
              </a:lnSpc>
              <a:spcBef>
                <a:spcPts val="400"/>
              </a:spcBef>
            </a:pPr>
            <a:r>
              <a:rPr sz="1500" b="1">
                <a:solidFill>
                  <a:srgbClr val="414D5C"/>
                </a:solidFill>
                <a:latin typeface="Arial"/>
              </a:rPr>
              <a:t>▸  </a:t>
            </a:r>
            <a:r>
              <a:rPr sz="1500" b="1">
                <a:solidFill>
                  <a:srgbClr val="242A33"/>
                </a:solidFill>
                <a:latin typeface="Arial"/>
              </a:rPr>
              <a:t>Tomorrow's task </a:t>
            </a:r>
            <a:r>
              <a:rPr sz="1500">
                <a:solidFill>
                  <a:srgbClr val="242A33"/>
                </a:solidFill>
                <a:latin typeface="Arial"/>
              </a:rPr>
              <a:t>— the next CR also pays this cost. And the next. Forever.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7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6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Requirement </a:t>
            </a:r>
            <a:r>
              <a:rPr sz="1700">
                <a:solidFill>
                  <a:srgbClr val="242A33"/>
                </a:solidFill>
                <a:latin typeface="Arial"/>
              </a:rPr>
              <a:t>— Inspect must flag visual defects without stopping the line. Defects feed downstream sortation, not a fault chain.</a:t>
            </a:r>
          </a:p>
          <a:p>
            <a:pPr algn="l">
              <a:lnSpc>
                <a:spcPct val="130000"/>
              </a:lnSpc>
              <a:spcBef>
                <a:spcPts val="400"/>
              </a:spcBef>
            </a:pPr>
            <a:r>
              <a:rPr sz="1700" b="1">
                <a:solidFill>
                  <a:srgbClr val="414D5C"/>
                </a:solidFill>
                <a:latin typeface="Arial"/>
              </a:rPr>
              <a:t>▸  </a:t>
            </a:r>
            <a:r>
              <a:rPr sz="1700" b="1">
                <a:solidFill>
                  <a:srgbClr val="242A33"/>
                </a:solidFill>
                <a:latin typeface="Arial"/>
              </a:rPr>
              <a:t>AND </a:t>
            </a:r>
            <a:r>
              <a:rPr sz="1700">
                <a:solidFill>
                  <a:srgbClr val="242A33"/>
                </a:solidFill>
                <a:latin typeface="Arial"/>
              </a:rPr>
              <a:t>— Inspect must trigger the camera at the same time as it pre-arms the reject pusher, not sequentially.</a:t>
            </a:r>
          </a:p>
          <a:p>
            <a:pPr algn="l">
              <a:lnSpc>
                <a:spcPct val="130000"/>
              </a:lnSpc>
              <a:spcBef>
                <a:spcPts val="400"/>
              </a:spcBef>
            </a:pPr>
            <a:r>
              <a:rPr sz="1700" b="1">
                <a:solidFill>
                  <a:srgbClr val="414D5C"/>
                </a:solidFill>
                <a:latin typeface="Arial"/>
              </a:rPr>
              <a:t>▸  </a:t>
            </a:r>
            <a:r>
              <a:rPr sz="1700">
                <a:solidFill>
                  <a:srgbClr val="242A33"/>
                </a:solidFill>
                <a:latin typeface="Arial"/>
              </a:rPr>
              <a:t>Both changes apply only to Inspect. The other stations stay as-is.</a:t>
            </a:r>
          </a:p>
          <a:p>
            <a:pPr algn="l">
              <a:lnSpc>
                <a:spcPct val="130000"/>
              </a:lnSpc>
              <a:spcBef>
                <a:spcPts val="400"/>
              </a:spcBef>
            </a:pPr>
            <a:r>
              <a:rPr sz="1700" b="1">
                <a:solidFill>
                  <a:srgbClr val="414D5C"/>
                </a:solidFill>
                <a:latin typeface="Arial"/>
              </a:rPr>
              <a:t>▸  </a:t>
            </a:r>
            <a:r>
              <a:rPr sz="1700" b="1">
                <a:solidFill>
                  <a:srgbClr val="242A33"/>
                </a:solidFill>
                <a:latin typeface="Arial"/>
              </a:rPr>
              <a:t>Why it hurts </a:t>
            </a:r>
            <a:r>
              <a:rPr sz="1700">
                <a:solidFill>
                  <a:srgbClr val="242A33"/>
                </a:solidFill>
                <a:latin typeface="Arial"/>
              </a:rPr>
              <a:t>— two axes of variation at once. Alarm policy AND sequencer topology. Only one station, but the patterns have to coexist with the others.</a:t>
            </a:r>
          </a:p>
          <a:p>
            <a:pPr algn="l">
              <a:lnSpc>
                <a:spcPct val="130000"/>
              </a:lnSpc>
              <a:spcBef>
                <a:spcPts val="400"/>
              </a:spcBef>
            </a:pPr>
            <a:r>
              <a:rPr sz="1700" b="1">
                <a:solidFill>
                  <a:srgbClr val="414D5C"/>
                </a:solidFill>
                <a:latin typeface="Arial"/>
              </a:rPr>
              <a:t>▸  </a:t>
            </a:r>
            <a:r>
              <a:rPr sz="1700">
                <a:solidFill>
                  <a:srgbClr val="242A33"/>
                </a:solidFill>
                <a:latin typeface="Arial"/>
              </a:rPr>
              <a:t>15-minute timer. The attempt will be: rewriting Inspect's CASE machine end-to-end.</a:t>
            </a:r>
          </a:p>
        </p:txBody>
      </p:sp>
      <p:sp>
        <p:nvSpPr>
          <p:cNvPr id="3" name="Title 2"/>
          <p:cNvSpPr>
            <a:spLocks noGrp="1"/>
          </p:cNvSpPr>
          <p:nvPr>
            <p:ph type="title"/>
          </p:nvPr>
        </p:nvSpPr>
        <p:spPr/>
        <p:txBody>
          <a:bodyPr/>
          <a:lstStyle/>
          <a:p>
            <a:r>
              <a:t>CR-2  ·  Inspect: non-faulting alarm + parallel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1C  ·  CR-2 HANDS-ON (20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 — the procedural inline rewrite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414D5C"/>
                </a:solidFill>
                <a:latin typeface="Arial"/>
              </a:rPr>
              <a:t>2 files  ·  +92  −55</a:t>
            </a:r>
          </a:p>
        </p:txBody>
      </p:sp>
      <p:sp>
        <p:nvSpPr>
          <p:cNvPr id="6" name="Rectangle 5"/>
          <p:cNvSpPr/>
          <p:nvPr/>
        </p:nvSpPr>
        <p:spPr>
          <a:xfrm>
            <a:off x="0" y="310896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414D5C"/>
                </a:solidFill>
                <a:latin typeface="Arial"/>
              </a:rPr>
              <a:t>▸  </a:t>
            </a:r>
            <a:r>
              <a:rPr sz="1500" b="1">
                <a:solidFill>
                  <a:srgbClr val="242A33"/>
                </a:solidFill>
                <a:latin typeface="Arial"/>
              </a:rPr>
              <a:t>Inspect's CASE machine rewritten end-to-end </a:t>
            </a:r>
            <a:r>
              <a:rPr sz="1500">
                <a:solidFill>
                  <a:srgbClr val="242A33"/>
                </a:solidFill>
                <a:latin typeface="Arial"/>
              </a:rPr>
              <a:t>— CameraDone / RejectDone flags inside step 10, plus a RejectDelay timer.</a:t>
            </a:r>
          </a:p>
          <a:p>
            <a:pPr algn="l">
              <a:lnSpc>
                <a:spcPct val="130000"/>
              </a:lnSpc>
              <a:spcBef>
                <a:spcPts val="400"/>
              </a:spcBef>
            </a:pPr>
            <a:r>
              <a:rPr sz="1500" b="1">
                <a:solidFill>
                  <a:srgbClr val="414D5C"/>
                </a:solidFill>
                <a:latin typeface="Arial"/>
              </a:rPr>
              <a:t>▸  </a:t>
            </a:r>
            <a:r>
              <a:rPr sz="1500">
                <a:solidFill>
                  <a:srgbClr val="242A33"/>
                </a:solidFill>
                <a:latin typeface="Arial"/>
              </a:rPr>
              <a:t>New QualityFlag / QualityCode / QualityText outputs parallel the existing alarm fields.</a:t>
            </a:r>
          </a:p>
          <a:p>
            <a:pPr algn="l">
              <a:lnSpc>
                <a:spcPct val="130000"/>
              </a:lnSpc>
              <a:spcBef>
                <a:spcPts val="400"/>
              </a:spcBef>
            </a:pPr>
            <a:r>
              <a:rPr sz="1500" b="1">
                <a:solidFill>
                  <a:srgbClr val="414D5C"/>
                </a:solidFill>
                <a:latin typeface="Arial"/>
              </a:rPr>
              <a:t>▸  </a:t>
            </a:r>
            <a:r>
              <a:rPr sz="1500" b="1">
                <a:solidFill>
                  <a:srgbClr val="242A33"/>
                </a:solidFill>
                <a:latin typeface="Arial"/>
              </a:rPr>
              <a:t>AlarmActive output now ORs two sources </a:t>
            </a:r>
            <a:r>
              <a:rPr sz="1500">
                <a:solidFill>
                  <a:srgbClr val="242A33"/>
                </a:solidFill>
                <a:latin typeface="Arial"/>
              </a:rPr>
              <a:t>— the HMI now needs station-aware logic to interpret alarms.</a:t>
            </a:r>
          </a:p>
          <a:p>
            <a:pPr algn="l">
              <a:lnSpc>
                <a:spcPct val="130000"/>
              </a:lnSpc>
              <a:spcBef>
                <a:spcPts val="400"/>
              </a:spcBef>
            </a:pPr>
            <a:r>
              <a:rPr sz="1500" b="1">
                <a:solidFill>
                  <a:srgbClr val="414D5C"/>
                </a:solidFill>
                <a:latin typeface="Arial"/>
              </a:rPr>
              <a:t>▸  </a:t>
            </a:r>
            <a:r>
              <a:rPr sz="1500">
                <a:solidFill>
                  <a:srgbClr val="242A33"/>
                </a:solidFill>
                <a:latin typeface="Arial"/>
              </a:rPr>
              <a:t>The parallel coordination logic is buried in Inspect's CASE. Nothing the next station can reuse.</a:t>
            </a:r>
          </a:p>
          <a:p>
            <a:pPr algn="l">
              <a:lnSpc>
                <a:spcPct val="130000"/>
              </a:lnSpc>
              <a:spcBef>
                <a:spcPts val="400"/>
              </a:spcBef>
            </a:pPr>
            <a:r>
              <a:rPr sz="1500" b="1">
                <a:solidFill>
                  <a:srgbClr val="414D5C"/>
                </a:solidFill>
                <a:latin typeface="Arial"/>
              </a:rPr>
              <a:t>▸  </a:t>
            </a:r>
            <a:r>
              <a:rPr sz="1500" b="1">
                <a:solidFill>
                  <a:srgbClr val="242A33"/>
                </a:solidFill>
                <a:latin typeface="Arial"/>
              </a:rPr>
              <a:t>That's the second procedural cost </a:t>
            </a:r>
            <a:r>
              <a:rPr sz="1500">
                <a:solidFill>
                  <a:srgbClr val="242A33"/>
                </a:solidFill>
                <a:latin typeface="Arial"/>
              </a:rPr>
              <a:t>— duplication of NEW patterns each time they appear.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Requirement </a:t>
            </a:r>
            <a:r>
              <a:rPr sz="1700">
                <a:solidFill>
                  <a:srgbClr val="242A33"/>
                </a:solidFill>
                <a:latin typeface="Arial"/>
              </a:rPr>
              <a:t>— log cycle completion data (station name, step, cycle time) for Fill and Inspect only. Cap and Label don't need it.</a:t>
            </a:r>
          </a:p>
          <a:p>
            <a:pPr algn="l">
              <a:lnSpc>
                <a:spcPct val="130000"/>
              </a:lnSpc>
              <a:spcBef>
                <a:spcPts val="400"/>
              </a:spcBef>
            </a:pPr>
            <a:r>
              <a:rPr sz="1700" b="1">
                <a:solidFill>
                  <a:srgbClr val="414D5C"/>
                </a:solidFill>
                <a:latin typeface="Arial"/>
              </a:rPr>
              <a:t>▸  </a:t>
            </a:r>
            <a:r>
              <a:rPr sz="1700" b="1">
                <a:solidFill>
                  <a:srgbClr val="242A33"/>
                </a:solidFill>
                <a:latin typeface="Arial"/>
              </a:rPr>
              <a:t>Why it hurts </a:t>
            </a:r>
            <a:r>
              <a:rPr sz="1700">
                <a:solidFill>
                  <a:srgbClr val="242A33"/>
                </a:solidFill>
                <a:latin typeface="Arial"/>
              </a:rPr>
              <a:t>— feature affects some children but not all. Looks trivial. Logger implementation will probably change later.</a:t>
            </a:r>
          </a:p>
          <a:p>
            <a:pPr algn="l">
              <a:lnSpc>
                <a:spcPct val="130000"/>
              </a:lnSpc>
              <a:spcBef>
                <a:spcPts val="400"/>
              </a:spcBef>
            </a:pPr>
            <a:r>
              <a:rPr sz="1700" b="1">
                <a:solidFill>
                  <a:srgbClr val="414D5C"/>
                </a:solidFill>
                <a:latin typeface="Arial"/>
              </a:rPr>
              <a:t>▸  </a:t>
            </a:r>
            <a:r>
              <a:rPr sz="1700">
                <a:solidFill>
                  <a:srgbClr val="242A33"/>
                </a:solidFill>
                <a:latin typeface="Arial"/>
              </a:rPr>
              <a:t>10-minute timer. The attempt will be: LogBuffer ARRAY[0..99] OF STRING(120) + LogIndex INT, identical code, copied into Fill and Inspect.</a:t>
            </a:r>
          </a:p>
          <a:p>
            <a:pPr algn="l">
              <a:lnSpc>
                <a:spcPct val="130000"/>
              </a:lnSpc>
              <a:spcBef>
                <a:spcPts val="400"/>
              </a:spcBef>
            </a:pPr>
            <a:r>
              <a:rPr sz="1700" b="1">
                <a:solidFill>
                  <a:srgbClr val="414D5C"/>
                </a:solidFill>
                <a:latin typeface="Arial"/>
              </a:rPr>
              <a:t>▸  </a:t>
            </a:r>
            <a:r>
              <a:rPr sz="1700">
                <a:solidFill>
                  <a:srgbClr val="242A33"/>
                </a:solidFill>
                <a:latin typeface="Arial"/>
              </a:rPr>
              <a:t>It will compile. It will work. It will cost you forever.</a:t>
            </a:r>
          </a:p>
        </p:txBody>
      </p:sp>
      <p:sp>
        <p:nvSpPr>
          <p:cNvPr id="3" name="Title 2"/>
          <p:cNvSpPr>
            <a:spLocks noGrp="1"/>
          </p:cNvSpPr>
          <p:nvPr>
            <p:ph type="title"/>
          </p:nvPr>
        </p:nvSpPr>
        <p:spPr/>
        <p:txBody>
          <a:bodyPr/>
          <a:lstStyle/>
          <a:p>
            <a:r>
              <a:t>CR-3  ·  Selective cycle logging</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1D  ·  CR-3 HANDS-ON (15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414D5C"/>
                </a:solidFill>
                <a:latin typeface="Arial"/>
              </a:rPr>
              <a:t>2 files  ·  +13  −3</a:t>
            </a:r>
          </a:p>
        </p:txBody>
      </p:sp>
      <p:sp>
        <p:nvSpPr>
          <p:cNvPr id="6" name="Rectangle 5"/>
          <p:cNvSpPr/>
          <p:nvPr/>
        </p:nvSpPr>
        <p:spPr>
          <a:xfrm>
            <a:off x="0" y="3108960"/>
            <a:ext cx="1097280" cy="457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414D5C"/>
                </a:solidFill>
                <a:latin typeface="Arial"/>
              </a:rPr>
              <a:t>▸  </a:t>
            </a:r>
            <a:r>
              <a:rPr sz="1500">
                <a:solidFill>
                  <a:srgbClr val="242A33"/>
                </a:solidFill>
                <a:latin typeface="Arial"/>
              </a:rPr>
              <a:t>Identical buffer code duplicated in Fill and Inspect. Two places to maintain.</a:t>
            </a:r>
          </a:p>
          <a:p>
            <a:pPr algn="l">
              <a:lnSpc>
                <a:spcPct val="130000"/>
              </a:lnSpc>
              <a:spcBef>
                <a:spcPts val="400"/>
              </a:spcBef>
            </a:pPr>
            <a:r>
              <a:rPr sz="1500" b="1">
                <a:solidFill>
                  <a:srgbClr val="414D5C"/>
                </a:solidFill>
                <a:latin typeface="Arial"/>
              </a:rPr>
              <a:t>▸  </a:t>
            </a:r>
            <a:r>
              <a:rPr sz="1500" b="1">
                <a:solidFill>
                  <a:srgbClr val="242A33"/>
                </a:solidFill>
                <a:latin typeface="Arial"/>
              </a:rPr>
              <a:t>Defend it as 'fine'? Some will. Now imagine logging changes in 6 months </a:t>
            </a:r>
            <a:r>
              <a:rPr sz="1500">
                <a:solidFill>
                  <a:srgbClr val="242A33"/>
                </a:solidFill>
                <a:latin typeface="Arial"/>
              </a:rPr>
              <a:t>— write to file instead of an in-memory buffer.</a:t>
            </a:r>
          </a:p>
          <a:p>
            <a:pPr algn="l">
              <a:lnSpc>
                <a:spcPct val="130000"/>
              </a:lnSpc>
              <a:spcBef>
                <a:spcPts val="400"/>
              </a:spcBef>
            </a:pPr>
            <a:r>
              <a:rPr sz="1500" b="1">
                <a:solidFill>
                  <a:srgbClr val="414D5C"/>
                </a:solidFill>
                <a:latin typeface="Arial"/>
              </a:rPr>
              <a:t>▸  </a:t>
            </a:r>
            <a:r>
              <a:rPr sz="1500" b="1">
                <a:solidFill>
                  <a:srgbClr val="242A33"/>
                </a:solidFill>
                <a:latin typeface="Arial"/>
              </a:rPr>
              <a:t>Where do you change the code? </a:t>
            </a:r>
            <a:r>
              <a:rPr sz="1500">
                <a:solidFill>
                  <a:srgbClr val="242A33"/>
                </a:solidFill>
                <a:latin typeface="Arial"/>
              </a:rPr>
              <a:t>— Two places. Forget one? — Drift.</a:t>
            </a:r>
          </a:p>
          <a:p>
            <a:pPr algn="l">
              <a:lnSpc>
                <a:spcPct val="130000"/>
              </a:lnSpc>
              <a:spcBef>
                <a:spcPts val="400"/>
              </a:spcBef>
            </a:pPr>
            <a:r>
              <a:rPr sz="1500" b="1">
                <a:solidFill>
                  <a:srgbClr val="414D5C"/>
                </a:solidFill>
                <a:latin typeface="Arial"/>
              </a:rPr>
              <a:t>▸  </a:t>
            </a:r>
            <a:r>
              <a:rPr sz="1500">
                <a:solidFill>
                  <a:srgbClr val="242A33"/>
                </a:solidFill>
                <a:latin typeface="Arial"/>
              </a:rPr>
              <a:t>Stage 1 wins on raw line count for CR-3. Loses on every other dimension that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414D5C"/>
                </a:solidFill>
                <a:latin typeface="Arial"/>
              </a:rPr>
              <a:t>▸  </a:t>
            </a:r>
            <a:r>
              <a:rPr sz="1700" b="1">
                <a:solidFill>
                  <a:srgbClr val="242A33"/>
                </a:solidFill>
                <a:latin typeface="Arial"/>
              </a:rPr>
              <a:t>Total Stage 1 diff after all three CRs </a:t>
            </a:r>
            <a:r>
              <a:rPr sz="1700">
                <a:solidFill>
                  <a:srgbClr val="242A33"/>
                </a:solidFill>
                <a:latin typeface="Arial"/>
              </a:rPr>
              <a:t>— git switch stage-1-complete &amp;&amp; git diff stage-1-procedural --stat — 5 files, +152, −66.</a:t>
            </a:r>
          </a:p>
          <a:p>
            <a:pPr algn="l">
              <a:lnSpc>
                <a:spcPct val="130000"/>
              </a:lnSpc>
              <a:spcBef>
                <a:spcPts val="400"/>
              </a:spcBef>
            </a:pPr>
            <a:r>
              <a:rPr sz="1700" b="1">
                <a:solidFill>
                  <a:srgbClr val="414D5C"/>
                </a:solidFill>
                <a:latin typeface="Arial"/>
              </a:rPr>
              <a:t>▸  </a:t>
            </a:r>
            <a:r>
              <a:rPr sz="1700">
                <a:solidFill>
                  <a:srgbClr val="242A33"/>
                </a:solidFill>
                <a:latin typeface="Arial"/>
              </a:rPr>
              <a:t>That's what your codebase looks like after a year of cross-cutting CRs. Five files modified, growth concentrated in Inspect, duplication on every cross-cutting concern.</a:t>
            </a:r>
          </a:p>
          <a:p>
            <a:pPr algn="l">
              <a:lnSpc>
                <a:spcPct val="130000"/>
              </a:lnSpc>
              <a:spcBef>
                <a:spcPts val="400"/>
              </a:spcBef>
            </a:pPr>
            <a:r>
              <a:rPr sz="1700" b="1">
                <a:solidFill>
                  <a:srgbClr val="414D5C"/>
                </a:solidFill>
                <a:latin typeface="Arial"/>
              </a:rPr>
              <a:t>▸  </a:t>
            </a:r>
            <a:r>
              <a:rPr sz="1700">
                <a:solidFill>
                  <a:srgbClr val="242A33"/>
                </a:solidFill>
                <a:latin typeface="Arial"/>
              </a:rPr>
              <a:t>Stage 1 isn't broken. It works. So why are we moving on?</a:t>
            </a:r>
          </a:p>
          <a:p>
            <a:pPr algn="l">
              <a:lnSpc>
                <a:spcPct val="130000"/>
              </a:lnSpc>
              <a:spcBef>
                <a:spcPts val="400"/>
              </a:spcBef>
            </a:pPr>
            <a:r>
              <a:rPr sz="1700" b="1">
                <a:solidFill>
                  <a:srgbClr val="414D5C"/>
                </a:solidFill>
                <a:latin typeface="Arial"/>
              </a:rPr>
              <a:t>▸  </a:t>
            </a:r>
            <a:r>
              <a:rPr sz="1700" b="1">
                <a:solidFill>
                  <a:srgbClr val="242A33"/>
                </a:solidFill>
                <a:latin typeface="Arial"/>
              </a:rPr>
              <a:t>Drift between files </a:t>
            </a:r>
            <a:r>
              <a:rPr sz="1700">
                <a:solidFill>
                  <a:srgbClr val="242A33"/>
                </a:solidFill>
                <a:latin typeface="Arial"/>
              </a:rPr>
              <a:t>— you saw it on CR-1.</a:t>
            </a:r>
          </a:p>
          <a:p>
            <a:pPr algn="l">
              <a:lnSpc>
                <a:spcPct val="130000"/>
              </a:lnSpc>
              <a:spcBef>
                <a:spcPts val="400"/>
              </a:spcBef>
            </a:pPr>
            <a:r>
              <a:rPr sz="1700" b="1">
                <a:solidFill>
                  <a:srgbClr val="414D5C"/>
                </a:solidFill>
                <a:latin typeface="Arial"/>
              </a:rPr>
              <a:t>▸  </a:t>
            </a:r>
            <a:r>
              <a:rPr sz="1700" b="1">
                <a:solidFill>
                  <a:srgbClr val="242A33"/>
                </a:solidFill>
                <a:latin typeface="Arial"/>
              </a:rPr>
              <a:t>Can't enforce consistency </a:t>
            </a:r>
            <a:r>
              <a:rPr sz="1700">
                <a:solidFill>
                  <a:srgbClr val="242A33"/>
                </a:solidFill>
                <a:latin typeface="Arial"/>
              </a:rPr>
              <a:t>— the architecture has no opinion.</a:t>
            </a:r>
          </a:p>
          <a:p>
            <a:pPr algn="l">
              <a:lnSpc>
                <a:spcPct val="130000"/>
              </a:lnSpc>
              <a:spcBef>
                <a:spcPts val="400"/>
              </a:spcBef>
            </a:pPr>
            <a:r>
              <a:rPr sz="1700" b="1">
                <a:solidFill>
                  <a:srgbClr val="414D5C"/>
                </a:solidFill>
                <a:latin typeface="Arial"/>
              </a:rPr>
              <a:t>▸  </a:t>
            </a:r>
            <a:r>
              <a:rPr sz="1700" b="1">
                <a:solidFill>
                  <a:srgbClr val="242A33"/>
                </a:solidFill>
                <a:latin typeface="Arial"/>
              </a:rPr>
              <a:t>Duplication compounds </a:t>
            </a:r>
            <a:r>
              <a:rPr sz="1700">
                <a:solidFill>
                  <a:srgbClr val="242A33"/>
                </a:solidFill>
                <a:latin typeface="Arial"/>
              </a:rPr>
              <a:t>— every new CR pays the same per-station tax.</a:t>
            </a:r>
          </a:p>
          <a:p>
            <a:pPr algn="l">
              <a:lnSpc>
                <a:spcPct val="130000"/>
              </a:lnSpc>
              <a:spcBef>
                <a:spcPts val="400"/>
              </a:spcBef>
            </a:pPr>
            <a:r>
              <a:rPr sz="1700" b="1">
                <a:solidFill>
                  <a:srgbClr val="414D5C"/>
                </a:solidFill>
                <a:latin typeface="Arial"/>
              </a:rPr>
              <a:t>▸  </a:t>
            </a:r>
            <a:r>
              <a:rPr sz="1700">
                <a:solidFill>
                  <a:srgbClr val="242A33"/>
                </a:solidFill>
                <a:latin typeface="Arial"/>
              </a:rPr>
              <a:t>Stage 2 fixes drift and consistency. We'll see what new problems it creates.</a:t>
            </a:r>
          </a:p>
        </p:txBody>
      </p:sp>
      <p:sp>
        <p:nvSpPr>
          <p:cNvPr id="3" name="Title 2"/>
          <p:cNvSpPr>
            <a:spLocks noGrp="1"/>
          </p:cNvSpPr>
          <p:nvPr>
            <p:ph type="title"/>
          </p:nvPr>
        </p:nvSpPr>
        <p:spPr/>
        <p:txBody>
          <a:bodyPr/>
          <a:lstStyle/>
          <a:p>
            <a:r>
              <a:t>Block 1 debrief — the year-from-now view</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414D5C"/>
                </a:solidFill>
                <a:latin typeface="Arial"/>
              </a:rPr>
              <a:t>BLOCK 1 · 1E DEBRIEF (15 MIN)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88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1800" b="0" i="1">
                <a:solidFill>
                  <a:srgbClr val="E5E8EC"/>
                </a:solidFill>
                <a:latin typeface="Arial"/>
              </a:rPr>
              <a:t>Don't shorten this. Coffee, bathroom, social conversation. The next block has the densest concept 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Stage 2 — Inheritance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627186"/>
                </a:solidFill>
                <a:latin typeface="Arial"/>
              </a:rPr>
              <a:t>70 min  ·  refactor walkthrough · CR-1 · CR-2 · CR-3 · debrief</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The duplication evaporates. You're a hero — for about 20 minutes.</a:t>
            </a:r>
          </a:p>
          <a:p>
            <a:pPr algn="l">
              <a:lnSpc>
                <a:spcPct val="140000"/>
              </a:lnSpc>
            </a:pPr>
            <a:r>
              <a:rPr sz="1600" b="0" i="1">
                <a:solidFill>
                  <a:srgbClr val="242A33"/>
                </a:solidFill>
                <a:latin typeface="Arial"/>
              </a:rPr>
              <a:t>Then CR-2 lands and you discover the base class you just built is now the constraint.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627186"/>
                </a:solidFill>
                <a:latin typeface="Arial"/>
              </a:rPr>
              <a:t>▸  </a:t>
            </a:r>
            <a:r>
              <a:rPr sz="1700" b="1">
                <a:solidFill>
                  <a:srgbClr val="242A33"/>
                </a:solidFill>
                <a:latin typeface="Arial"/>
              </a:rPr>
              <a:t>Origin </a:t>
            </a:r>
            <a:r>
              <a:rPr sz="1700">
                <a:solidFill>
                  <a:srgbClr val="242A33"/>
                </a:solidFill>
                <a:latin typeface="Arial"/>
              </a:rPr>
              <a:t>— Simula 67, Smalltalk 1972, then C++/Java made it the dominant OO style for two decades.</a:t>
            </a:r>
          </a:p>
          <a:p>
            <a:pPr algn="l">
              <a:lnSpc>
                <a:spcPct val="130000"/>
              </a:lnSpc>
              <a:spcBef>
                <a:spcPts val="400"/>
              </a:spcBef>
            </a:pPr>
            <a:r>
              <a:rPr sz="1700" b="1">
                <a:solidFill>
                  <a:srgbClr val="627186"/>
                </a:solidFill>
                <a:latin typeface="Arial"/>
              </a:rPr>
              <a:t>▸  </a:t>
            </a:r>
            <a:r>
              <a:rPr sz="1700" b="1">
                <a:solidFill>
                  <a:srgbClr val="242A33"/>
                </a:solidFill>
                <a:latin typeface="Arial"/>
              </a:rPr>
              <a:t>Mental model </a:t>
            </a:r>
            <a:r>
              <a:rPr sz="1700">
                <a:solidFill>
                  <a:srgbClr val="242A33"/>
                </a:solidFill>
                <a:latin typeface="Arial"/>
              </a:rPr>
              <a:t>— a base class encodes shared behavior; children specialize by overriding virtual methods.</a:t>
            </a:r>
          </a:p>
          <a:p>
            <a:pPr algn="l">
              <a:lnSpc>
                <a:spcPct val="130000"/>
              </a:lnSpc>
              <a:spcBef>
                <a:spcPts val="400"/>
              </a:spcBef>
            </a:pPr>
            <a:r>
              <a:rPr sz="1700" b="1">
                <a:solidFill>
                  <a:srgbClr val="627186"/>
                </a:solidFill>
                <a:latin typeface="Arial"/>
              </a:rPr>
              <a:t>▸  </a:t>
            </a:r>
            <a:r>
              <a:rPr sz="1700" b="1">
                <a:solidFill>
                  <a:srgbClr val="242A33"/>
                </a:solidFill>
                <a:latin typeface="Arial"/>
              </a:rPr>
              <a:t>TwinCAT support </a:t>
            </a:r>
            <a:r>
              <a:rPr sz="1700">
                <a:solidFill>
                  <a:srgbClr val="242A33"/>
                </a:solidFill>
                <a:latin typeface="Arial"/>
              </a:rPr>
              <a:t>— EXTENDS keyword, virtual methods (METHOD on the base, override in child), THIS^ vs SUPER^ for explicit dispatch, FB_init for construction-time parameters.</a:t>
            </a:r>
          </a:p>
          <a:p>
            <a:pPr algn="l">
              <a:lnSpc>
                <a:spcPct val="130000"/>
              </a:lnSpc>
              <a:spcBef>
                <a:spcPts val="400"/>
              </a:spcBef>
            </a:pPr>
            <a:r>
              <a:rPr sz="1700" b="1">
                <a:solidFill>
                  <a:srgbClr val="627186"/>
                </a:solidFill>
                <a:latin typeface="Arial"/>
              </a:rPr>
              <a:t>▸  </a:t>
            </a:r>
            <a:r>
              <a:rPr sz="1700" b="1">
                <a:solidFill>
                  <a:srgbClr val="242A33"/>
                </a:solidFill>
                <a:latin typeface="Arial"/>
              </a:rPr>
              <a:t>Framework grounding </a:t>
            </a:r>
            <a:r>
              <a:rPr sz="1700">
                <a:solidFill>
                  <a:srgbClr val="242A33"/>
                </a:solidFill>
                <a:latin typeface="Arial"/>
              </a:rPr>
              <a:t>— Stage 2 builds on Beckhoff USA's SPT-Libraries (FB_ComponentBase pattern). Production-grade, not academic.</a:t>
            </a:r>
          </a:p>
          <a:p>
            <a:pPr algn="l">
              <a:lnSpc>
                <a:spcPct val="130000"/>
              </a:lnSpc>
              <a:spcBef>
                <a:spcPts val="400"/>
              </a:spcBef>
            </a:pPr>
            <a:r>
              <a:rPr sz="1700" b="1">
                <a:solidFill>
                  <a:srgbClr val="627186"/>
                </a:solidFill>
                <a:latin typeface="Arial"/>
              </a:rPr>
              <a:t>▸  </a:t>
            </a:r>
            <a:r>
              <a:rPr sz="1700" b="1">
                <a:solidFill>
                  <a:srgbClr val="242A33"/>
                </a:solidFill>
                <a:latin typeface="Arial"/>
              </a:rPr>
              <a:t>The promise </a:t>
            </a:r>
            <a:r>
              <a:rPr sz="1700">
                <a:solidFill>
                  <a:srgbClr val="242A33"/>
                </a:solidFill>
                <a:latin typeface="Arial"/>
              </a:rPr>
              <a:t>— write the common path once. The catch — the common path becomes a constraint when ANY child needs to opt out.</a:t>
            </a:r>
          </a:p>
        </p:txBody>
      </p:sp>
      <p:sp>
        <p:nvSpPr>
          <p:cNvPr id="3" name="Title 2"/>
          <p:cNvSpPr>
            <a:spLocks noGrp="1"/>
          </p:cNvSpPr>
          <p:nvPr>
            <p:ph type="title"/>
          </p:nvPr>
        </p:nvSpPr>
        <p:spPr/>
        <p:txBody>
          <a:bodyPr/>
          <a:lstStyle/>
          <a:p>
            <a:r>
              <a:t>The inheritance paradigm in one slide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627186"/>
                </a:solidFill>
                <a:latin typeface="Arial"/>
              </a:rPr>
              <a:t>▸  </a:t>
            </a:r>
            <a:r>
              <a:rPr sz="1700">
                <a:solidFill>
                  <a:srgbClr val="242A33"/>
                </a:solidFill>
                <a:latin typeface="Arial"/>
              </a:rPr>
              <a:t>FB_StationFill went from ~110 lines to ~65. The shrinkage moved into FB_StationBase.</a:t>
            </a:r>
          </a:p>
          <a:p>
            <a:pPr algn="l">
              <a:lnSpc>
                <a:spcPct val="130000"/>
              </a:lnSpc>
              <a:spcBef>
                <a:spcPts val="400"/>
              </a:spcBef>
            </a:pPr>
            <a:r>
              <a:rPr sz="1700" b="1">
                <a:solidFill>
                  <a:srgbClr val="627186"/>
                </a:solidFill>
                <a:latin typeface="Arial"/>
              </a:rPr>
              <a:t>▸  </a:t>
            </a:r>
            <a:r>
              <a:rPr sz="1700" b="1">
                <a:solidFill>
                  <a:srgbClr val="242A33"/>
                </a:solidFill>
                <a:latin typeface="Arial"/>
              </a:rPr>
              <a:t>Mode block </a:t>
            </a:r>
            <a:r>
              <a:rPr sz="1700">
                <a:solidFill>
                  <a:srgbClr val="242A33"/>
                </a:solidFill>
                <a:latin typeface="Arial"/>
              </a:rPr>
              <a:t>— gone from each child, now on the base. One implementation; every station gets it.</a:t>
            </a:r>
          </a:p>
          <a:p>
            <a:pPr algn="l">
              <a:lnSpc>
                <a:spcPct val="130000"/>
              </a:lnSpc>
              <a:spcBef>
                <a:spcPts val="400"/>
              </a:spcBef>
            </a:pPr>
            <a:r>
              <a:rPr sz="1700" b="1">
                <a:solidFill>
                  <a:srgbClr val="627186"/>
                </a:solidFill>
                <a:latin typeface="Arial"/>
              </a:rPr>
              <a:t>▸  </a:t>
            </a:r>
            <a:r>
              <a:rPr sz="1700" b="1">
                <a:solidFill>
                  <a:srgbClr val="242A33"/>
                </a:solidFill>
                <a:latin typeface="Arial"/>
              </a:rPr>
              <a:t>Alarm-ack block </a:t>
            </a:r>
            <a:r>
              <a:rPr sz="1700">
                <a:solidFill>
                  <a:srgbClr val="242A33"/>
                </a:solidFill>
                <a:latin typeface="Arial"/>
              </a:rPr>
              <a:t>— gone from each child. Base normalizes to R_TRIG for everyone — drift fixed.</a:t>
            </a:r>
          </a:p>
          <a:p>
            <a:pPr algn="l">
              <a:lnSpc>
                <a:spcPct val="130000"/>
              </a:lnSpc>
              <a:spcBef>
                <a:spcPts val="400"/>
              </a:spcBef>
            </a:pPr>
            <a:r>
              <a:rPr sz="1700" b="1">
                <a:solidFill>
                  <a:srgbClr val="627186"/>
                </a:solidFill>
                <a:latin typeface="Arial"/>
              </a:rPr>
              <a:t>▸  </a:t>
            </a:r>
            <a:r>
              <a:rPr sz="1700" b="1">
                <a:solidFill>
                  <a:srgbClr val="242A33"/>
                </a:solidFill>
                <a:latin typeface="Arial"/>
              </a:rPr>
              <a:t>Reset block </a:t>
            </a:r>
            <a:r>
              <a:rPr sz="1700">
                <a:solidFill>
                  <a:srgbClr val="242A33"/>
                </a:solidFill>
                <a:latin typeface="Arial"/>
              </a:rPr>
              <a:t>— gone from each child. One implementation.</a:t>
            </a:r>
          </a:p>
          <a:p>
            <a:pPr algn="l">
              <a:lnSpc>
                <a:spcPct val="130000"/>
              </a:lnSpc>
              <a:spcBef>
                <a:spcPts val="400"/>
              </a:spcBef>
            </a:pPr>
            <a:r>
              <a:rPr sz="1700" b="1">
                <a:solidFill>
                  <a:srgbClr val="627186"/>
                </a:solidFill>
                <a:latin typeface="Arial"/>
              </a:rPr>
              <a:t>▸  </a:t>
            </a:r>
            <a:r>
              <a:rPr sz="1700" b="1">
                <a:solidFill>
                  <a:srgbClr val="242A33"/>
                </a:solidFill>
                <a:latin typeface="Arial"/>
              </a:rPr>
              <a:t>Step numbering </a:t>
            </a:r>
            <a:r>
              <a:rPr sz="1700">
                <a:solidFill>
                  <a:srgbClr val="242A33"/>
                </a:solidFill>
                <a:latin typeface="Arial"/>
              </a:rPr>
              <a:t>— Label normalized to 0/10/20/30. Drift #2 fixed.</a:t>
            </a:r>
          </a:p>
          <a:p>
            <a:pPr algn="l">
              <a:lnSpc>
                <a:spcPct val="130000"/>
              </a:lnSpc>
              <a:spcBef>
                <a:spcPts val="400"/>
              </a:spcBef>
            </a:pPr>
            <a:r>
              <a:rPr sz="1700" b="1">
                <a:solidFill>
                  <a:srgbClr val="627186"/>
                </a:solidFill>
                <a:latin typeface="Arial"/>
              </a:rPr>
              <a:t>▸  </a:t>
            </a:r>
            <a:r>
              <a:rPr sz="1700" b="1">
                <a:solidFill>
                  <a:srgbClr val="242A33"/>
                </a:solidFill>
                <a:latin typeface="Arial"/>
              </a:rPr>
              <a:t>Dead ManualStep </a:t>
            </a:r>
            <a:r>
              <a:rPr sz="1700">
                <a:solidFill>
                  <a:srgbClr val="242A33"/>
                </a:solidFill>
                <a:latin typeface="Arial"/>
              </a:rPr>
              <a:t>— wasn't on the base. Doesn't propagate. Drift #3 fixed.</a:t>
            </a:r>
          </a:p>
          <a:p>
            <a:pPr algn="l">
              <a:lnSpc>
                <a:spcPct val="130000"/>
              </a:lnSpc>
              <a:spcBef>
                <a:spcPts val="400"/>
              </a:spcBef>
            </a:pPr>
            <a:r>
              <a:rPr sz="1700" b="1">
                <a:solidFill>
                  <a:srgbClr val="627186"/>
                </a:solidFill>
                <a:latin typeface="Arial"/>
              </a:rPr>
              <a:t>▸  </a:t>
            </a:r>
            <a:r>
              <a:rPr sz="1700" b="1">
                <a:solidFill>
                  <a:srgbClr val="242A33"/>
                </a:solidFill>
                <a:latin typeface="Arial"/>
              </a:rPr>
              <a:t>What's left in the child </a:t>
            </a:r>
            <a:r>
              <a:rPr sz="1700">
                <a:solidFill>
                  <a:srgbClr val="242A33"/>
                </a:solidFill>
                <a:latin typeface="Arial"/>
              </a:rPr>
              <a:t>— the actual sequence (the only thing that varies) and a couple of overrides.</a:t>
            </a:r>
          </a:p>
        </p:txBody>
      </p:sp>
      <p:sp>
        <p:nvSpPr>
          <p:cNvPr id="3" name="Title 2"/>
          <p:cNvSpPr>
            <a:spLocks noGrp="1"/>
          </p:cNvSpPr>
          <p:nvPr>
            <p:ph type="title"/>
          </p:nvPr>
        </p:nvSpPr>
        <p:spPr/>
        <p:txBody>
          <a:bodyPr/>
          <a:lstStyle/>
          <a:p>
            <a:r>
              <a:t>Same code, same behavior, different architecture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Inheritance mechanics — the four things to recognize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FUNCTION_BLOCK FB_StationFill EXTENDS FB_StationBase</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   // passed to base's name field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700" b="0" i="1">
                <a:solidFill>
                  <a:srgbClr val="414D5C"/>
                </a:solidFill>
                <a:latin typeface="Arial"/>
              </a:rPr>
              <a:t>My junior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6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627186"/>
                </a:solidFill>
                <a:latin typeface="Arial"/>
              </a:rPr>
              <a:t>▸  </a:t>
            </a:r>
            <a:r>
              <a:rPr sz="1700">
                <a:solidFill>
                  <a:srgbClr val="242A33"/>
                </a:solidFill>
                <a:latin typeface="Arial"/>
              </a:rPr>
              <a:t>Same Pause requirement as Stage 1. Apply it via inheritance.</a:t>
            </a:r>
          </a:p>
          <a:p>
            <a:pPr algn="l">
              <a:lnSpc>
                <a:spcPct val="130000"/>
              </a:lnSpc>
              <a:spcBef>
                <a:spcPts val="400"/>
              </a:spcBef>
            </a:pPr>
            <a:r>
              <a:rPr sz="1700" b="1">
                <a:solidFill>
                  <a:srgbClr val="627186"/>
                </a:solidFill>
                <a:latin typeface="Arial"/>
              </a:rPr>
              <a:t>▸  </a:t>
            </a:r>
            <a:r>
              <a:rPr sz="1700">
                <a:solidFill>
                  <a:srgbClr val="242A33"/>
                </a:solidFill>
                <a:latin typeface="Arial"/>
              </a:rPr>
              <a:t>10-minute timer. The attempt: most will add ModePause to the base's mode logic. Then they'll hit Fill's mid-cycle exception.</a:t>
            </a:r>
          </a:p>
          <a:p>
            <a:pPr algn="l">
              <a:lnSpc>
                <a:spcPct val="130000"/>
              </a:lnSpc>
              <a:spcBef>
                <a:spcPts val="400"/>
              </a:spcBef>
            </a:pPr>
            <a:r>
              <a:rPr sz="1700" b="1">
                <a:solidFill>
                  <a:srgbClr val="627186"/>
                </a:solidFill>
                <a:latin typeface="Arial"/>
              </a:rPr>
              <a:t>▸  </a:t>
            </a:r>
            <a:r>
              <a:rPr sz="1700" b="1">
                <a:solidFill>
                  <a:srgbClr val="242A33"/>
                </a:solidFill>
                <a:latin typeface="Arial"/>
              </a:rPr>
              <a:t>The two answers </a:t>
            </a:r>
            <a:r>
              <a:rPr sz="1700">
                <a:solidFill>
                  <a:srgbClr val="242A33"/>
                </a:solidFill>
                <a:latin typeface="Arial"/>
              </a:rPr>
              <a:t>— Option A: virtual AllowPause() on the base, override in Fill. Option B: Fill overrides Monitoring entirely.</a:t>
            </a:r>
          </a:p>
          <a:p>
            <a:pPr algn="l">
              <a:lnSpc>
                <a:spcPct val="130000"/>
              </a:lnSpc>
              <a:spcBef>
                <a:spcPts val="400"/>
              </a:spcBef>
            </a:pPr>
            <a:r>
              <a:rPr sz="1700" b="1">
                <a:solidFill>
                  <a:srgbClr val="627186"/>
                </a:solidFill>
                <a:latin typeface="Arial"/>
              </a:rPr>
              <a:t>▸  </a:t>
            </a:r>
            <a:r>
              <a:rPr sz="1700">
                <a:solidFill>
                  <a:srgbClr val="242A33"/>
                </a:solidFill>
                <a:latin typeface="Arial"/>
              </a:rPr>
              <a:t>Both are legitimate. Both are ugly in the same way.</a:t>
            </a:r>
          </a:p>
          <a:p>
            <a:pPr algn="l">
              <a:lnSpc>
                <a:spcPct val="130000"/>
              </a:lnSpc>
              <a:spcBef>
                <a:spcPts val="400"/>
              </a:spcBef>
            </a:pPr>
            <a:r>
              <a:rPr sz="1700" b="1">
                <a:solidFill>
                  <a:srgbClr val="627186"/>
                </a:solidFill>
                <a:latin typeface="Arial"/>
              </a:rPr>
              <a:t>▸  </a:t>
            </a:r>
            <a:r>
              <a:rPr sz="1700" b="1">
                <a:solidFill>
                  <a:srgbClr val="242A33"/>
                </a:solidFill>
                <a:latin typeface="Arial"/>
              </a:rPr>
              <a:t>Option A </a:t>
            </a:r>
            <a:r>
              <a:rPr sz="1700">
                <a:solidFill>
                  <a:srgbClr val="242A33"/>
                </a:solidFill>
                <a:latin typeface="Arial"/>
              </a:rPr>
              <a:t>— AllowPause exists for ONE child's exception, but Cap, Label, Inspect inherit it forever. Pollution.</a:t>
            </a:r>
          </a:p>
          <a:p>
            <a:pPr algn="l">
              <a:lnSpc>
                <a:spcPct val="130000"/>
              </a:lnSpc>
              <a:spcBef>
                <a:spcPts val="400"/>
              </a:spcBef>
            </a:pPr>
            <a:r>
              <a:rPr sz="1700" b="1">
                <a:solidFill>
                  <a:srgbClr val="627186"/>
                </a:solidFill>
                <a:latin typeface="Arial"/>
              </a:rPr>
              <a:t>▸  </a:t>
            </a:r>
            <a:r>
              <a:rPr sz="1700" b="1">
                <a:solidFill>
                  <a:srgbClr val="242A33"/>
                </a:solidFill>
                <a:latin typeface="Arial"/>
              </a:rPr>
              <a:t>Option B </a:t>
            </a:r>
            <a:r>
              <a:rPr sz="1700">
                <a:solidFill>
                  <a:srgbClr val="242A33"/>
                </a:solidFill>
                <a:latin typeface="Arial"/>
              </a:rPr>
              <a:t>— duplicates base mode logic in Fill. Drift risk.</a:t>
            </a:r>
          </a:p>
          <a:p>
            <a:pPr algn="l">
              <a:lnSpc>
                <a:spcPct val="130000"/>
              </a:lnSpc>
              <a:spcBef>
                <a:spcPts val="400"/>
              </a:spcBef>
            </a:pPr>
            <a:r>
              <a:rPr sz="1700" b="1">
                <a:solidFill>
                  <a:srgbClr val="627186"/>
                </a:solidFill>
                <a:latin typeface="Arial"/>
              </a:rPr>
              <a:t>▸  </a:t>
            </a:r>
            <a:r>
              <a:rPr sz="1700">
                <a:solidFill>
                  <a:srgbClr val="242A33"/>
                </a:solidFill>
                <a:latin typeface="Arial"/>
              </a:rPr>
              <a:t>Pick your poison. There's no clean way through.</a:t>
            </a:r>
          </a:p>
        </p:txBody>
      </p:sp>
      <p:sp>
        <p:nvSpPr>
          <p:cNvPr id="3" name="Title 2"/>
          <p:cNvSpPr>
            <a:spLocks noGrp="1"/>
          </p:cNvSpPr>
          <p:nvPr>
            <p:ph type="title"/>
          </p:nvPr>
        </p:nvSpPr>
        <p:spPr/>
        <p:txBody>
          <a:bodyPr/>
          <a:lstStyle/>
          <a:p>
            <a:r>
              <a:t>CR-1 — the inheritance way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2B  ·  CR-1 HANDS-ON (15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627186"/>
                </a:solidFill>
                <a:latin typeface="Arial"/>
              </a:rPr>
              <a:t>3 files  ·  +65  −48</a:t>
            </a:r>
          </a:p>
        </p:txBody>
      </p:sp>
      <p:sp>
        <p:nvSpPr>
          <p:cNvPr id="6" name="Rectangle 5"/>
          <p:cNvSpPr/>
          <p:nvPr/>
        </p:nvSpPr>
        <p:spPr>
          <a:xfrm>
            <a:off x="0" y="310896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627186"/>
                </a:solidFill>
                <a:latin typeface="Arial"/>
              </a:rPr>
              <a:t>▸  </a:t>
            </a:r>
            <a:r>
              <a:rPr sz="1500">
                <a:solidFill>
                  <a:srgbClr val="242A33"/>
                </a:solidFill>
                <a:latin typeface="Arial"/>
              </a:rPr>
              <a:t>Base gets a virtual AllowPause() method (default TRUE). Fill overrides to return (State &lt;&gt; 10).</a:t>
            </a:r>
          </a:p>
          <a:p>
            <a:pPr algn="l">
              <a:lnSpc>
                <a:spcPct val="130000"/>
              </a:lnSpc>
              <a:spcBef>
                <a:spcPts val="400"/>
              </a:spcBef>
            </a:pPr>
            <a:r>
              <a:rPr sz="1500" b="1">
                <a:solidFill>
                  <a:srgbClr val="627186"/>
                </a:solidFill>
                <a:latin typeface="Arial"/>
              </a:rPr>
              <a:t>▸  </a:t>
            </a:r>
            <a:r>
              <a:rPr sz="1500" b="1">
                <a:solidFill>
                  <a:srgbClr val="242A33"/>
                </a:solidFill>
                <a:latin typeface="Arial"/>
              </a:rPr>
              <a:t>Compared to Stage 1 (5 files / +50 / −13) </a:t>
            </a:r>
            <a:r>
              <a:rPr sz="1500">
                <a:solidFill>
                  <a:srgbClr val="242A33"/>
                </a:solidFill>
                <a:latin typeface="Arial"/>
              </a:rPr>
              <a:t>— Stage 2 touches fewer files but adds more lines.</a:t>
            </a:r>
          </a:p>
          <a:p>
            <a:pPr algn="l">
              <a:lnSpc>
                <a:spcPct val="130000"/>
              </a:lnSpc>
              <a:spcBef>
                <a:spcPts val="400"/>
              </a:spcBef>
            </a:pPr>
            <a:r>
              <a:rPr sz="1500" b="1">
                <a:solidFill>
                  <a:srgbClr val="627186"/>
                </a:solidFill>
                <a:latin typeface="Arial"/>
              </a:rPr>
              <a:t>▸  </a:t>
            </a:r>
            <a:r>
              <a:rPr sz="1500" b="1">
                <a:solidFill>
                  <a:srgbClr val="242A33"/>
                </a:solidFill>
                <a:latin typeface="Arial"/>
              </a:rPr>
              <a:t>The pollution is on the base </a:t>
            </a:r>
            <a:r>
              <a:rPr sz="1500">
                <a:solidFill>
                  <a:srgbClr val="242A33"/>
                </a:solidFill>
                <a:latin typeface="Arial"/>
              </a:rPr>
              <a:t>— visible to every reader, paid by every child, even Cap/Label/Inspect that have no exception.</a:t>
            </a:r>
          </a:p>
          <a:p>
            <a:pPr algn="l">
              <a:lnSpc>
                <a:spcPct val="130000"/>
              </a:lnSpc>
              <a:spcBef>
                <a:spcPts val="400"/>
              </a:spcBef>
            </a:pPr>
            <a:r>
              <a:rPr sz="1500" b="1">
                <a:solidFill>
                  <a:srgbClr val="627186"/>
                </a:solidFill>
                <a:latin typeface="Arial"/>
              </a:rPr>
              <a:t>▸  </a:t>
            </a:r>
            <a:r>
              <a:rPr sz="1500">
                <a:solidFill>
                  <a:srgbClr val="242A33"/>
                </a:solidFill>
                <a:latin typeface="Arial"/>
              </a:rPr>
              <a:t>Stage 1's pollution was scattered across stations. Stage 2's pollution is centralized. Which is worse?</a:t>
            </a:r>
          </a:p>
          <a:p>
            <a:pPr algn="l">
              <a:lnSpc>
                <a:spcPct val="130000"/>
              </a:lnSpc>
              <a:spcBef>
                <a:spcPts val="400"/>
              </a:spcBef>
            </a:pPr>
            <a:r>
              <a:rPr sz="1500" b="1">
                <a:solidFill>
                  <a:srgbClr val="627186"/>
                </a:solidFill>
                <a:latin typeface="Arial"/>
              </a:rPr>
              <a:t>▸  </a:t>
            </a:r>
            <a:r>
              <a:rPr sz="1500">
                <a:solidFill>
                  <a:srgbClr val="242A33"/>
                </a:solidFill>
                <a:latin typeface="Arial"/>
              </a:rPr>
              <a:t>There's no clear answer. That's the point. Inheritance trades one cost for another.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627186"/>
                </a:solidFill>
                <a:latin typeface="Arial"/>
              </a:rPr>
              <a:t>25 min  ·  the workshop's hardest moment</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Inspect: non-faulting alarm AND parallel state-10. Same as Stage 1, applied via inheritance.</a:t>
            </a:r>
          </a:p>
          <a:p>
            <a:pPr algn="l">
              <a:lnSpc>
                <a:spcPct val="140000"/>
              </a:lnSpc>
            </a:pPr>
            <a:r>
              <a:rPr sz="1600" b="0" i="1">
                <a:solidFill>
                  <a:srgbClr val="242A33"/>
                </a:solidFill>
                <a:latin typeface="Arial"/>
              </a:rPr>
              <a:t>Most attempts call SUPER^.Monitoring() and add quality logic after.</a:t>
            </a:r>
          </a:p>
          <a:p>
            <a:pPr algn="l">
              <a:lnSpc>
                <a:spcPct val="140000"/>
              </a:lnSpc>
            </a:pPr>
            <a:r>
              <a:rPr sz="1600" b="0" i="1">
                <a:solidFill>
                  <a:srgbClr val="242A33"/>
                </a:solidFill>
                <a:latin typeface="Arial"/>
              </a:rPr>
              <a:t>The base latches the alarm before the override gets a chance.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627186"/>
                </a:solidFill>
                <a:latin typeface="Arial"/>
              </a:rPr>
              <a:t>▸  </a:t>
            </a:r>
            <a:r>
              <a:rPr sz="1700" b="1">
                <a:solidFill>
                  <a:srgbClr val="242A33"/>
                </a:solidFill>
                <a:latin typeface="Arial"/>
              </a:rPr>
              <a:t>When does SUPER^.Monitoring() latch the alarm? </a:t>
            </a:r>
            <a:r>
              <a:rPr sz="1700">
                <a:solidFill>
                  <a:srgbClr val="242A33"/>
                </a:solidFill>
                <a:latin typeface="Arial"/>
              </a:rPr>
              <a:t>— every time RaiseStationAlarm is called.</a:t>
            </a:r>
          </a:p>
          <a:p>
            <a:pPr algn="l">
              <a:lnSpc>
                <a:spcPct val="130000"/>
              </a:lnSpc>
              <a:spcBef>
                <a:spcPts val="400"/>
              </a:spcBef>
            </a:pPr>
            <a:r>
              <a:rPr sz="1700" b="1">
                <a:solidFill>
                  <a:srgbClr val="627186"/>
                </a:solidFill>
                <a:latin typeface="Arial"/>
              </a:rPr>
              <a:t>▸  </a:t>
            </a:r>
            <a:r>
              <a:rPr sz="1700" b="1">
                <a:solidFill>
                  <a:srgbClr val="242A33"/>
                </a:solidFill>
                <a:latin typeface="Arial"/>
              </a:rPr>
              <a:t>What does the quality-flag policy say should happen? </a:t>
            </a:r>
            <a:r>
              <a:rPr sz="1700">
                <a:solidFill>
                  <a:srgbClr val="242A33"/>
                </a:solidFill>
                <a:latin typeface="Arial"/>
              </a:rPr>
              <a:t>— don't latch.</a:t>
            </a:r>
          </a:p>
          <a:p>
            <a:pPr algn="l">
              <a:lnSpc>
                <a:spcPct val="130000"/>
              </a:lnSpc>
              <a:spcBef>
                <a:spcPts val="400"/>
              </a:spcBef>
            </a:pPr>
            <a:r>
              <a:rPr sz="1700" b="1">
                <a:solidFill>
                  <a:srgbClr val="627186"/>
                </a:solidFill>
                <a:latin typeface="Arial"/>
              </a:rPr>
              <a:t>▸  </a:t>
            </a:r>
            <a:r>
              <a:rPr sz="1700" b="1">
                <a:solidFill>
                  <a:srgbClr val="242A33"/>
                </a:solidFill>
                <a:latin typeface="Arial"/>
              </a:rPr>
              <a:t>So what does that imply about calling SUPER? </a:t>
            </a:r>
            <a:r>
              <a:rPr sz="1700">
                <a:solidFill>
                  <a:srgbClr val="242A33"/>
                </a:solidFill>
                <a:latin typeface="Arial"/>
              </a:rPr>
              <a:t>— you can't.</a:t>
            </a:r>
          </a:p>
          <a:p>
            <a:pPr algn="l">
              <a:lnSpc>
                <a:spcPct val="130000"/>
              </a:lnSpc>
              <a:spcBef>
                <a:spcPts val="400"/>
              </a:spcBef>
            </a:pPr>
            <a:r>
              <a:rPr sz="1700" b="1">
                <a:solidFill>
                  <a:srgbClr val="627186"/>
                </a:solidFill>
                <a:latin typeface="Arial"/>
              </a:rPr>
              <a:t>▸  </a:t>
            </a:r>
            <a:r>
              <a:rPr sz="1700" b="1">
                <a:solidFill>
                  <a:srgbClr val="242A33"/>
                </a:solidFill>
                <a:latin typeface="Arial"/>
              </a:rPr>
              <a:t>But if you don't call SUPER, you lose the mode resolution and alarm-ack the base does </a:t>
            </a:r>
            <a:r>
              <a:rPr sz="1700">
                <a:solidFill>
                  <a:srgbClr val="242A33"/>
                </a:solidFill>
                <a:latin typeface="Arial"/>
              </a:rPr>
              <a:t>— so you have to duplicate them in your override.</a:t>
            </a:r>
          </a:p>
          <a:p>
            <a:pPr algn="l">
              <a:lnSpc>
                <a:spcPct val="130000"/>
              </a:lnSpc>
              <a:spcBef>
                <a:spcPts val="400"/>
              </a:spcBef>
            </a:pPr>
            <a:r>
              <a:rPr sz="1700" b="1">
                <a:solidFill>
                  <a:srgbClr val="627186"/>
                </a:solidFill>
                <a:latin typeface="Arial"/>
              </a:rPr>
              <a:t>▸  </a:t>
            </a:r>
            <a:r>
              <a:rPr sz="1700" b="1">
                <a:solidFill>
                  <a:srgbClr val="242A33"/>
                </a:solidFill>
                <a:latin typeface="Arial"/>
              </a:rPr>
              <a:t>The base class that helped you in Stage 1 → Stage 2 </a:t>
            </a:r>
            <a:r>
              <a:rPr sz="1700">
                <a:solidFill>
                  <a:srgbClr val="242A33"/>
                </a:solidFill>
                <a:latin typeface="Arial"/>
              </a:rPr>
              <a:t>— that compressed five files into one base — has now become the constraint.</a:t>
            </a:r>
          </a:p>
          <a:p>
            <a:pPr algn="l">
              <a:lnSpc>
                <a:spcPct val="130000"/>
              </a:lnSpc>
              <a:spcBef>
                <a:spcPts val="400"/>
              </a:spcBef>
            </a:pPr>
            <a:r>
              <a:rPr sz="1700" b="1">
                <a:solidFill>
                  <a:srgbClr val="627186"/>
                </a:solidFill>
                <a:latin typeface="Arial"/>
              </a:rPr>
              <a:t>▸  </a:t>
            </a:r>
            <a:r>
              <a:rPr sz="1700">
                <a:solidFill>
                  <a:srgbClr val="242A33"/>
                </a:solidFill>
                <a:latin typeface="Arial"/>
              </a:rPr>
              <a:t>This isn't your fault. It's a property of the design. Single inheritance is all-or-nothing.</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600" b="0" i="1">
                <a:solidFill>
                  <a:srgbClr val="FFFFFF"/>
                </a:solidFill>
                <a:latin typeface="Arial"/>
              </a:rPr>
              <a:t>Notice this isn't your fault. It's a property of the design. Single inheritance gives you ONE base. Whatever the base does, every child gets — unless the child reimplements that behavior in an override. There's no way to say 'inherit everything except the alarm policy.'</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The base class that helped Stage 1 → Stage 2 has now become the constraint. Inspect can't extend the base; it has to fight the base.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627186"/>
                </a:solidFill>
                <a:latin typeface="Arial"/>
              </a:rPr>
              <a:t>2 files  ·  +121  −48</a:t>
            </a:r>
          </a:p>
        </p:txBody>
      </p:sp>
      <p:sp>
        <p:nvSpPr>
          <p:cNvPr id="6" name="Rectangle 5"/>
          <p:cNvSpPr/>
          <p:nvPr/>
        </p:nvSpPr>
        <p:spPr>
          <a:xfrm>
            <a:off x="0" y="310896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627186"/>
                </a:solidFill>
                <a:latin typeface="Arial"/>
              </a:rPr>
              <a:t>▸  </a:t>
            </a:r>
            <a:r>
              <a:rPr sz="1500" b="1">
                <a:solidFill>
                  <a:srgbClr val="242A33"/>
                </a:solidFill>
                <a:latin typeface="Arial"/>
              </a:rPr>
              <a:t>Inspect overrides Monitoring WITHOUT calling SUPER </a:t>
            </a:r>
            <a:r>
              <a:rPr sz="1500">
                <a:solidFill>
                  <a:srgbClr val="242A33"/>
                </a:solidFill>
                <a:latin typeface="Arial"/>
              </a:rPr>
              <a:t>— the base would latch the alarm and stop the line.</a:t>
            </a:r>
          </a:p>
          <a:p>
            <a:pPr algn="l">
              <a:lnSpc>
                <a:spcPct val="130000"/>
              </a:lnSpc>
              <a:spcBef>
                <a:spcPts val="400"/>
              </a:spcBef>
            </a:pPr>
            <a:r>
              <a:rPr sz="1500" b="1">
                <a:solidFill>
                  <a:srgbClr val="627186"/>
                </a:solidFill>
                <a:latin typeface="Arial"/>
              </a:rPr>
              <a:t>▸  </a:t>
            </a:r>
            <a:r>
              <a:rPr sz="1500">
                <a:solidFill>
                  <a:srgbClr val="242A33"/>
                </a:solidFill>
                <a:latin typeface="Arial"/>
              </a:rPr>
              <a:t>The override is ~80 lines: re-implements mode resolution and alarm-ack from scratch in Inspect.</a:t>
            </a:r>
          </a:p>
          <a:p>
            <a:pPr algn="l">
              <a:lnSpc>
                <a:spcPct val="130000"/>
              </a:lnSpc>
              <a:spcBef>
                <a:spcPts val="400"/>
              </a:spcBef>
            </a:pPr>
            <a:r>
              <a:rPr sz="1500" b="1">
                <a:solidFill>
                  <a:srgbClr val="627186"/>
                </a:solidFill>
                <a:latin typeface="Arial"/>
              </a:rPr>
              <a:t>▸  </a:t>
            </a:r>
            <a:r>
              <a:rPr sz="1500">
                <a:solidFill>
                  <a:srgbClr val="242A33"/>
                </a:solidFill>
                <a:latin typeface="Arial"/>
              </a:rPr>
              <a:t>Future additions to base Monitoring won't auto-propagate. Every base change is now a 'did we update Inspect?' code review burden.</a:t>
            </a:r>
          </a:p>
          <a:p>
            <a:pPr algn="l">
              <a:lnSpc>
                <a:spcPct val="130000"/>
              </a:lnSpc>
              <a:spcBef>
                <a:spcPts val="400"/>
              </a:spcBef>
            </a:pPr>
            <a:r>
              <a:rPr sz="1500" b="1">
                <a:solidFill>
                  <a:srgbClr val="627186"/>
                </a:solidFill>
                <a:latin typeface="Arial"/>
              </a:rPr>
              <a:t>▸  </a:t>
            </a:r>
            <a:r>
              <a:rPr sz="1500" b="1">
                <a:solidFill>
                  <a:srgbClr val="242A33"/>
                </a:solidFill>
                <a:latin typeface="Arial"/>
              </a:rPr>
              <a:t>Compared to Stage 1 CR-2 (92 lines of inline rewrite) </a:t>
            </a:r>
            <a:r>
              <a:rPr sz="1500">
                <a:solidFill>
                  <a:srgbClr val="242A33"/>
                </a:solidFill>
                <a:latin typeface="Arial"/>
              </a:rPr>
              <a:t>— Stage 2 is WORSE on lines. The architecture made it harder, not easier.</a:t>
            </a:r>
          </a:p>
          <a:p>
            <a:pPr algn="l">
              <a:lnSpc>
                <a:spcPct val="130000"/>
              </a:lnSpc>
              <a:spcBef>
                <a:spcPts val="400"/>
              </a:spcBef>
            </a:pPr>
            <a:r>
              <a:rPr sz="1500" b="1">
                <a:solidFill>
                  <a:srgbClr val="627186"/>
                </a:solidFill>
                <a:latin typeface="Arial"/>
              </a:rPr>
              <a:t>▸  </a:t>
            </a:r>
            <a:r>
              <a:rPr sz="1500" b="1">
                <a:solidFill>
                  <a:srgbClr val="242A33"/>
                </a:solidFill>
                <a:latin typeface="Arial"/>
              </a:rPr>
              <a:t>Pre-emptive pushback: 'Use multiple inheritance.' </a:t>
            </a:r>
            <a:r>
              <a:rPr sz="1500">
                <a:solidFill>
                  <a:srgbClr val="242A33"/>
                </a:solidFill>
                <a:latin typeface="Arial"/>
              </a:rPr>
              <a:t>— TwinCAT doesn't support it; languages that do (C++, Python) have ugly issues with it (the diamond problem). Composition is the answer.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7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6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627186"/>
                </a:solidFill>
                <a:latin typeface="Arial"/>
              </a:rPr>
              <a:t>3 files  ·  +64  −25</a:t>
            </a:r>
          </a:p>
        </p:txBody>
      </p:sp>
      <p:sp>
        <p:nvSpPr>
          <p:cNvPr id="6" name="Rectangle 5"/>
          <p:cNvSpPr/>
          <p:nvPr/>
        </p:nvSpPr>
        <p:spPr>
          <a:xfrm>
            <a:off x="0" y="310896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627186"/>
                </a:solidFill>
                <a:latin typeface="Arial"/>
              </a:rPr>
              <a:t>▸  </a:t>
            </a:r>
            <a:r>
              <a:rPr sz="1500">
                <a:solidFill>
                  <a:srgbClr val="242A33"/>
                </a:solidFill>
                <a:latin typeface="Arial"/>
              </a:rPr>
              <a:t>FB_StationBase gets LogBuffer, LogIndex, LoggingEnabled virtual + LogCycleData helper.</a:t>
            </a:r>
          </a:p>
          <a:p>
            <a:pPr algn="l">
              <a:lnSpc>
                <a:spcPct val="130000"/>
              </a:lnSpc>
              <a:spcBef>
                <a:spcPts val="400"/>
              </a:spcBef>
            </a:pPr>
            <a:r>
              <a:rPr sz="1500" b="1">
                <a:solidFill>
                  <a:srgbClr val="627186"/>
                </a:solidFill>
                <a:latin typeface="Arial"/>
              </a:rPr>
              <a:t>▸  </a:t>
            </a:r>
            <a:r>
              <a:rPr sz="1500">
                <a:solidFill>
                  <a:srgbClr val="242A33"/>
                </a:solidFill>
                <a:latin typeface="Arial"/>
              </a:rPr>
              <a:t>Fill and Inspect override LoggingEnabled to return TRUE.</a:t>
            </a:r>
          </a:p>
          <a:p>
            <a:pPr algn="l">
              <a:lnSpc>
                <a:spcPct val="130000"/>
              </a:lnSpc>
              <a:spcBef>
                <a:spcPts val="400"/>
              </a:spcBef>
            </a:pPr>
            <a:r>
              <a:rPr sz="1500" b="1">
                <a:solidFill>
                  <a:srgbClr val="627186"/>
                </a:solidFill>
                <a:latin typeface="Arial"/>
              </a:rPr>
              <a:t>▸  </a:t>
            </a:r>
            <a:r>
              <a:rPr sz="1500" b="1">
                <a:solidFill>
                  <a:srgbClr val="242A33"/>
                </a:solidFill>
                <a:latin typeface="Arial"/>
              </a:rPr>
              <a:t>Cap and Label silently inherit the storage </a:t>
            </a:r>
            <a:r>
              <a:rPr sz="1500">
                <a:solidFill>
                  <a:srgbClr val="242A33"/>
                </a:solidFill>
                <a:latin typeface="Arial"/>
              </a:rPr>
              <a:t>— pay for memory they never use.</a:t>
            </a:r>
          </a:p>
          <a:p>
            <a:pPr algn="l">
              <a:lnSpc>
                <a:spcPct val="130000"/>
              </a:lnSpc>
              <a:spcBef>
                <a:spcPts val="400"/>
              </a:spcBef>
            </a:pPr>
            <a:r>
              <a:rPr sz="1500" b="1">
                <a:solidFill>
                  <a:srgbClr val="627186"/>
                </a:solidFill>
                <a:latin typeface="Arial"/>
              </a:rPr>
              <a:t>▸  </a:t>
            </a:r>
            <a:r>
              <a:rPr sz="1500">
                <a:solidFill>
                  <a:srgbClr val="242A33"/>
                </a:solidFill>
                <a:latin typeface="Arial"/>
              </a:rPr>
              <a:t>100 strings × 120 chars × 2 unused stations = 24KB. Academic at this scale; cognitive cost compounds.</a:t>
            </a:r>
          </a:p>
          <a:p>
            <a:pPr algn="l">
              <a:lnSpc>
                <a:spcPct val="130000"/>
              </a:lnSpc>
              <a:spcBef>
                <a:spcPts val="400"/>
              </a:spcBef>
            </a:pPr>
            <a:r>
              <a:rPr sz="1500" b="1">
                <a:solidFill>
                  <a:srgbClr val="627186"/>
                </a:solidFill>
                <a:latin typeface="Arial"/>
              </a:rPr>
              <a:t>▸  </a:t>
            </a:r>
            <a:r>
              <a:rPr sz="1500">
                <a:solidFill>
                  <a:srgbClr val="242A33"/>
                </a:solidFill>
                <a:latin typeface="Arial"/>
              </a:rPr>
              <a:t>Every reader of FB_StationBase has to understand why LogBuffer exists when half the children don't use it. Noise on the abstraction.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627186"/>
                </a:solidFill>
                <a:latin typeface="Arial"/>
              </a:rPr>
              <a:t>▸  </a:t>
            </a:r>
            <a:r>
              <a:rPr sz="1700" b="1">
                <a:solidFill>
                  <a:srgbClr val="242A33"/>
                </a:solidFill>
                <a:latin typeface="Arial"/>
              </a:rPr>
              <a:t>Total Stage 2 diff after all three CRs </a:t>
            </a:r>
            <a:r>
              <a:rPr sz="1700">
                <a:solidFill>
                  <a:srgbClr val="242A33"/>
                </a:solidFill>
                <a:latin typeface="Arial"/>
              </a:rPr>
              <a:t>— git switch stage-2-complete &amp;&amp; git diff stage-2-inheritance --stat — 4 files, +224, −65.</a:t>
            </a:r>
          </a:p>
          <a:p>
            <a:pPr algn="l">
              <a:lnSpc>
                <a:spcPct val="130000"/>
              </a:lnSpc>
              <a:spcBef>
                <a:spcPts val="400"/>
              </a:spcBef>
            </a:pPr>
            <a:r>
              <a:rPr sz="1700" b="1">
                <a:solidFill>
                  <a:srgbClr val="627186"/>
                </a:solidFill>
                <a:latin typeface="Arial"/>
              </a:rPr>
              <a:t>▸  </a:t>
            </a:r>
            <a:r>
              <a:rPr sz="1700">
                <a:solidFill>
                  <a:srgbClr val="242A33"/>
                </a:solidFill>
                <a:latin typeface="Arial"/>
              </a:rPr>
              <a:t>The base has accumulated ModePause, AllowPause virtual, LogBuffer, LogIndex, LoggingEnabled virtual, LogCycleData helper.</a:t>
            </a:r>
          </a:p>
          <a:p>
            <a:pPr algn="l">
              <a:lnSpc>
                <a:spcPct val="130000"/>
              </a:lnSpc>
              <a:spcBef>
                <a:spcPts val="400"/>
              </a:spcBef>
            </a:pPr>
            <a:r>
              <a:rPr sz="1700" b="1">
                <a:solidFill>
                  <a:srgbClr val="627186"/>
                </a:solidFill>
                <a:latin typeface="Arial"/>
              </a:rPr>
              <a:t>▸  </a:t>
            </a:r>
            <a:r>
              <a:rPr sz="1700">
                <a:solidFill>
                  <a:srgbClr val="242A33"/>
                </a:solidFill>
                <a:latin typeface="Arial"/>
              </a:rPr>
              <a:t>It started clean. Now it's a junk drawer. Every CR added another carve-out the base wasn't designed for.</a:t>
            </a:r>
          </a:p>
          <a:p>
            <a:pPr algn="l">
              <a:lnSpc>
                <a:spcPct val="130000"/>
              </a:lnSpc>
              <a:spcBef>
                <a:spcPts val="400"/>
              </a:spcBef>
            </a:pPr>
            <a:r>
              <a:rPr sz="1700" b="1">
                <a:solidFill>
                  <a:srgbClr val="627186"/>
                </a:solidFill>
                <a:latin typeface="Arial"/>
              </a:rPr>
              <a:t>▸  </a:t>
            </a:r>
            <a:r>
              <a:rPr sz="1700" b="1">
                <a:solidFill>
                  <a:srgbClr val="242A33"/>
                </a:solidFill>
                <a:latin typeface="Arial"/>
              </a:rPr>
              <a:t>Stage 2 fixed real Stage 1 problems </a:t>
            </a:r>
            <a:r>
              <a:rPr sz="1700">
                <a:solidFill>
                  <a:srgbClr val="242A33"/>
                </a:solidFill>
                <a:latin typeface="Arial"/>
              </a:rPr>
              <a:t>— drift, consistency, line count.</a:t>
            </a:r>
          </a:p>
          <a:p>
            <a:pPr algn="l">
              <a:lnSpc>
                <a:spcPct val="130000"/>
              </a:lnSpc>
              <a:spcBef>
                <a:spcPts val="400"/>
              </a:spcBef>
            </a:pPr>
            <a:r>
              <a:rPr sz="1700" b="1">
                <a:solidFill>
                  <a:srgbClr val="627186"/>
                </a:solidFill>
                <a:latin typeface="Arial"/>
              </a:rPr>
              <a:t>▸  </a:t>
            </a:r>
            <a:r>
              <a:rPr sz="1700" b="1">
                <a:solidFill>
                  <a:srgbClr val="242A33"/>
                </a:solidFill>
                <a:latin typeface="Arial"/>
              </a:rPr>
              <a:t>Stage 2 created new problems </a:t>
            </a:r>
            <a:r>
              <a:rPr sz="1700">
                <a:solidFill>
                  <a:srgbClr val="242A33"/>
                </a:solidFill>
                <a:latin typeface="Arial"/>
              </a:rPr>
              <a:t>— base-class pollution, SUPER-can't-be-called fragility, dead weight in unrelated children.</a:t>
            </a:r>
          </a:p>
          <a:p>
            <a:pPr algn="l">
              <a:lnSpc>
                <a:spcPct val="130000"/>
              </a:lnSpc>
              <a:spcBef>
                <a:spcPts val="400"/>
              </a:spcBef>
            </a:pPr>
            <a:r>
              <a:rPr sz="1700" b="1">
                <a:solidFill>
                  <a:srgbClr val="627186"/>
                </a:solidFill>
                <a:latin typeface="Arial"/>
              </a:rPr>
              <a:t>▸  </a:t>
            </a:r>
            <a:r>
              <a:rPr sz="1700">
                <a:solidFill>
                  <a:srgbClr val="242A33"/>
                </a:solidFill>
                <a:latin typeface="Arial"/>
              </a:rPr>
              <a:t>Stage 3 will keep what's good (clean abstractions, consistency enforcement) and fix what's wrong. Let's go.</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rIns="0" tIns="0" bIns="0" anchor="t">
            <a:spAutoFit/>
          </a:bodyPr>
          <a:lstStyle/>
          <a:p>
            <a:pPr algn="l">
              <a:lnSpc>
                <a:spcPct val="100000"/>
              </a:lnSpc>
            </a:pPr>
            <a:r>
              <a:rPr sz="88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rIns="0" tIns="0" bIns="0" anchor="t">
            <a:spAutoFit/>
          </a:bodyPr>
          <a:lstStyle/>
          <a:p>
            <a:pPr algn="l">
              <a:lnSpc>
                <a:spcPct val="140000"/>
              </a:lnSpc>
            </a:pPr>
            <a:r>
              <a:rPr sz="1800" b="0" i="1">
                <a:solidFill>
                  <a:srgbClr val="E5E8EC"/>
                </a:solidFill>
                <a:latin typeface="Arial"/>
              </a:rPr>
              <a:t>The longer of the two breaks if you can swing it. Block 3's emotional payoff lands harder if the room comes back fresh.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2D76AD"/>
                </a:solidFill>
                <a:latin typeface="Arial"/>
              </a:rPr>
              <a:t>70 min  ·  architecture · CR-1 · CR-2 swap demo · CR-3</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Build the line from interface-typed building blocks. CR-2 — the killer requirement that broke Stage 2 — becomes a one-line swap.</a:t>
            </a:r>
          </a:p>
          <a:p>
            <a:pPr algn="l">
              <a:lnSpc>
                <a:spcPct val="140000"/>
              </a:lnSpc>
            </a:pPr>
            <a:r>
              <a:rPr sz="1600" b="0" i="1">
                <a:solidFill>
                  <a:srgbClr val="242A33"/>
                </a:solidFill>
                <a:latin typeface="Arial"/>
              </a:rPr>
              <a:t>The patterns you just used get names: Strategy, Template Method, 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b="1">
                <a:solidFill>
                  <a:srgbClr val="242A33"/>
                </a:solidFill>
                <a:latin typeface="Arial"/>
              </a:rPr>
              <a:t>Origin </a:t>
            </a:r>
            <a:r>
              <a:rPr sz="1700">
                <a:solidFill>
                  <a:srgbClr val="242A33"/>
                </a:solidFill>
                <a:latin typeface="Arial"/>
              </a:rPr>
              <a:t>— Gang of Four 1994 ('favor composition over inheritance'); SOLID 2000s codified the design principles.</a:t>
            </a:r>
          </a:p>
          <a:p>
            <a:pPr algn="l">
              <a:lnSpc>
                <a:spcPct val="130000"/>
              </a:lnSpc>
              <a:spcBef>
                <a:spcPts val="400"/>
              </a:spcBef>
            </a:pPr>
            <a:r>
              <a:rPr sz="1700" b="1">
                <a:solidFill>
                  <a:srgbClr val="2D76AD"/>
                </a:solidFill>
                <a:latin typeface="Arial"/>
              </a:rPr>
              <a:t>▸  </a:t>
            </a:r>
            <a:r>
              <a:rPr sz="1700" b="1">
                <a:solidFill>
                  <a:srgbClr val="242A33"/>
                </a:solidFill>
                <a:latin typeface="Arial"/>
              </a:rPr>
              <a:t>Mental model </a:t>
            </a:r>
            <a:r>
              <a:rPr sz="1700">
                <a:solidFill>
                  <a:srgbClr val="242A33"/>
                </a:solidFill>
                <a:latin typeface="Arial"/>
              </a:rPr>
              <a:t>— small focused FBs talk through interfaces. Stations COMPOSE building blocks instead of EXTENDING a base.</a:t>
            </a:r>
          </a:p>
          <a:p>
            <a:pPr algn="l">
              <a:lnSpc>
                <a:spcPct val="130000"/>
              </a:lnSpc>
              <a:spcBef>
                <a:spcPts val="400"/>
              </a:spcBef>
            </a:pPr>
            <a:r>
              <a:rPr sz="1700" b="1">
                <a:solidFill>
                  <a:srgbClr val="2D76AD"/>
                </a:solidFill>
                <a:latin typeface="Arial"/>
              </a:rPr>
              <a:t>▸  </a:t>
            </a:r>
            <a:r>
              <a:rPr sz="1700" b="1">
                <a:solidFill>
                  <a:srgbClr val="242A33"/>
                </a:solidFill>
                <a:latin typeface="Arial"/>
              </a:rPr>
              <a:t>TwinCAT support </a:t>
            </a:r>
            <a:r>
              <a:rPr sz="1700">
                <a:solidFill>
                  <a:srgbClr val="242A33"/>
                </a:solidFill>
                <a:latin typeface="Arial"/>
              </a:rPr>
              <a:t>— INTERFACE keyword, IMPLEMENTS keyword, FB references typed by interface, FB_init for dependency injection.</a:t>
            </a:r>
          </a:p>
          <a:p>
            <a:pPr algn="l">
              <a:lnSpc>
                <a:spcPct val="130000"/>
              </a:lnSpc>
              <a:spcBef>
                <a:spcPts val="400"/>
              </a:spcBef>
            </a:pPr>
            <a:r>
              <a:rPr sz="1700" b="1">
                <a:solidFill>
                  <a:srgbClr val="2D76AD"/>
                </a:solidFill>
                <a:latin typeface="Arial"/>
              </a:rPr>
              <a:t>▸  </a:t>
            </a:r>
            <a:r>
              <a:rPr sz="1700" b="1">
                <a:solidFill>
                  <a:srgbClr val="242A33"/>
                </a:solidFill>
                <a:latin typeface="Arial"/>
              </a:rPr>
              <a:t>Framework grounding </a:t>
            </a:r>
            <a:r>
              <a:rPr sz="1700">
                <a:solidFill>
                  <a:srgbClr val="242A33"/>
                </a:solidFill>
                <a:latin typeface="Arial"/>
              </a:rPr>
              <a:t>— Beckhoff USA's Core / CoreComponents / MechatronicsCore libraries. I_Cyclic, I_Diagnostic component pattern. Production code.</a:t>
            </a:r>
          </a:p>
          <a:p>
            <a:pPr algn="l">
              <a:lnSpc>
                <a:spcPct val="130000"/>
              </a:lnSpc>
              <a:spcBef>
                <a:spcPts val="400"/>
              </a:spcBef>
            </a:pPr>
            <a:r>
              <a:rPr sz="1700" b="1">
                <a:solidFill>
                  <a:srgbClr val="2D76AD"/>
                </a:solidFill>
                <a:latin typeface="Arial"/>
              </a:rPr>
              <a:t>▸  </a:t>
            </a:r>
            <a:r>
              <a:rPr sz="1700" b="1">
                <a:solidFill>
                  <a:srgbClr val="242A33"/>
                </a:solidFill>
                <a:latin typeface="Arial"/>
              </a:rPr>
              <a:t>The promise </a:t>
            </a:r>
            <a:r>
              <a:rPr sz="1700">
                <a:solidFill>
                  <a:srgbClr val="242A33"/>
                </a:solidFill>
                <a:latin typeface="Arial"/>
              </a:rPr>
              <a:t>— variation by injection (different building block, same interface). The catch — more files, more concepts, more vocabulary.</a:t>
            </a:r>
          </a:p>
        </p:txBody>
      </p:sp>
      <p:sp>
        <p:nvSpPr>
          <p:cNvPr id="3" name="Title 2"/>
          <p:cNvSpPr>
            <a:spLocks noGrp="1"/>
          </p:cNvSpPr>
          <p:nvPr>
            <p:ph type="title"/>
          </p:nvPr>
        </p:nvSpPr>
        <p:spPr/>
        <p:txBody>
          <a:bodyPr/>
          <a:lstStyle/>
          <a:p>
            <a:r>
              <a:t>The composition paradigm in one slide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b="1">
                <a:solidFill>
                  <a:srgbClr val="242A33"/>
                </a:solidFill>
                <a:latin typeface="Arial"/>
              </a:rPr>
              <a:t>Interfaces (5 files) </a:t>
            </a:r>
            <a:r>
              <a:rPr sz="1700">
                <a:solidFill>
                  <a:srgbClr val="242A33"/>
                </a:solidFill>
                <a:latin typeface="Arial"/>
              </a:rPr>
              <a:t>— I_AlarmHandler, I_DataLogger, I_HmiReportable, I_Sequenceable, I_StationCore.</a:t>
            </a:r>
          </a:p>
          <a:p>
            <a:pPr algn="l">
              <a:lnSpc>
                <a:spcPct val="130000"/>
              </a:lnSpc>
              <a:spcBef>
                <a:spcPts val="400"/>
              </a:spcBef>
            </a:pPr>
            <a:r>
              <a:rPr sz="1700" b="1">
                <a:solidFill>
                  <a:srgbClr val="2D76AD"/>
                </a:solidFill>
                <a:latin typeface="Arial"/>
              </a:rPr>
              <a:t>▸  </a:t>
            </a:r>
            <a:r>
              <a:rPr sz="1700" b="1">
                <a:solidFill>
                  <a:srgbClr val="242A33"/>
                </a:solidFill>
                <a:latin typeface="Arial"/>
              </a:rPr>
              <a:t>Building blocks (~7 files) </a:t>
            </a:r>
            <a:r>
              <a:rPr sz="1700">
                <a:solidFill>
                  <a:srgbClr val="242A33"/>
                </a:solidFill>
                <a:latin typeface="Arial"/>
              </a:rPr>
              <a:t>— FB_AlarmHandler_LineFault, FB_AlarmHandler_QualityFlag, FB_CycleDataLogger, FB_ModeManager, FB_StepSequencer, FB_ParallelSequencer, …</a:t>
            </a:r>
          </a:p>
          <a:p>
            <a:pPr algn="l">
              <a:lnSpc>
                <a:spcPct val="130000"/>
              </a:lnSpc>
              <a:spcBef>
                <a:spcPts val="400"/>
              </a:spcBef>
            </a:pPr>
            <a:r>
              <a:rPr sz="1700" b="1">
                <a:solidFill>
                  <a:srgbClr val="2D76AD"/>
                </a:solidFill>
                <a:latin typeface="Arial"/>
              </a:rPr>
              <a:t>▸  </a:t>
            </a:r>
            <a:r>
              <a:rPr sz="1700" b="1">
                <a:solidFill>
                  <a:srgbClr val="242A33"/>
                </a:solidFill>
                <a:latin typeface="Arial"/>
              </a:rPr>
              <a:t>Stations (4 files) </a:t>
            </a:r>
            <a:r>
              <a:rPr sz="1700">
                <a:solidFill>
                  <a:srgbClr val="242A33"/>
                </a:solidFill>
                <a:latin typeface="Arial"/>
              </a:rPr>
              <a:t>— FB_StationFill, FB_StationCap, FB_StationLabel, FB_StationInspect — each composes building blocks.</a:t>
            </a:r>
          </a:p>
          <a:p>
            <a:pPr algn="l">
              <a:lnSpc>
                <a:spcPct val="130000"/>
              </a:lnSpc>
              <a:spcBef>
                <a:spcPts val="400"/>
              </a:spcBef>
            </a:pPr>
            <a:r>
              <a:rPr sz="1700" b="1">
                <a:solidFill>
                  <a:srgbClr val="2D76AD"/>
                </a:solidFill>
                <a:latin typeface="Arial"/>
              </a:rPr>
              <a:t>▸  </a:t>
            </a:r>
            <a:r>
              <a:rPr sz="1700" b="1">
                <a:solidFill>
                  <a:srgbClr val="242A33"/>
                </a:solidFill>
                <a:latin typeface="Arial"/>
              </a:rPr>
              <a:t>MAIN </a:t>
            </a:r>
            <a:r>
              <a:rPr sz="1700">
                <a:solidFill>
                  <a:srgbClr val="242A33"/>
                </a:solidFill>
                <a:latin typeface="Arial"/>
              </a:rPr>
              <a:t>— wires the dependency graph. The construction calls ARE the architecture.</a:t>
            </a:r>
          </a:p>
          <a:p>
            <a:pPr algn="l">
              <a:lnSpc>
                <a:spcPct val="130000"/>
              </a:lnSpc>
              <a:spcBef>
                <a:spcPts val="400"/>
              </a:spcBef>
            </a:pPr>
            <a:r>
              <a:rPr sz="1700" b="1">
                <a:solidFill>
                  <a:srgbClr val="2D76AD"/>
                </a:solidFill>
                <a:latin typeface="Arial"/>
              </a:rPr>
              <a:t>▸  </a:t>
            </a:r>
            <a:r>
              <a:rPr sz="1700">
                <a:solidFill>
                  <a:srgbClr val="242A33"/>
                </a:solidFill>
                <a:latin typeface="Arial"/>
              </a:rPr>
              <a:t>This looks like more code. Hold that judgment for one slide.</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INTERFACE I_AlarmHandler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That's it.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400" b="1">
                <a:solidFill>
                  <a:srgbClr val="2D76AD"/>
                </a:solidFill>
                <a:latin typeface="Arial"/>
              </a:rPr>
              <a:t>▸  </a:t>
            </a:r>
            <a:r>
              <a:rPr sz="1400" b="1">
                <a:solidFill>
                  <a:srgbClr val="242A33"/>
                </a:solidFill>
                <a:latin typeface="Arial"/>
              </a:rPr>
              <a:t>StopsLine </a:t>
            </a:r>
            <a:r>
              <a:rPr sz="1400">
                <a:solidFill>
                  <a:srgbClr val="242A33"/>
                </a:solidFill>
                <a:latin typeface="Arial"/>
              </a:rPr>
              <a:t>— returns TRUE.</a:t>
            </a:r>
          </a:p>
          <a:p>
            <a:pPr algn="l">
              <a:lnSpc>
                <a:spcPct val="130000"/>
              </a:lnSpc>
              <a:spcBef>
                <a:spcPts val="400"/>
              </a:spcBef>
            </a:pPr>
            <a:r>
              <a:rPr sz="1400" b="1">
                <a:solidFill>
                  <a:srgbClr val="2D76AD"/>
                </a:solidFill>
                <a:latin typeface="Arial"/>
              </a:rPr>
              <a:t>▸  </a:t>
            </a:r>
            <a:r>
              <a:rPr sz="1400" b="1">
                <a:solidFill>
                  <a:srgbClr val="242A33"/>
                </a:solidFill>
                <a:latin typeface="Arial"/>
              </a:rPr>
              <a:t>Raise() </a:t>
            </a:r>
            <a:r>
              <a:rPr sz="1400">
                <a:solidFill>
                  <a:srgbClr val="242A33"/>
                </a:solidFill>
                <a:latin typeface="Arial"/>
              </a:rPr>
              <a:t>— latches Active flag, sets Code/Text, blocks downstream.</a:t>
            </a:r>
          </a:p>
          <a:p>
            <a:pPr algn="l">
              <a:lnSpc>
                <a:spcPct val="130000"/>
              </a:lnSpc>
              <a:spcBef>
                <a:spcPts val="400"/>
              </a:spcBef>
            </a:pPr>
            <a:r>
              <a:rPr sz="1400" b="1">
                <a:solidFill>
                  <a:srgbClr val="2D76AD"/>
                </a:solidFill>
                <a:latin typeface="Arial"/>
              </a:rPr>
              <a:t>▸  </a:t>
            </a:r>
            <a:r>
              <a:rPr sz="1400" b="1">
                <a:solidFill>
                  <a:srgbClr val="242A33"/>
                </a:solidFill>
                <a:latin typeface="Arial"/>
              </a:rPr>
              <a:t>Acknowledge() </a:t>
            </a:r>
            <a:r>
              <a:rPr sz="1400">
                <a:solidFill>
                  <a:srgbClr val="242A33"/>
                </a:solidFill>
                <a:latin typeface="Arial"/>
              </a:rPr>
              <a:t>— clears the latch (operator action required).</a:t>
            </a:r>
          </a:p>
          <a:p>
            <a:pPr algn="l">
              <a:lnSpc>
                <a:spcPct val="130000"/>
              </a:lnSpc>
              <a:spcBef>
                <a:spcPts val="400"/>
              </a:spcBef>
            </a:pPr>
            <a:r>
              <a:rPr sz="1400" b="1">
                <a:solidFill>
                  <a:srgbClr val="2D76AD"/>
                </a:solidFill>
                <a:latin typeface="Arial"/>
              </a:rPr>
              <a:t>▸  </a:t>
            </a:r>
            <a:r>
              <a:rPr sz="1400" b="1">
                <a:solidFill>
                  <a:srgbClr val="242A33"/>
                </a:solidFill>
                <a:latin typeface="Arial"/>
              </a:rPr>
              <a:t>Use this for </a:t>
            </a:r>
            <a:r>
              <a:rPr sz="1400">
                <a:solidFill>
                  <a:srgbClr val="242A33"/>
                </a:solidFill>
                <a:latin typeface="Arial"/>
              </a:rPr>
              <a:t>— real faults that should stop the line.</a:t>
            </a:r>
          </a:p>
          <a:p>
            <a:pPr algn="l">
              <a:lnSpc>
                <a:spcPct val="130000"/>
              </a:lnSpc>
              <a:spcBef>
                <a:spcPts val="400"/>
              </a:spcBef>
            </a:pPr>
            <a:r>
              <a:rPr sz="1400" b="1">
                <a:solidFill>
                  <a:srgbClr val="2D76AD"/>
                </a:solidFill>
                <a:latin typeface="Arial"/>
              </a:rPr>
              <a:t>▸  </a:t>
            </a:r>
            <a:r>
              <a:rPr sz="1400" b="1">
                <a:solidFill>
                  <a:srgbClr val="242A33"/>
                </a:solidFill>
                <a:latin typeface="Arial"/>
              </a:rPr>
              <a:t>What it tells the station </a:t>
            </a:r>
            <a:r>
              <a:rPr sz="1400">
                <a:solidFill>
                  <a:srgbClr val="242A33"/>
                </a:solidFill>
                <a:latin typeface="Arial"/>
              </a:rPr>
              <a:t>— 'something is wrong; halt.'</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400" b="1">
                <a:solidFill>
                  <a:srgbClr val="2D76AD"/>
                </a:solidFill>
                <a:latin typeface="Arial"/>
              </a:rPr>
              <a:t>▸  </a:t>
            </a:r>
            <a:r>
              <a:rPr sz="1400" b="1">
                <a:solidFill>
                  <a:srgbClr val="242A33"/>
                </a:solidFill>
                <a:latin typeface="Arial"/>
              </a:rPr>
              <a:t>StopsLine </a:t>
            </a:r>
            <a:r>
              <a:rPr sz="1400">
                <a:solidFill>
                  <a:srgbClr val="242A33"/>
                </a:solidFill>
                <a:latin typeface="Arial"/>
              </a:rPr>
              <a:t>— returns FALSE.</a:t>
            </a:r>
          </a:p>
          <a:p>
            <a:pPr algn="l">
              <a:lnSpc>
                <a:spcPct val="130000"/>
              </a:lnSpc>
              <a:spcBef>
                <a:spcPts val="400"/>
              </a:spcBef>
            </a:pPr>
            <a:r>
              <a:rPr sz="1400" b="1">
                <a:solidFill>
                  <a:srgbClr val="2D76AD"/>
                </a:solidFill>
                <a:latin typeface="Arial"/>
              </a:rPr>
              <a:t>▸  </a:t>
            </a:r>
            <a:r>
              <a:rPr sz="1400" b="1">
                <a:solidFill>
                  <a:srgbClr val="242A33"/>
                </a:solidFill>
                <a:latin typeface="Arial"/>
              </a:rPr>
              <a:t>Raise() </a:t>
            </a:r>
            <a:r>
              <a:rPr sz="1400">
                <a:solidFill>
                  <a:srgbClr val="242A33"/>
                </a:solidFill>
                <a:latin typeface="Arial"/>
              </a:rPr>
              <a:t>— sets Code/Text, does NOT latch, does NOT block.</a:t>
            </a:r>
          </a:p>
          <a:p>
            <a:pPr algn="l">
              <a:lnSpc>
                <a:spcPct val="130000"/>
              </a:lnSpc>
              <a:spcBef>
                <a:spcPts val="400"/>
              </a:spcBef>
            </a:pPr>
            <a:r>
              <a:rPr sz="1400" b="1">
                <a:solidFill>
                  <a:srgbClr val="2D76AD"/>
                </a:solidFill>
                <a:latin typeface="Arial"/>
              </a:rPr>
              <a:t>▸  </a:t>
            </a:r>
            <a:r>
              <a:rPr sz="1400" b="1">
                <a:solidFill>
                  <a:srgbClr val="242A33"/>
                </a:solidFill>
                <a:latin typeface="Arial"/>
              </a:rPr>
              <a:t>Acknowledge() </a:t>
            </a:r>
            <a:r>
              <a:rPr sz="1400">
                <a:solidFill>
                  <a:srgbClr val="242A33"/>
                </a:solidFill>
                <a:latin typeface="Arial"/>
              </a:rPr>
              <a:t>— no-op (nothing to clear).</a:t>
            </a:r>
          </a:p>
          <a:p>
            <a:pPr algn="l">
              <a:lnSpc>
                <a:spcPct val="130000"/>
              </a:lnSpc>
              <a:spcBef>
                <a:spcPts val="400"/>
              </a:spcBef>
            </a:pPr>
            <a:r>
              <a:rPr sz="1400" b="1">
                <a:solidFill>
                  <a:srgbClr val="2D76AD"/>
                </a:solidFill>
                <a:latin typeface="Arial"/>
              </a:rPr>
              <a:t>▸  </a:t>
            </a:r>
            <a:r>
              <a:rPr sz="1400" b="1">
                <a:solidFill>
                  <a:srgbClr val="242A33"/>
                </a:solidFill>
                <a:latin typeface="Arial"/>
              </a:rPr>
              <a:t>Use this for </a:t>
            </a:r>
            <a:r>
              <a:rPr sz="1400">
                <a:solidFill>
                  <a:srgbClr val="242A33"/>
                </a:solidFill>
                <a:latin typeface="Arial"/>
              </a:rPr>
              <a:t>— quality defects that feed downstream sortation.</a:t>
            </a:r>
          </a:p>
          <a:p>
            <a:pPr algn="l">
              <a:lnSpc>
                <a:spcPct val="130000"/>
              </a:lnSpc>
              <a:spcBef>
                <a:spcPts val="400"/>
              </a:spcBef>
            </a:pPr>
            <a:r>
              <a:rPr sz="1400" b="1">
                <a:solidFill>
                  <a:srgbClr val="2D76AD"/>
                </a:solidFill>
                <a:latin typeface="Arial"/>
              </a:rPr>
              <a:t>▸  </a:t>
            </a:r>
            <a:r>
              <a:rPr sz="1400" b="1">
                <a:solidFill>
                  <a:srgbClr val="242A33"/>
                </a:solidFill>
                <a:latin typeface="Arial"/>
              </a:rPr>
              <a:t>What it tells the station </a:t>
            </a:r>
            <a:r>
              <a:rPr sz="1400">
                <a:solidFill>
                  <a:srgbClr val="242A33"/>
                </a:solidFill>
                <a:latin typeface="Arial"/>
              </a:rPr>
              <a:t>— 'note this part; keep running.'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r>
              <a:rPr sz="1200" b="0" i="0">
                <a:solidFill>
                  <a:srgbClr val="E6E8EB"/>
                </a:solidFill>
                <a:latin typeface="Consolas"/>
              </a:rPr>
              <a:t/>
            </a:r>
          </a:p>
          <a:p>
            <a:pPr algn="l">
              <a:lnSpc>
                <a:spcPct val="125000"/>
              </a:lnSpc>
            </a:pPr>
            <a:r>
              <a:rPr sz="1200" b="0" i="0">
                <a:solidFill>
                  <a:srgbClr val="E6E8EB"/>
                </a:solidFill>
                <a:latin typeface="Consolas"/>
              </a:rPr>
              <a:t>    // Each station receives its dependencies via FB_init</a:t>
            </a: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b="1">
                <a:solidFill>
                  <a:srgbClr val="242A33"/>
                </a:solidFill>
                <a:latin typeface="Arial"/>
              </a:rPr>
              <a:t>S </a:t>
            </a:r>
            <a:r>
              <a:rPr sz="1700">
                <a:solidFill>
                  <a:srgbClr val="242A33"/>
                </a:solidFill>
                <a:latin typeface="Arial"/>
              </a:rPr>
              <a:t>— Single Responsibility — every building block does ONE thing. FB_AlarmHandler latches. FB_CycleDataLogger logs. FB_StepSequencer sequences. None of them do two things.</a:t>
            </a:r>
          </a:p>
          <a:p>
            <a:pPr algn="l">
              <a:lnSpc>
                <a:spcPct val="130000"/>
              </a:lnSpc>
              <a:spcBef>
                <a:spcPts val="400"/>
              </a:spcBef>
            </a:pPr>
            <a:r>
              <a:rPr sz="1700" b="1">
                <a:solidFill>
                  <a:srgbClr val="2D76AD"/>
                </a:solidFill>
                <a:latin typeface="Arial"/>
              </a:rPr>
              <a:t>▸  </a:t>
            </a:r>
            <a:r>
              <a:rPr sz="1700" b="1">
                <a:solidFill>
                  <a:srgbClr val="242A33"/>
                </a:solidFill>
                <a:latin typeface="Arial"/>
              </a:rPr>
              <a:t>O </a:t>
            </a:r>
            <a:r>
              <a:rPr sz="1700">
                <a:solidFill>
                  <a:srgbClr val="242A33"/>
                </a:solidFill>
                <a:latin typeface="Arial"/>
              </a:rPr>
              <a:t>— Open/Closed — open to new alarm strategies (add another I_AlarmHandler implementation), closed to modification of the existing ones. CR-2 will demonstrate this directly.</a:t>
            </a:r>
          </a:p>
          <a:p>
            <a:pPr algn="l">
              <a:lnSpc>
                <a:spcPct val="130000"/>
              </a:lnSpc>
              <a:spcBef>
                <a:spcPts val="400"/>
              </a:spcBef>
            </a:pPr>
            <a:r>
              <a:rPr sz="1700" b="1">
                <a:solidFill>
                  <a:srgbClr val="2D76AD"/>
                </a:solidFill>
                <a:latin typeface="Arial"/>
              </a:rPr>
              <a:t>▸  </a:t>
            </a:r>
            <a:r>
              <a:rPr sz="1700" b="1">
                <a:solidFill>
                  <a:srgbClr val="242A33"/>
                </a:solidFill>
                <a:latin typeface="Arial"/>
              </a:rPr>
              <a:t>L </a:t>
            </a:r>
            <a:r>
              <a:rPr sz="1700">
                <a:solidFill>
                  <a:srgbClr val="242A33"/>
                </a:solidFill>
                <a:latin typeface="Arial"/>
              </a:rPr>
              <a:t>— Liskov Substitution — any I_AlarmHandler works anywhere I_AlarmHandler is expected. The station can't tell LineFault from QualityFlag.</a:t>
            </a:r>
          </a:p>
          <a:p>
            <a:pPr algn="l">
              <a:lnSpc>
                <a:spcPct val="130000"/>
              </a:lnSpc>
              <a:spcBef>
                <a:spcPts val="400"/>
              </a:spcBef>
            </a:pPr>
            <a:r>
              <a:rPr sz="1700" b="1">
                <a:solidFill>
                  <a:srgbClr val="2D76AD"/>
                </a:solidFill>
                <a:latin typeface="Arial"/>
              </a:rPr>
              <a:t>▸  </a:t>
            </a:r>
            <a:r>
              <a:rPr sz="1700" b="1">
                <a:solidFill>
                  <a:srgbClr val="242A33"/>
                </a:solidFill>
                <a:latin typeface="Arial"/>
              </a:rPr>
              <a:t>I </a:t>
            </a:r>
            <a:r>
              <a:rPr sz="1700">
                <a:solidFill>
                  <a:srgbClr val="242A33"/>
                </a:solidFill>
                <a:latin typeface="Arial"/>
              </a:rPr>
              <a:t>— Interface Segregation — HMI sees I_HmiReportable. Sequencer sees I_Sequenceable. Nobody sees the kitchen sink.</a:t>
            </a:r>
          </a:p>
          <a:p>
            <a:pPr algn="l">
              <a:lnSpc>
                <a:spcPct val="130000"/>
              </a:lnSpc>
              <a:spcBef>
                <a:spcPts val="400"/>
              </a:spcBef>
            </a:pPr>
            <a:r>
              <a:rPr sz="1700" b="1">
                <a:solidFill>
                  <a:srgbClr val="2D76AD"/>
                </a:solidFill>
                <a:latin typeface="Arial"/>
              </a:rPr>
              <a:t>▸  </a:t>
            </a:r>
            <a:r>
              <a:rPr sz="1700" b="1">
                <a:solidFill>
                  <a:srgbClr val="242A33"/>
                </a:solidFill>
                <a:latin typeface="Arial"/>
              </a:rPr>
              <a:t>D </a:t>
            </a:r>
            <a:r>
              <a:rPr sz="1700">
                <a:solidFill>
                  <a:srgbClr val="242A33"/>
                </a:solidFill>
                <a:latin typeface="Arial"/>
              </a:rPr>
              <a:t>— Dependency Inversion — stations depend on I_AlarmHandler (abstract), not on FB_AlarmHandler_LineFault (concrete). MAIN binds the concrete to the abstract.</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325880"/>
            <a:ext cx="9601200" cy="320040"/>
          </a:xfrm>
          <a:prstGeom prst="rect">
            <a:avLst/>
          </a:prstGeom>
          <a:noFill/>
        </p:spPr>
        <p:txBody>
          <a:bodyPr wrap="square" lIns="0" rIns="0" t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rIns="0" tIns="0" bIns="0" anchor="t">
            <a:spAutoFit/>
          </a:bodyPr>
          <a:lstStyle/>
          <a:p>
            <a:pPr algn="l">
              <a:lnSpc>
                <a:spcPct val="130000"/>
              </a:lnSpc>
            </a:pPr>
            <a:r>
              <a:rPr sz="17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3383280"/>
            <a:ext cx="9601200" cy="320040"/>
          </a:xfrm>
          <a:prstGeom prst="rect">
            <a:avLst/>
          </a:prstGeom>
          <a:noFill/>
        </p:spPr>
        <p:txBody>
          <a:bodyPr wrap="square" lIns="0" rIns="0" t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rIns="0" tIns="0" bIns="0" anchor="t">
            <a:spAutoFit/>
          </a:bodyPr>
          <a:lstStyle/>
          <a:p>
            <a:pPr algn="l">
              <a:lnSpc>
                <a:spcPct val="135000"/>
              </a:lnSpc>
            </a:pPr>
            <a:r>
              <a:rPr sz="16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CR-1 — the composition way (and Fill's exception comes free)</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2D76AD"/>
                </a:solidFill>
                <a:latin typeface="Arial"/>
              </a:rPr>
              <a:t>2 files  ·  +19  −6</a:t>
            </a:r>
          </a:p>
        </p:txBody>
      </p:sp>
      <p:sp>
        <p:nvSpPr>
          <p:cNvPr id="6" name="Rectangle 5"/>
          <p:cNvSpPr/>
          <p:nvPr/>
        </p:nvSpPr>
        <p:spPr>
          <a:xfrm>
            <a:off x="0" y="310896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2D76AD"/>
                </a:solidFill>
                <a:latin typeface="Arial"/>
              </a:rPr>
              <a:t>▸  </a:t>
            </a:r>
            <a:r>
              <a:rPr sz="1500">
                <a:solidFill>
                  <a:srgbClr val="242A33"/>
                </a:solidFill>
                <a:latin typeface="Arial"/>
              </a:rPr>
              <a:t>Just modify FB_ModeManager. Add ModePause input + Mode = 3 branch. Done.</a:t>
            </a:r>
          </a:p>
          <a:p>
            <a:pPr algn="l">
              <a:lnSpc>
                <a:spcPct val="130000"/>
              </a:lnSpc>
              <a:spcBef>
                <a:spcPts val="400"/>
              </a:spcBef>
            </a:pPr>
            <a:r>
              <a:rPr sz="1500" b="1">
                <a:solidFill>
                  <a:srgbClr val="2D76AD"/>
                </a:solidFill>
                <a:latin typeface="Arial"/>
              </a:rPr>
              <a:t>▸  </a:t>
            </a:r>
            <a:r>
              <a:rPr sz="1500" b="1">
                <a:solidFill>
                  <a:srgbClr val="242A33"/>
                </a:solidFill>
                <a:latin typeface="Arial"/>
              </a:rPr>
              <a:t>Stations are NOT touched </a:t>
            </a:r>
            <a:r>
              <a:rPr sz="1500">
                <a:solidFill>
                  <a:srgbClr val="242A33"/>
                </a:solidFill>
                <a:latin typeface="Arial"/>
              </a:rPr>
              <a:t>— they consult Mode.AllowRun, which already returns FALSE when paused.</a:t>
            </a:r>
          </a:p>
          <a:p>
            <a:pPr algn="l">
              <a:lnSpc>
                <a:spcPct val="130000"/>
              </a:lnSpc>
              <a:spcBef>
                <a:spcPts val="400"/>
              </a:spcBef>
            </a:pPr>
            <a:r>
              <a:rPr sz="1500" b="1">
                <a:solidFill>
                  <a:srgbClr val="2D76AD"/>
                </a:solidFill>
                <a:latin typeface="Arial"/>
              </a:rPr>
              <a:t>▸  </a:t>
            </a:r>
            <a:r>
              <a:rPr sz="1500" b="1">
                <a:solidFill>
                  <a:srgbClr val="242A33"/>
                </a:solidFill>
                <a:latin typeface="Arial"/>
              </a:rPr>
              <a:t>Fill's mid-cycle exception </a:t>
            </a:r>
            <a:r>
              <a:rPr sz="1500">
                <a:solidFill>
                  <a:srgbClr val="242A33"/>
                </a:solidFill>
                <a:latin typeface="Arial"/>
              </a:rPr>
              <a:t>— automatic. Fill's state-10 logic doesn't gate on AllowRun once started; it gates on Accumulated &gt;= TargetVolume.</a:t>
            </a:r>
          </a:p>
          <a:p>
            <a:pPr algn="l">
              <a:lnSpc>
                <a:spcPct val="130000"/>
              </a:lnSpc>
              <a:spcBef>
                <a:spcPts val="400"/>
              </a:spcBef>
            </a:pPr>
            <a:r>
              <a:rPr sz="1500" b="1">
                <a:solidFill>
                  <a:srgbClr val="2D76AD"/>
                </a:solidFill>
                <a:latin typeface="Arial"/>
              </a:rPr>
              <a:t>▸  </a:t>
            </a:r>
            <a:r>
              <a:rPr sz="1500">
                <a:solidFill>
                  <a:srgbClr val="242A33"/>
                </a:solidFill>
                <a:latin typeface="Arial"/>
              </a:rPr>
              <a:t>The right gating point was already in place. CR-1 didn't have to add new gating logic anywhere because the abstraction encoded the right behavior already.</a:t>
            </a:r>
          </a:p>
          <a:p>
            <a:pPr algn="l">
              <a:lnSpc>
                <a:spcPct val="130000"/>
              </a:lnSpc>
              <a:spcBef>
                <a:spcPts val="400"/>
              </a:spcBef>
            </a:pPr>
            <a:r>
              <a:rPr sz="1500" b="1">
                <a:solidFill>
                  <a:srgbClr val="2D76AD"/>
                </a:solidFill>
                <a:latin typeface="Arial"/>
              </a:rPr>
              <a:t>▸  </a:t>
            </a:r>
            <a:r>
              <a:rPr sz="1500">
                <a:solidFill>
                  <a:srgbClr val="242A33"/>
                </a:solidFill>
                <a:latin typeface="Arial"/>
              </a:rPr>
              <a:t>Compare to Stage 1 (5 files / +50 / −13) and Stage 2 (3 files / +65 / −48). The shape of the change matters more than the lines.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2D76AD"/>
                </a:solidFill>
                <a:latin typeface="Arial"/>
              </a:rPr>
              <a:t>20 min  ·  the workshop's emotional payoff</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One line in MAIN. Watch.</a:t>
            </a:r>
          </a:p>
          <a:p>
            <a:pPr algn="l">
              <a:lnSpc>
                <a:spcPct val="140000"/>
              </a:lnSpc>
            </a:pPr>
            <a:r>
              <a:rPr sz="1600" b="0" i="1">
                <a:solidFill>
                  <a:srgbClr val="242A33"/>
                </a:solidFill>
                <a:latin typeface="Arial"/>
              </a:rPr>
              <a:t>Then pause. Don't fill the silence.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82880" y="1325880"/>
            <a:ext cx="2743200" cy="274320"/>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rIns="0" tIns="0" bIns="0" anchor="t">
            <a:spAutoFit/>
          </a:bodyPr>
          <a:lstStyle/>
          <a:p>
            <a:pPr algn="l">
              <a:lnSpc>
                <a:spcPct val="125000"/>
              </a:lnSpc>
            </a:pPr>
            <a:r>
              <a:rPr sz="1300" b="0" i="0">
                <a:solidFill>
                  <a:srgbClr val="E6E8EB"/>
                </a:solidFill>
                <a:latin typeface="Consolas"/>
              </a:rPr>
              <a:t>// MAIN.TcPOU — find this line:</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Change to:</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r>
              <a:rPr sz="1300" b="0" i="0">
                <a:solidFill>
                  <a:srgbClr val="E6E8EB"/>
                </a:solidFill>
                <a:latin typeface="Consolas"/>
              </a:rPr>
              <a:t/>
            </a: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How is this possible? Because the alarm strategy is INJECTED, not</a:t>
            </a:r>
          </a:p>
          <a:p>
            <a:pPr algn="l">
              <a:lnSpc>
                <a:spcPct val="125000"/>
              </a:lnSpc>
            </a:pPr>
            <a:r>
              <a:rPr sz="1300" b="0" i="0">
                <a:solidFill>
                  <a:srgbClr val="E6E8EB"/>
                </a:solidFill>
                <a:latin typeface="Consolas"/>
              </a:rPr>
              <a:t>// hardcoded. Inspect depends on I_AlarmHandler — anything implementing</a:t>
            </a:r>
          </a:p>
          <a:p>
            <a:pPr algn="l">
              <a:lnSpc>
                <a:spcPct val="125000"/>
              </a:lnSpc>
            </a:pPr>
            <a:r>
              <a:rPr sz="1300" b="0" i="0">
                <a:solidFill>
                  <a:srgbClr val="E6E8EB"/>
                </a:solidFill>
                <a:latin typeface="Consolas"/>
              </a:rPr>
              <a:t>// that interface plugs 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 y="1097280"/>
            <a:ext cx="1828800" cy="2011680"/>
          </a:xfrm>
          <a:prstGeom prst="rect">
            <a:avLst/>
          </a:prstGeom>
          <a:noFill/>
        </p:spPr>
        <p:txBody>
          <a:bodyPr wrap="square" lIns="0" rIns="0" t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rIns="0" tIns="0" bIns="0" anchor="t">
            <a:spAutoFit/>
          </a:bodyPr>
          <a:lstStyle/>
          <a:p>
            <a:pPr algn="l">
              <a:lnSpc>
                <a:spcPct val="130000"/>
              </a:lnSpc>
            </a:pPr>
            <a:r>
              <a:rPr sz="2600" b="0" i="1">
                <a:solidFill>
                  <a:srgbClr val="FFFFFF"/>
                </a:solidFill>
                <a:latin typeface="Arial"/>
              </a:rPr>
              <a:t>Stage 1 CR-2: 92 lines of inline rewrite of one CASE machine.</a:t>
            </a:r>
          </a:p>
          <a:p>
            <a:pPr algn="l">
              <a:lnSpc>
                <a:spcPct val="130000"/>
              </a:lnSpc>
            </a:pPr>
            <a:r>
              <a:rPr sz="2600" b="0" i="1">
                <a:solidFill>
                  <a:srgbClr val="FFFFFF"/>
                </a:solidFill>
                <a:latin typeface="Arial"/>
              </a:rPr>
              <a:t>Stage 2 CR-2: 121 lines of override that fights the base.</a:t>
            </a:r>
          </a:p>
          <a:p>
            <a:pPr algn="l">
              <a:lnSpc>
                <a:spcPct val="130000"/>
              </a:lnSpc>
            </a:pPr>
            <a:r>
              <a:rPr sz="26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rIns="0" tIns="0" bIns="0" anchor="t">
            <a:spAutoFit/>
          </a:bodyPr>
          <a:lstStyle/>
          <a:p>
            <a:pPr algn="l">
              <a:lnSpc>
                <a:spcPct val="115000"/>
              </a:lnSpc>
            </a:pPr>
            <a:r>
              <a:rPr sz="1400" b="0" i="0">
                <a:solidFill>
                  <a:srgbClr val="E5E8EC"/>
                </a:solidFill>
                <a:latin typeface="Arial"/>
              </a:rPr>
              <a:t>— Same requirements, three architectures, different blast radius. The diff is the proof.</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a:solidFill>
                  <a:srgbClr val="242A33"/>
                </a:solidFill>
                <a:latin typeface="Arial"/>
              </a:rPr>
              <a:t>The swap was the headline. The hands-on completes the picture.</a:t>
            </a:r>
          </a:p>
          <a:p>
            <a:pPr algn="l">
              <a:lnSpc>
                <a:spcPct val="130000"/>
              </a:lnSpc>
              <a:spcBef>
                <a:spcPts val="400"/>
              </a:spcBef>
            </a:pPr>
            <a:r>
              <a:rPr sz="1700" b="1">
                <a:solidFill>
                  <a:srgbClr val="2D76AD"/>
                </a:solidFill>
                <a:latin typeface="Arial"/>
              </a:rPr>
              <a:t>▸  </a:t>
            </a:r>
            <a:r>
              <a:rPr sz="1700">
                <a:solidFill>
                  <a:srgbClr val="242A33"/>
                </a:solidFill>
                <a:latin typeface="Arial"/>
              </a:rPr>
              <a:t>Inspect also needs parallel state-10 (camera + reject pre-arm at the same time).</a:t>
            </a:r>
          </a:p>
          <a:p>
            <a:pPr algn="l">
              <a:lnSpc>
                <a:spcPct val="130000"/>
              </a:lnSpc>
              <a:spcBef>
                <a:spcPts val="400"/>
              </a:spcBef>
            </a:pPr>
            <a:r>
              <a:rPr sz="1700" b="1">
                <a:solidFill>
                  <a:srgbClr val="2D76AD"/>
                </a:solidFill>
                <a:latin typeface="Arial"/>
              </a:rPr>
              <a:t>▸  </a:t>
            </a:r>
            <a:r>
              <a:rPr sz="1700">
                <a:solidFill>
                  <a:srgbClr val="242A33"/>
                </a:solidFill>
                <a:latin typeface="Arial"/>
              </a:rPr>
              <a:t>Open FB_StationInspect.TcPOU. Compose FB_ParallelSequencer alongside FB_StepSequencer. Configure for 2 branches in FB_init. Rework state 10.</a:t>
            </a:r>
          </a:p>
          <a:p>
            <a:pPr algn="l">
              <a:lnSpc>
                <a:spcPct val="130000"/>
              </a:lnSpc>
              <a:spcBef>
                <a:spcPts val="400"/>
              </a:spcBef>
            </a:pPr>
            <a:r>
              <a:rPr sz="1700" b="1">
                <a:solidFill>
                  <a:srgbClr val="2D76AD"/>
                </a:solidFill>
                <a:latin typeface="Arial"/>
              </a:rPr>
              <a:t>▸  </a:t>
            </a:r>
            <a:r>
              <a:rPr sz="1700">
                <a:solidFill>
                  <a:srgbClr val="242A33"/>
                </a:solidFill>
                <a:latin typeface="Arial"/>
              </a:rPr>
              <a:t>10 minutes. Composition, not rewriting.</a:t>
            </a:r>
          </a:p>
          <a:p>
            <a:pPr algn="l">
              <a:lnSpc>
                <a:spcPct val="130000"/>
              </a:lnSpc>
              <a:spcBef>
                <a:spcPts val="400"/>
              </a:spcBef>
            </a:pPr>
            <a:r>
              <a:rPr sz="1700" b="1">
                <a:solidFill>
                  <a:srgbClr val="2D76AD"/>
                </a:solidFill>
                <a:latin typeface="Arial"/>
              </a:rPr>
              <a:t>▸  </a:t>
            </a:r>
            <a:r>
              <a:rPr sz="1700" b="1">
                <a:solidFill>
                  <a:srgbClr val="242A33"/>
                </a:solidFill>
                <a:latin typeface="Arial"/>
              </a:rPr>
              <a:t>Final diff </a:t>
            </a:r>
            <a:r>
              <a:rPr sz="1700">
                <a:solidFill>
                  <a:srgbClr val="242A33"/>
                </a:solidFill>
                <a:latin typeface="Arial"/>
              </a:rPr>
              <a:t>— 2 files modified. ~30 lines added, ~10 removed. No other stations touched.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rIns="0" t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rIns="0" tIns="0" bIns="0" anchor="t">
            <a:spAutoFit/>
          </a:bodyPr>
          <a:lstStyle/>
          <a:p>
            <a:pPr algn="l">
              <a:lnSpc>
                <a:spcPct val="100000"/>
              </a:lnSpc>
            </a:pPr>
            <a:r>
              <a:rPr sz="5800" b="1" i="0">
                <a:solidFill>
                  <a:srgbClr val="2D76AD"/>
                </a:solidFill>
                <a:latin typeface="Arial"/>
              </a:rPr>
              <a:t>3 files  ·  +32  −11</a:t>
            </a:r>
          </a:p>
        </p:txBody>
      </p:sp>
      <p:sp>
        <p:nvSpPr>
          <p:cNvPr id="6" name="Rectangle 5"/>
          <p:cNvSpPr/>
          <p:nvPr/>
        </p:nvSpPr>
        <p:spPr>
          <a:xfrm>
            <a:off x="0" y="310896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3383280"/>
            <a:ext cx="10012680" cy="2743200"/>
          </a:xfrm>
          <a:prstGeom prst="rect">
            <a:avLst/>
          </a:prstGeom>
          <a:noFill/>
        </p:spPr>
        <p:txBody>
          <a:bodyPr wrap="square" lIns="0" rIns="0" tIns="0" bIns="0">
            <a:spAutoFit/>
          </a:bodyPr>
          <a:lstStyle/>
          <a:p>
            <a:pPr algn="l">
              <a:lnSpc>
                <a:spcPct val="130000"/>
              </a:lnSpc>
            </a:pPr>
            <a:r>
              <a:rPr sz="1500" b="1">
                <a:solidFill>
                  <a:srgbClr val="2D76AD"/>
                </a:solidFill>
                <a:latin typeface="Arial"/>
              </a:rPr>
              <a:t>▸  </a:t>
            </a:r>
            <a:r>
              <a:rPr sz="1500">
                <a:solidFill>
                  <a:srgbClr val="242A33"/>
                </a:solidFill>
                <a:latin typeface="Arial"/>
              </a:rPr>
              <a:t>Add Logger : I_DataLogger field + DataLogger FB_init param to Fill and Inspect ONLY.</a:t>
            </a:r>
          </a:p>
          <a:p>
            <a:pPr algn="l">
              <a:lnSpc>
                <a:spcPct val="130000"/>
              </a:lnSpc>
              <a:spcBef>
                <a:spcPts val="400"/>
              </a:spcBef>
            </a:pPr>
            <a:r>
              <a:rPr sz="1500" b="1">
                <a:solidFill>
                  <a:srgbClr val="2D76AD"/>
                </a:solidFill>
                <a:latin typeface="Arial"/>
              </a:rPr>
              <a:t>▸  </a:t>
            </a:r>
            <a:r>
              <a:rPr sz="1500">
                <a:solidFill>
                  <a:srgbClr val="242A33"/>
                </a:solidFill>
                <a:latin typeface="Arial"/>
              </a:rPr>
              <a:t>MAIN constructs CycleLogger and passes it via DI.</a:t>
            </a:r>
          </a:p>
          <a:p>
            <a:pPr algn="l">
              <a:lnSpc>
                <a:spcPct val="130000"/>
              </a:lnSpc>
              <a:spcBef>
                <a:spcPts val="400"/>
              </a:spcBef>
            </a:pPr>
            <a:r>
              <a:rPr sz="1500" b="1">
                <a:solidFill>
                  <a:srgbClr val="2D76AD"/>
                </a:solidFill>
                <a:latin typeface="Arial"/>
              </a:rPr>
              <a:t>▸  </a:t>
            </a:r>
            <a:r>
              <a:rPr sz="1500" b="1">
                <a:solidFill>
                  <a:srgbClr val="242A33"/>
                </a:solidFill>
                <a:latin typeface="Arial"/>
              </a:rPr>
              <a:t>Cap and Label keep their original 4-arg FB_init signature </a:t>
            </a:r>
            <a:r>
              <a:rPr sz="1500">
                <a:solidFill>
                  <a:srgbClr val="242A33"/>
                </a:solidFill>
                <a:latin typeface="Arial"/>
              </a:rPr>
              <a:t>— DON'T touch them.</a:t>
            </a:r>
          </a:p>
          <a:p>
            <a:pPr algn="l">
              <a:lnSpc>
                <a:spcPct val="130000"/>
              </a:lnSpc>
              <a:spcBef>
                <a:spcPts val="400"/>
              </a:spcBef>
            </a:pPr>
            <a:r>
              <a:rPr sz="1500" b="1">
                <a:solidFill>
                  <a:srgbClr val="2D76AD"/>
                </a:solidFill>
                <a:latin typeface="Arial"/>
              </a:rPr>
              <a:t>▸  </a:t>
            </a:r>
            <a:r>
              <a:rPr sz="1500" b="1">
                <a:solidFill>
                  <a:srgbClr val="242A33"/>
                </a:solidFill>
                <a:latin typeface="Arial"/>
              </a:rPr>
              <a:t>Cap's logger storage lives nowhere </a:t>
            </a:r>
            <a:r>
              <a:rPr sz="1500">
                <a:solidFill>
                  <a:srgbClr val="242A33"/>
                </a:solidFill>
                <a:latin typeface="Arial"/>
              </a:rPr>
              <a:t>— Cap doesn't have a logger field.</a:t>
            </a:r>
          </a:p>
          <a:p>
            <a:pPr algn="l">
              <a:lnSpc>
                <a:spcPct val="130000"/>
              </a:lnSpc>
              <a:spcBef>
                <a:spcPts val="400"/>
              </a:spcBef>
            </a:pPr>
            <a:r>
              <a:rPr sz="1500" b="1">
                <a:solidFill>
                  <a:srgbClr val="2D76AD"/>
                </a:solidFill>
                <a:latin typeface="Arial"/>
              </a:rPr>
              <a:t>▸  </a:t>
            </a:r>
            <a:r>
              <a:rPr sz="1500">
                <a:solidFill>
                  <a:srgbClr val="242A33"/>
                </a:solidFill>
                <a:latin typeface="Arial"/>
              </a:rPr>
              <a:t>Swap from in-memory buffer to file-based logger? Replace FB_CycleDataLogger only. Stations don't change. MAIN doesn't change.</a:t>
            </a:r>
          </a:p>
          <a:p>
            <a:pPr algn="l">
              <a:lnSpc>
                <a:spcPct val="130000"/>
              </a:lnSpc>
              <a:spcBef>
                <a:spcPts val="400"/>
              </a:spcBef>
            </a:pPr>
            <a:r>
              <a:rPr sz="1500" b="1">
                <a:solidFill>
                  <a:srgbClr val="2D76AD"/>
                </a:solidFill>
                <a:latin typeface="Arial"/>
              </a:rPr>
              <a:t>▸  </a:t>
            </a:r>
            <a:r>
              <a:rPr sz="1500" b="1">
                <a:solidFill>
                  <a:srgbClr val="242A33"/>
                </a:solidFill>
                <a:latin typeface="Arial"/>
              </a:rPr>
              <a:t>Compare to Stage 2 (3 files / +64 / −25) </a:t>
            </a:r>
            <a:r>
              <a:rPr sz="1500">
                <a:solidFill>
                  <a:srgbClr val="242A33"/>
                </a:solidFill>
                <a:latin typeface="Arial"/>
              </a:rPr>
              <a:t>— same file count, half the lines, zero dead weight.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2D76AD"/>
                </a:solidFill>
                <a:latin typeface="Arial"/>
              </a:rPr>
              <a:t>▸  </a:t>
            </a:r>
            <a:r>
              <a:rPr sz="1700" b="1">
                <a:solidFill>
                  <a:srgbClr val="242A33"/>
                </a:solidFill>
                <a:latin typeface="Arial"/>
              </a:rPr>
              <a:t>git switch stage-3-broken </a:t>
            </a:r>
            <a:r>
              <a:rPr sz="1700">
                <a:solidFill>
                  <a:srgbClr val="242A33"/>
                </a:solidFill>
                <a:latin typeface="Arial"/>
              </a:rPr>
              <a:t>— same CR-1 (Pause), but applied via per-station guard logic instead of via FB_ModeManager.</a:t>
            </a:r>
          </a:p>
          <a:p>
            <a:pPr algn="l">
              <a:lnSpc>
                <a:spcPct val="130000"/>
              </a:lnSpc>
              <a:spcBef>
                <a:spcPts val="400"/>
              </a:spcBef>
            </a:pPr>
            <a:r>
              <a:rPr sz="1700" b="1">
                <a:solidFill>
                  <a:srgbClr val="2D76AD"/>
                </a:solidFill>
                <a:latin typeface="Arial"/>
              </a:rPr>
              <a:t>▸  </a:t>
            </a:r>
            <a:r>
              <a:rPr sz="1700" b="1">
                <a:solidFill>
                  <a:srgbClr val="242A33"/>
                </a:solidFill>
                <a:latin typeface="Arial"/>
              </a:rPr>
              <a:t>Compiles. Runs. Halts Fill mid-cycle </a:t>
            </a:r>
            <a:r>
              <a:rPr sz="1700">
                <a:solidFill>
                  <a:srgbClr val="242A33"/>
                </a:solidFill>
                <a:latin typeface="Arial"/>
              </a:rPr>
              <a:t>— the very failure mode CR-1 was designed to avoid.</a:t>
            </a:r>
          </a:p>
          <a:p>
            <a:pPr algn="l">
              <a:lnSpc>
                <a:spcPct val="130000"/>
              </a:lnSpc>
              <a:spcBef>
                <a:spcPts val="400"/>
              </a:spcBef>
            </a:pPr>
            <a:r>
              <a:rPr sz="1700" b="1">
                <a:solidFill>
                  <a:srgbClr val="2D76AD"/>
                </a:solidFill>
                <a:latin typeface="Arial"/>
              </a:rPr>
              <a:t>▸  </a:t>
            </a:r>
            <a:r>
              <a:rPr sz="1700">
                <a:solidFill>
                  <a:srgbClr val="242A33"/>
                </a:solidFill>
                <a:latin typeface="Arial"/>
              </a:rPr>
              <a:t>Architecture matters, but so does discipline. Composition gives you the tools to do it right. It doesn't force you to.</a:t>
            </a:r>
          </a:p>
          <a:p>
            <a:pPr algn="l">
              <a:lnSpc>
                <a:spcPct val="130000"/>
              </a:lnSpc>
              <a:spcBef>
                <a:spcPts val="400"/>
              </a:spcBef>
            </a:pPr>
            <a:r>
              <a:rPr sz="1700" b="1">
                <a:solidFill>
                  <a:srgbClr val="2D76AD"/>
                </a:solidFill>
                <a:latin typeface="Arial"/>
              </a:rPr>
              <a:t>▸  </a:t>
            </a:r>
            <a:r>
              <a:rPr sz="1700" b="1">
                <a:solidFill>
                  <a:srgbClr val="242A33"/>
                </a:solidFill>
                <a:latin typeface="Arial"/>
              </a:rPr>
              <a:t>The right architecture nudges you toward the right answer </a:t>
            </a:r>
            <a:r>
              <a:rPr sz="1700">
                <a:solidFill>
                  <a:srgbClr val="242A33"/>
                </a:solidFill>
                <a:latin typeface="Arial"/>
              </a:rPr>
              <a:t>— and the wrong-way alternative is loud (5-file diff) instead of quiet (1-file diff).</a:t>
            </a:r>
          </a:p>
        </p:txBody>
      </p:sp>
      <p:sp>
        <p:nvSpPr>
          <p:cNvPr id="3" name="Title 2"/>
          <p:cNvSpPr>
            <a:spLocks noGrp="1"/>
          </p:cNvSpPr>
          <p:nvPr>
            <p:ph type="title"/>
          </p:nvPr>
        </p:nvSpPr>
        <p:spPr/>
        <p:txBody>
          <a:bodyPr/>
          <a:lstStyle/>
          <a:p>
            <a:r>
              <a:t>Bonus — even composition can be applied poorly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000000"/>
                </a:solidFill>
                <a:latin typeface="Arial"/>
              </a:rPr>
              <a:t>20 min  ·  plan to overshoot</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The numbers from the diffs go on the board.</a:t>
            </a:r>
          </a:p>
          <a:p>
            <a:pPr algn="l">
              <a:lnSpc>
                <a:spcPct val="140000"/>
              </a:lnSpc>
            </a:pPr>
            <a:r>
              <a:rPr sz="1600" b="0" i="1">
                <a:solidFill>
                  <a:srgbClr val="242A33"/>
                </a:solidFill>
                <a:latin typeface="Arial"/>
              </a:rPr>
              <a:t>Discussion: when does each stage fit your real workload?</a:t>
            </a:r>
          </a:p>
          <a:p>
            <a:pPr algn="l">
              <a:lnSpc>
                <a:spcPct val="140000"/>
              </a:lnSpc>
            </a:pPr>
            <a:r>
              <a:rPr sz="1600" b="0" i="1">
                <a:solidFill>
                  <a:srgbClr val="242A33"/>
                </a:solidFill>
                <a:latin typeface="Arial"/>
              </a:rPr>
              <a:t>The vocabulary they'll take to customer conversations starts here.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79"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49240" y="1399031"/>
            <a:ext cx="214884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399031"/>
            <a:ext cx="2103120" cy="320040"/>
          </a:xfrm>
          <a:prstGeom prst="rect">
            <a:avLst/>
          </a:prstGeom>
          <a:noFill/>
        </p:spPr>
        <p:txBody>
          <a:bodyPr wrap="square" lIns="0" rIns="0" t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 y="1947672"/>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79"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49240" y="1947672"/>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1947672"/>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 y="2999232"/>
            <a:ext cx="2423160" cy="100584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79"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40" y="2999232"/>
            <a:ext cx="2148840" cy="100584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0" y="2999232"/>
            <a:ext cx="2103120" cy="100584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 y="4187951"/>
            <a:ext cx="2423160" cy="868680"/>
          </a:xfrm>
          <a:prstGeom prst="rect">
            <a:avLst/>
          </a:prstGeom>
          <a:noFill/>
        </p:spPr>
        <p:txBody>
          <a:bodyPr wrap="square" lIns="0" rIns="0" t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79"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4187951"/>
            <a:ext cx="2148840" cy="868680"/>
          </a:xfrm>
          <a:prstGeom prst="rect">
            <a:avLst/>
          </a:prstGeom>
          <a:noFill/>
        </p:spPr>
        <p:txBody>
          <a:bodyPr wrap="square" lIns="0" rIns="0" t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4187951"/>
            <a:ext cx="2103120" cy="868680"/>
          </a:xfrm>
          <a:prstGeom prst="rect">
            <a:avLst/>
          </a:prstGeom>
          <a:noFill/>
        </p:spPr>
        <p:txBody>
          <a:bodyPr wrap="square" lIns="0" rIns="0" t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43600"/>
            <a:ext cx="10012680" cy="457200"/>
          </a:xfrm>
          <a:prstGeom prst="rect">
            <a:avLst/>
          </a:prstGeom>
          <a:noFill/>
        </p:spPr>
        <p:txBody>
          <a:bodyPr wrap="square" lIns="0" rIns="0" tIns="0" bIns="0" anchor="t">
            <a:spAutoFit/>
          </a:bodyPr>
          <a:lstStyle/>
          <a:p>
            <a:pPr algn="l">
              <a:lnSpc>
                <a:spcPct val="115000"/>
              </a:lnSpc>
            </a:pPr>
            <a:r>
              <a:rPr sz="1300" b="0" i="1">
                <a:solidFill>
                  <a:srgbClr val="627186"/>
                </a:solidFill>
                <a:latin typeface="Arial"/>
              </a:rPr>
              <a:t>Stage 3 wins on every CR. The shape of the win matters more than the line count.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400" b="1">
                <a:solidFill>
                  <a:srgbClr val="000000"/>
                </a:solidFill>
                <a:latin typeface="Arial"/>
              </a:rPr>
              <a:t>▸  </a:t>
            </a:r>
            <a:r>
              <a:rPr sz="1400">
                <a:solidFill>
                  <a:srgbClr val="242A33"/>
                </a:solidFill>
                <a:latin typeface="Arial"/>
              </a:rPr>
              <a:t>Stage 1 wins on raw lines for CR-3 (13). But those 13 lines are duplicated identically in Fill and Inspect. The duplicate is permanent.</a:t>
            </a:r>
          </a:p>
          <a:p>
            <a:pPr algn="l">
              <a:lnSpc>
                <a:spcPct val="130000"/>
              </a:lnSpc>
              <a:spcBef>
                <a:spcPts val="400"/>
              </a:spcBef>
            </a:pPr>
            <a:r>
              <a:rPr sz="1400" b="1">
                <a:solidFill>
                  <a:srgbClr val="000000"/>
                </a:solidFill>
                <a:latin typeface="Arial"/>
              </a:rPr>
              <a:t>▸  </a:t>
            </a:r>
            <a:r>
              <a:rPr sz="1400">
                <a:solidFill>
                  <a:srgbClr val="242A33"/>
                </a:solidFill>
                <a:latin typeface="Arial"/>
              </a:rPr>
              <a:t>Stage 2 CR-2 only adds ~80 lines, but those 80 lines re-implement mode resolution and alarm-ack from scratch. The 'lines' are cheap; the FRAGILITY is expensive.</a:t>
            </a:r>
          </a:p>
          <a:p>
            <a:pPr algn="l">
              <a:lnSpc>
                <a:spcPct val="130000"/>
              </a:lnSpc>
              <a:spcBef>
                <a:spcPts val="400"/>
              </a:spcBef>
            </a:pPr>
            <a:r>
              <a:rPr sz="1400" b="1">
                <a:solidFill>
                  <a:srgbClr val="000000"/>
                </a:solidFill>
                <a:latin typeface="Arial"/>
              </a:rPr>
              <a:t>▸  </a:t>
            </a:r>
            <a:r>
              <a:rPr sz="1400" b="1">
                <a:solidFill>
                  <a:srgbClr val="242A33"/>
                </a:solidFill>
                <a:latin typeface="Arial"/>
              </a:rPr>
              <a:t>Stage 1 blast radius </a:t>
            </a:r>
            <a:r>
              <a:rPr sz="1400">
                <a:solidFill>
                  <a:srgbClr val="242A33"/>
                </a:solidFill>
                <a:latin typeface="Arial"/>
              </a:rPr>
              <a:t>— every change to a cross-cutting concern touches every station. CR-1 hit 5 files; the next 50 changes will hit ~5 files each.</a:t>
            </a:r>
          </a:p>
          <a:p>
            <a:pPr algn="l">
              <a:lnSpc>
                <a:spcPct val="130000"/>
              </a:lnSpc>
              <a:spcBef>
                <a:spcPts val="400"/>
              </a:spcBef>
            </a:pPr>
            <a:r>
              <a:rPr sz="1400" b="1">
                <a:solidFill>
                  <a:srgbClr val="000000"/>
                </a:solidFill>
                <a:latin typeface="Arial"/>
              </a:rPr>
              <a:t>▸  </a:t>
            </a:r>
            <a:r>
              <a:rPr sz="1400" b="1">
                <a:solidFill>
                  <a:srgbClr val="242A33"/>
                </a:solidFill>
                <a:latin typeface="Arial"/>
              </a:rPr>
              <a:t>Stage 2 blast radius </a:t>
            </a:r>
            <a:r>
              <a:rPr sz="1400">
                <a:solidFill>
                  <a:srgbClr val="242A33"/>
                </a:solidFill>
                <a:latin typeface="Arial"/>
              </a:rPr>
              <a:t>— common parts hit the base; station-specific parts hit one child. Until a child needs to opt out, in which case the base gets polluted.</a:t>
            </a:r>
          </a:p>
          <a:p>
            <a:pPr algn="l">
              <a:lnSpc>
                <a:spcPct val="130000"/>
              </a:lnSpc>
              <a:spcBef>
                <a:spcPts val="400"/>
              </a:spcBef>
            </a:pPr>
            <a:r>
              <a:rPr sz="1400" b="1">
                <a:solidFill>
                  <a:srgbClr val="000000"/>
                </a:solidFill>
                <a:latin typeface="Arial"/>
              </a:rPr>
              <a:t>▸  </a:t>
            </a:r>
            <a:r>
              <a:rPr sz="1400" b="1">
                <a:solidFill>
                  <a:srgbClr val="242A33"/>
                </a:solidFill>
                <a:latin typeface="Arial"/>
              </a:rPr>
              <a:t>Stage 3 blast radius </a:t>
            </a:r>
            <a:r>
              <a:rPr sz="1400">
                <a:solidFill>
                  <a:srgbClr val="242A33"/>
                </a:solidFill>
                <a:latin typeface="Arial"/>
              </a:rPr>
              <a:t>— building-block changes hit one file. Wiring changes hit MAIN. Stations themselves rarely change after initial composition.</a:t>
            </a:r>
          </a:p>
          <a:p>
            <a:pPr algn="l">
              <a:lnSpc>
                <a:spcPct val="130000"/>
              </a:lnSpc>
              <a:spcBef>
                <a:spcPts val="400"/>
              </a:spcBef>
            </a:pPr>
            <a:r>
              <a:rPr sz="1400" b="1">
                <a:solidFill>
                  <a:srgbClr val="000000"/>
                </a:solidFill>
                <a:latin typeface="Arial"/>
              </a:rPr>
              <a:t>▸  </a:t>
            </a:r>
            <a:r>
              <a:rPr sz="1400">
                <a:solidFill>
                  <a:srgbClr val="242A33"/>
                </a:solidFill>
                <a:latin typeface="Arial"/>
              </a:rPr>
              <a:t>The right frame is BLAST RADIUS, not LINES.</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000000"/>
                </a:solidFill>
                <a:latin typeface="Arial"/>
              </a:rPr>
              <a:t>▸  </a:t>
            </a:r>
            <a:r>
              <a:rPr sz="1700">
                <a:solidFill>
                  <a:srgbClr val="242A33"/>
                </a:solidFill>
                <a:latin typeface="Arial"/>
              </a:rPr>
              <a:t>The scoreboard tracks the visible cost of CRs. The invisible cost the scoreboard CAN'T show is testability.</a:t>
            </a:r>
          </a:p>
          <a:p>
            <a:pPr algn="l">
              <a:lnSpc>
                <a:spcPct val="130000"/>
              </a:lnSpc>
              <a:spcBef>
                <a:spcPts val="400"/>
              </a:spcBef>
            </a:pPr>
            <a:r>
              <a:rPr sz="1700" b="1">
                <a:solidFill>
                  <a:srgbClr val="000000"/>
                </a:solidFill>
                <a:latin typeface="Arial"/>
              </a:rPr>
              <a:t>▸  </a:t>
            </a:r>
            <a:r>
              <a:rPr sz="1700" b="1">
                <a:solidFill>
                  <a:srgbClr val="242A33"/>
                </a:solidFill>
                <a:latin typeface="Arial"/>
              </a:rPr>
              <a:t>Stage 1 and Stage 2 stations are entangled with their I/O </a:t>
            </a:r>
            <a:r>
              <a:rPr sz="1700">
                <a:solidFill>
                  <a:srgbClr val="242A33"/>
                </a:solidFill>
                <a:latin typeface="Arial"/>
              </a:rPr>
              <a:t>— you can't unit-test them without spinning up the whole framework.</a:t>
            </a:r>
          </a:p>
          <a:p>
            <a:pPr algn="l">
              <a:lnSpc>
                <a:spcPct val="130000"/>
              </a:lnSpc>
              <a:spcBef>
                <a:spcPts val="400"/>
              </a:spcBef>
            </a:pPr>
            <a:r>
              <a:rPr sz="1700" b="1">
                <a:solidFill>
                  <a:srgbClr val="000000"/>
                </a:solidFill>
                <a:latin typeface="Arial"/>
              </a:rPr>
              <a:t>▸  </a:t>
            </a:r>
            <a:r>
              <a:rPr sz="1700" b="1">
                <a:solidFill>
                  <a:srgbClr val="242A33"/>
                </a:solidFill>
                <a:latin typeface="Arial"/>
              </a:rPr>
              <a:t>Stage 3 stations accept their dependencies at construction. In a TcUnit test you can construct FB_StationFill with mocks: MockMode, MockAlarm (QualityFlag </a:t>
            </a:r>
            <a:r>
              <a:rPr sz="1700">
                <a:solidFill>
                  <a:srgbClr val="242A33"/>
                </a:solidFill>
                <a:latin typeface="Arial"/>
              </a:rPr>
              <a:t>— never latches), Logger (inspect buffer after each cycle).</a:t>
            </a:r>
          </a:p>
          <a:p>
            <a:pPr algn="l">
              <a:lnSpc>
                <a:spcPct val="130000"/>
              </a:lnSpc>
              <a:spcBef>
                <a:spcPts val="400"/>
              </a:spcBef>
            </a:pPr>
            <a:r>
              <a:rPr sz="1700" b="1">
                <a:solidFill>
                  <a:srgbClr val="000000"/>
                </a:solidFill>
                <a:latin typeface="Arial"/>
              </a:rPr>
              <a:t>▸  </a:t>
            </a:r>
            <a:r>
              <a:rPr sz="1700">
                <a:solidFill>
                  <a:srgbClr val="242A33"/>
                </a:solidFill>
                <a:latin typeface="Arial"/>
              </a:rPr>
              <a:t>Drive MockMode.ModeAuto := TRUE, set PartPresent := TRUE, call Execute() repeatedly, assert against Logger._Buffer. No real I/O. No real alarms. Deterministic.</a:t>
            </a:r>
          </a:p>
          <a:p>
            <a:pPr algn="l">
              <a:lnSpc>
                <a:spcPct val="130000"/>
              </a:lnSpc>
              <a:spcBef>
                <a:spcPts val="400"/>
              </a:spcBef>
            </a:pPr>
            <a:r>
              <a:rPr sz="1700" b="1">
                <a:solidFill>
                  <a:srgbClr val="000000"/>
                </a:solidFill>
                <a:latin typeface="Arial"/>
              </a:rPr>
              <a:t>▸  </a:t>
            </a:r>
            <a:r>
              <a:rPr sz="1700" b="1">
                <a:solidFill>
                  <a:srgbClr val="242A33"/>
                </a:solidFill>
                <a:latin typeface="Arial"/>
              </a:rPr>
              <a:t>If your shop is moving toward CI for control code, this isn't optional anymore </a:t>
            </a:r>
            <a:r>
              <a:rPr sz="1700">
                <a:solidFill>
                  <a:srgbClr val="242A33"/>
                </a:solidFill>
                <a:latin typeface="Arial"/>
              </a:rPr>
              <a:t>— it's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stage for which shop? — the honest answers</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rIns="0" tIns="0" bIns="0">
            <a:spAutoFit/>
          </a:bodyPr>
          <a:lstStyle/>
          <a:p>
            <a:pPr algn="l">
              <a:lnSpc>
                <a:spcPct val="125000"/>
              </a:lnSpc>
            </a:pPr>
            <a:r>
              <a:rPr sz="1200" b="1">
                <a:solidFill>
                  <a:srgbClr val="414D5C"/>
                </a:solidFill>
                <a:latin typeface="Arial"/>
              </a:rPr>
              <a:t>▸  </a:t>
            </a:r>
            <a:r>
              <a:rPr sz="1200">
                <a:solidFill>
                  <a:srgbClr val="242A33"/>
                </a:solidFill>
                <a:latin typeface="Arial"/>
              </a:rPr>
              <a:t>Single-machine integrators</a:t>
            </a:r>
          </a:p>
          <a:p>
            <a:pPr algn="l">
              <a:lnSpc>
                <a:spcPct val="125000"/>
              </a:lnSpc>
              <a:spcBef>
                <a:spcPts val="300"/>
              </a:spcBef>
            </a:pPr>
            <a:r>
              <a:rPr sz="1200" b="1">
                <a:solidFill>
                  <a:srgbClr val="414D5C"/>
                </a:solidFill>
                <a:latin typeface="Arial"/>
              </a:rPr>
              <a:t>▸  </a:t>
            </a:r>
            <a:r>
              <a:rPr sz="1200">
                <a:solidFill>
                  <a:srgbClr val="242A33"/>
                </a:solidFill>
                <a:latin typeface="Arial"/>
              </a:rPr>
              <a:t>Panel shops</a:t>
            </a:r>
          </a:p>
          <a:p>
            <a:pPr algn="l">
              <a:lnSpc>
                <a:spcPct val="125000"/>
              </a:lnSpc>
              <a:spcBef>
                <a:spcPts val="300"/>
              </a:spcBef>
            </a:pPr>
            <a:r>
              <a:rPr sz="1200" b="1">
                <a:solidFill>
                  <a:srgbClr val="414D5C"/>
                </a:solidFill>
                <a:latin typeface="Arial"/>
              </a:rPr>
              <a:t>▸  </a:t>
            </a:r>
            <a:r>
              <a:rPr sz="1200">
                <a:solidFill>
                  <a:srgbClr val="242A33"/>
                </a:solidFill>
                <a:latin typeface="Arial"/>
              </a:rPr>
              <a:t>One-engineer teams</a:t>
            </a:r>
          </a:p>
          <a:p>
            <a:pPr algn="l">
              <a:lnSpc>
                <a:spcPct val="125000"/>
              </a:lnSpc>
              <a:spcBef>
                <a:spcPts val="300"/>
              </a:spcBef>
            </a:pPr>
            <a:r>
              <a:rPr sz="1200" b="1">
                <a:solidFill>
                  <a:srgbClr val="414D5C"/>
                </a:solidFill>
                <a:latin typeface="Arial"/>
              </a:rPr>
              <a:t>▸  </a:t>
            </a:r>
            <a:r>
              <a:rPr sz="1200">
                <a:solidFill>
                  <a:srgbClr val="242A33"/>
                </a:solidFill>
                <a:latin typeface="Arial"/>
              </a:rPr>
              <a:t>Short-lifespan code</a:t>
            </a:r>
          </a:p>
          <a:p>
            <a:pPr algn="l">
              <a:lnSpc>
                <a:spcPct val="125000"/>
              </a:lnSpc>
              <a:spcBef>
                <a:spcPts val="300"/>
              </a:spcBef>
            </a:pPr>
            <a:r>
              <a:rPr sz="1200" b="1">
                <a:solidFill>
                  <a:srgbClr val="414D5C"/>
                </a:solidFill>
                <a:latin typeface="Arial"/>
              </a:rPr>
              <a:t>▸  </a:t>
            </a:r>
            <a:r>
              <a:rPr sz="1200">
                <a:solidFill>
                  <a:srgbClr val="242A33"/>
                </a:solidFill>
                <a:latin typeface="Arial"/>
              </a:rPr>
              <a:t>Customers shipping a machine and walking away</a:t>
            </a:r>
          </a:p>
          <a:p>
            <a:pPr algn="l">
              <a:lnSpc>
                <a:spcPct val="125000"/>
              </a:lnSpc>
              <a:spcBef>
                <a:spcPts val="300"/>
              </a:spcBef>
            </a:pPr>
            <a:r>
              <a:rPr sz="1200" b="1">
                <a:solidFill>
                  <a:srgbClr val="414D5C"/>
                </a:solidFill>
                <a:latin typeface="Arial"/>
              </a:rPr>
              <a:t>▸  </a:t>
            </a:r>
            <a:r>
              <a:rPr sz="1200">
                <a:solidFill>
                  <a:srgbClr val="242A33"/>
                </a:solidFill>
                <a:latin typeface="Arial"/>
              </a:rPr>
              <a:t>Teams with no inheritance/OOP background</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2151"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rIns="0" tIns="0" bIns="0">
            <a:spAutoFit/>
          </a:bodyPr>
          <a:lstStyle/>
          <a:p>
            <a:pPr algn="l">
              <a:lnSpc>
                <a:spcPct val="125000"/>
              </a:lnSpc>
            </a:pPr>
            <a:r>
              <a:rPr sz="1200" b="1">
                <a:solidFill>
                  <a:srgbClr val="627186"/>
                </a:solidFill>
                <a:latin typeface="Arial"/>
              </a:rPr>
              <a:t>▸  </a:t>
            </a:r>
            <a:r>
              <a:rPr sz="1200">
                <a:solidFill>
                  <a:srgbClr val="242A33"/>
                </a:solidFill>
                <a:latin typeface="Arial"/>
              </a:rPr>
              <a:t>Homogeneous machine families</a:t>
            </a:r>
          </a:p>
          <a:p>
            <a:pPr algn="l">
              <a:lnSpc>
                <a:spcPct val="125000"/>
              </a:lnSpc>
              <a:spcBef>
                <a:spcPts val="300"/>
              </a:spcBef>
            </a:pPr>
            <a:r>
              <a:rPr sz="1200" b="1">
                <a:solidFill>
                  <a:srgbClr val="627186"/>
                </a:solidFill>
                <a:latin typeface="Arial"/>
              </a:rPr>
              <a:t>▸  </a:t>
            </a:r>
            <a:r>
              <a:rPr sz="1200">
                <a:solidFill>
                  <a:srgbClr val="242A33"/>
                </a:solidFill>
                <a:latin typeface="Arial"/>
              </a:rPr>
              <a:t>Mid-sized teams</a:t>
            </a:r>
          </a:p>
          <a:p>
            <a:pPr algn="l">
              <a:lnSpc>
                <a:spcPct val="125000"/>
              </a:lnSpc>
              <a:spcBef>
                <a:spcPts val="300"/>
              </a:spcBef>
            </a:pPr>
            <a:r>
              <a:rPr sz="1200" b="1">
                <a:solidFill>
                  <a:srgbClr val="627186"/>
                </a:solidFill>
                <a:latin typeface="Arial"/>
              </a:rPr>
              <a:t>▸  </a:t>
            </a:r>
            <a:r>
              <a:rPr sz="1200">
                <a:solidFill>
                  <a:srgbClr val="242A33"/>
                </a:solidFill>
                <a:latin typeface="Arial"/>
              </a:rPr>
              <a:t>Long-lifespan code with medium variation</a:t>
            </a:r>
          </a:p>
          <a:p>
            <a:pPr algn="l">
              <a:lnSpc>
                <a:spcPct val="125000"/>
              </a:lnSpc>
              <a:spcBef>
                <a:spcPts val="300"/>
              </a:spcBef>
            </a:pPr>
            <a:r>
              <a:rPr sz="1200" b="1">
                <a:solidFill>
                  <a:srgbClr val="627186"/>
                </a:solidFill>
                <a:latin typeface="Arial"/>
              </a:rPr>
              <a:t>▸  </a:t>
            </a:r>
            <a:r>
              <a:rPr sz="1200">
                <a:solidFill>
                  <a:srgbClr val="242A33"/>
                </a:solidFill>
                <a:latin typeface="Arial"/>
              </a:rPr>
              <a:t>Teams already comfortable with EXTENDS / SUPER</a:t>
            </a:r>
          </a:p>
          <a:p>
            <a:pPr algn="l">
              <a:lnSpc>
                <a:spcPct val="125000"/>
              </a:lnSpc>
              <a:spcBef>
                <a:spcPts val="300"/>
              </a:spcBef>
            </a:pPr>
            <a:r>
              <a:rPr sz="1200" b="1">
                <a:solidFill>
                  <a:srgbClr val="627186"/>
                </a:solidFill>
                <a:latin typeface="Arial"/>
              </a:rPr>
              <a:t>▸  </a:t>
            </a:r>
            <a:r>
              <a:rPr sz="1200">
                <a:solidFill>
                  <a:srgbClr val="242A33"/>
                </a:solidFill>
                <a:latin typeface="Arial"/>
              </a:rPr>
              <a:t>Codebases where most stations are 80% similar and 20% different</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67144" y="1234440"/>
            <a:ext cx="297180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rIns="0" tIns="0" bIns="0">
            <a:spAutoFit/>
          </a:bodyPr>
          <a:lstStyle/>
          <a:p>
            <a:pPr algn="l">
              <a:lnSpc>
                <a:spcPct val="125000"/>
              </a:lnSpc>
            </a:pPr>
            <a:r>
              <a:rPr sz="1200" b="1">
                <a:solidFill>
                  <a:srgbClr val="2D76AD"/>
                </a:solidFill>
                <a:latin typeface="Arial"/>
              </a:rPr>
              <a:t>▸  </a:t>
            </a:r>
            <a:r>
              <a:rPr sz="1200">
                <a:solidFill>
                  <a:srgbClr val="242A33"/>
                </a:solidFill>
                <a:latin typeface="Arial"/>
              </a:rPr>
              <a:t>OEMs building product families</a:t>
            </a:r>
          </a:p>
          <a:p>
            <a:pPr algn="l">
              <a:lnSpc>
                <a:spcPct val="125000"/>
              </a:lnSpc>
              <a:spcBef>
                <a:spcPts val="300"/>
              </a:spcBef>
            </a:pPr>
            <a:r>
              <a:rPr sz="1200" b="1">
                <a:solidFill>
                  <a:srgbClr val="2D76AD"/>
                </a:solidFill>
                <a:latin typeface="Arial"/>
              </a:rPr>
              <a:t>▸  </a:t>
            </a:r>
            <a:r>
              <a:rPr sz="1200">
                <a:solidFill>
                  <a:srgbClr val="242A33"/>
                </a:solidFill>
                <a:latin typeface="Arial"/>
              </a:rPr>
              <a:t>Multi-engineer teams</a:t>
            </a:r>
          </a:p>
          <a:p>
            <a:pPr algn="l">
              <a:lnSpc>
                <a:spcPct val="125000"/>
              </a:lnSpc>
              <a:spcBef>
                <a:spcPts val="300"/>
              </a:spcBef>
            </a:pPr>
            <a:r>
              <a:rPr sz="1200" b="1">
                <a:solidFill>
                  <a:srgbClr val="2D76AD"/>
                </a:solidFill>
                <a:latin typeface="Arial"/>
              </a:rPr>
              <a:t>▸  </a:t>
            </a:r>
            <a:r>
              <a:rPr sz="1200">
                <a:solidFill>
                  <a:srgbClr val="242A33"/>
                </a:solidFill>
                <a:latin typeface="Arial"/>
              </a:rPr>
              <a:t>Multi-customer variation</a:t>
            </a:r>
          </a:p>
          <a:p>
            <a:pPr algn="l">
              <a:lnSpc>
                <a:spcPct val="125000"/>
              </a:lnSpc>
              <a:spcBef>
                <a:spcPts val="300"/>
              </a:spcBef>
            </a:pPr>
            <a:r>
              <a:rPr sz="1200" b="1">
                <a:solidFill>
                  <a:srgbClr val="2D76AD"/>
                </a:solidFill>
                <a:latin typeface="Arial"/>
              </a:rPr>
              <a:t>▸  </a:t>
            </a:r>
            <a:r>
              <a:rPr sz="1200">
                <a:solidFill>
                  <a:srgbClr val="242A33"/>
                </a:solidFill>
                <a:latin typeface="Arial"/>
              </a:rPr>
              <a:t>Long-lifespan codebases</a:t>
            </a:r>
          </a:p>
          <a:p>
            <a:pPr algn="l">
              <a:lnSpc>
                <a:spcPct val="125000"/>
              </a:lnSpc>
              <a:spcBef>
                <a:spcPts val="300"/>
              </a:spcBef>
            </a:pPr>
            <a:r>
              <a:rPr sz="1200" b="1">
                <a:solidFill>
                  <a:srgbClr val="2D76AD"/>
                </a:solidFill>
                <a:latin typeface="Arial"/>
              </a:rPr>
              <a:t>▸  </a:t>
            </a:r>
            <a:r>
              <a:rPr sz="1200">
                <a:solidFill>
                  <a:srgbClr val="242A33"/>
                </a:solidFill>
                <a:latin typeface="Arial"/>
              </a:rPr>
              <a:t>Shops moving toward CI / TDD for PLC code</a:t>
            </a:r>
          </a:p>
          <a:p>
            <a:pPr algn="l">
              <a:lnSpc>
                <a:spcPct val="125000"/>
              </a:lnSpc>
              <a:spcBef>
                <a:spcPts val="300"/>
              </a:spcBef>
            </a:pPr>
            <a:r>
              <a:rPr sz="1200" b="1">
                <a:solidFill>
                  <a:srgbClr val="2D76AD"/>
                </a:solidFill>
                <a:latin typeface="Arial"/>
              </a:rPr>
              <a:t>▸  </a:t>
            </a:r>
            <a:r>
              <a:rPr sz="1200">
                <a:solidFill>
                  <a:srgbClr val="242A33"/>
                </a:solidFill>
                <a:latin typeface="Arial"/>
              </a:rPr>
              <a:t>Codebases where the same shape appears with different policy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000000"/>
                </a:solidFill>
                <a:latin typeface="Arial"/>
              </a:rPr>
              <a:t>▸  </a:t>
            </a:r>
            <a:r>
              <a:rPr sz="1700">
                <a:solidFill>
                  <a:srgbClr val="242A33"/>
                </a:solidFill>
                <a:latin typeface="Arial"/>
              </a:rPr>
              <a:t>You'll go back to your customers. Someone will say 'this is overkill' or 'we don't have time for this' or 'just give me the procedural version.' Let's rehearse.</a:t>
            </a:r>
          </a:p>
          <a:p>
            <a:pPr algn="l">
              <a:lnSpc>
                <a:spcPct val="130000"/>
              </a:lnSpc>
              <a:spcBef>
                <a:spcPts val="400"/>
              </a:spcBef>
            </a:pPr>
            <a:r>
              <a:rPr sz="1700" b="1">
                <a:solidFill>
                  <a:srgbClr val="000000"/>
                </a:solidFill>
                <a:latin typeface="Arial"/>
              </a:rPr>
              <a:t>▸  </a:t>
            </a:r>
            <a:r>
              <a:rPr sz="1700" b="1">
                <a:solidFill>
                  <a:srgbClr val="242A33"/>
                </a:solidFill>
                <a:latin typeface="Arial"/>
              </a:rPr>
              <a:t>Pick three of these </a:t>
            </a:r>
            <a:r>
              <a:rPr sz="1700">
                <a:solidFill>
                  <a:srgbClr val="242A33"/>
                </a:solidFill>
                <a:latin typeface="Arial"/>
              </a:rPr>
              <a:t>— roleplay with the room — "This is fine. We've shipped 50 machines like this." — "My team's careful. We use code review. Drift won't happen." — "My junior engineers don't know inheritance." — "Eighteen files for a 4-station machine? You've got to be kidding." — "I just need to remember to mirror base changes into Inspect's override." — "You're cherry-picking the example."</a:t>
            </a:r>
          </a:p>
          <a:p>
            <a:pPr algn="l">
              <a:lnSpc>
                <a:spcPct val="130000"/>
              </a:lnSpc>
              <a:spcBef>
                <a:spcPts val="400"/>
              </a:spcBef>
            </a:pPr>
            <a:r>
              <a:rPr sz="1700" b="1">
                <a:solidFill>
                  <a:srgbClr val="000000"/>
                </a:solidFill>
                <a:latin typeface="Arial"/>
              </a:rPr>
              <a:t>▸  </a:t>
            </a:r>
            <a:r>
              <a:rPr sz="1700">
                <a:solidFill>
                  <a:srgbClr val="242A33"/>
                </a:solidFill>
                <a:latin typeface="Arial"/>
              </a:rPr>
              <a:t>The answer isn't 'composition is always right.'  The answer is 'here's how to know which fits your situation.'</a:t>
            </a:r>
          </a:p>
          <a:p>
            <a:pPr algn="l">
              <a:lnSpc>
                <a:spcPct val="130000"/>
              </a:lnSpc>
              <a:spcBef>
                <a:spcPts val="400"/>
              </a:spcBef>
            </a:pPr>
            <a:r>
              <a:rPr sz="1700" b="1">
                <a:solidFill>
                  <a:srgbClr val="000000"/>
                </a:solidFill>
                <a:latin typeface="Arial"/>
              </a:rPr>
              <a:t>▸  </a:t>
            </a:r>
            <a:r>
              <a:rPr sz="1700">
                <a:solidFill>
                  <a:srgbClr val="242A33"/>
                </a:solidFill>
                <a:latin typeface="Arial"/>
              </a:rPr>
              <a:t>Discipline is bounded; architecture is unbounded. Take that line home.</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000000"/>
                </a:solidFill>
                <a:latin typeface="Arial"/>
              </a:rPr>
              <a:t>▸  </a:t>
            </a:r>
            <a:r>
              <a:rPr sz="1700" b="1">
                <a:solidFill>
                  <a:srgbClr val="242A33"/>
                </a:solidFill>
                <a:latin typeface="Arial"/>
              </a:rPr>
              <a:t>Self-paced refresher </a:t>
            </a:r>
            <a:r>
              <a:rPr sz="1700">
                <a:solidFill>
                  <a:srgbClr val="242A33"/>
                </a:solidFill>
                <a:latin typeface="Arial"/>
              </a:rPr>
              <a:t>— ./serve-docs.sh from the cloned repo. Walk the stages in order. Re-read the per-CR diffs against the scoreboard.</a:t>
            </a:r>
          </a:p>
          <a:p>
            <a:pPr algn="l">
              <a:lnSpc>
                <a:spcPct val="130000"/>
              </a:lnSpc>
              <a:spcBef>
                <a:spcPts val="400"/>
              </a:spcBef>
            </a:pPr>
            <a:r>
              <a:rPr sz="1700" b="1">
                <a:solidFill>
                  <a:srgbClr val="000000"/>
                </a:solidFill>
                <a:latin typeface="Arial"/>
              </a:rPr>
              <a:t>▸  </a:t>
            </a:r>
            <a:r>
              <a:rPr sz="1700" b="1">
                <a:solidFill>
                  <a:srgbClr val="242A33"/>
                </a:solidFill>
                <a:latin typeface="Arial"/>
              </a:rPr>
              <a:t>Teaching mode </a:t>
            </a:r>
            <a:r>
              <a:rPr sz="1700">
                <a:solidFill>
                  <a:srgbClr val="242A33"/>
                </a:solidFill>
                <a:latin typeface="Arial"/>
              </a:rPr>
              <a:t>— the docs site is structured so you can run a 1-2 hour version for your own team or customer. The Instructor's guide is the script; the Patterns reference is the cheat sheet.</a:t>
            </a:r>
          </a:p>
          <a:p>
            <a:pPr algn="l">
              <a:lnSpc>
                <a:spcPct val="130000"/>
              </a:lnSpc>
              <a:spcBef>
                <a:spcPts val="400"/>
              </a:spcBef>
            </a:pPr>
            <a:r>
              <a:rPr sz="1700" b="1">
                <a:solidFill>
                  <a:srgbClr val="000000"/>
                </a:solidFill>
                <a:latin typeface="Arial"/>
              </a:rPr>
              <a:t>▸  </a:t>
            </a:r>
            <a:r>
              <a:rPr sz="1700" b="1">
                <a:solidFill>
                  <a:srgbClr val="242A33"/>
                </a:solidFill>
                <a:latin typeface="Arial"/>
              </a:rPr>
              <a:t>Deep end </a:t>
            </a:r>
            <a:r>
              <a:rPr sz="1700">
                <a:solidFill>
                  <a:srgbClr val="242A33"/>
                </a:solidFill>
                <a:latin typeface="Arial"/>
              </a:rPr>
              <a:t>— TcUnit on a Stage 3 station, then the same on Stage 1. The testability difference is visceral. See the testing.md page for the working PlcTestSuite demo on stage-3-complete-tests.</a:t>
            </a:r>
          </a:p>
          <a:p>
            <a:pPr algn="l">
              <a:lnSpc>
                <a:spcPct val="130000"/>
              </a:lnSpc>
              <a:spcBef>
                <a:spcPts val="400"/>
              </a:spcBef>
            </a:pPr>
            <a:r>
              <a:rPr sz="1700" b="1">
                <a:solidFill>
                  <a:srgbClr val="000000"/>
                </a:solidFill>
                <a:latin typeface="Arial"/>
              </a:rPr>
              <a:t>▸  </a:t>
            </a:r>
            <a:r>
              <a:rPr sz="1700">
                <a:solidFill>
                  <a:srgbClr val="242A33"/>
                </a:solidFill>
                <a:latin typeface="Arial"/>
              </a:rPr>
              <a:t>Send me one specific machine, project, or customer this material applies to. That's how I make this workshop better.</a:t>
            </a:r>
          </a:p>
        </p:txBody>
      </p:sp>
      <p:sp>
        <p:nvSpPr>
          <p:cNvPr id="3" name="Title 2"/>
          <p:cNvSpPr>
            <a:spLocks noGrp="1"/>
          </p:cNvSpPr>
          <p:nvPr>
            <p:ph type="title"/>
          </p:nvPr>
        </p:nvSpPr>
        <p:spPr/>
        <p:txBody>
          <a:bodyPr/>
          <a:lstStyle/>
          <a:p>
            <a:r>
              <a:t>Continuation kit — three modes for keeping this alive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000000"/>
                </a:solidFill>
                <a:latin typeface="Arial"/>
              </a:rPr>
              <a:t>▸  </a:t>
            </a:r>
            <a:r>
              <a:rPr sz="1700">
                <a:solidFill>
                  <a:srgbClr val="242A33"/>
                </a:solidFill>
                <a:latin typeface="Arial"/>
              </a:rPr>
              <a:t>If your shop is &lt; 20 attendees and you have time, send each attendee a brief follow-up with a specific recommendation tied to their team's situation.</a:t>
            </a:r>
          </a:p>
          <a:p>
            <a:pPr algn="l">
              <a:lnSpc>
                <a:spcPct val="130000"/>
              </a:lnSpc>
              <a:spcBef>
                <a:spcPts val="400"/>
              </a:spcBef>
            </a:pPr>
            <a:r>
              <a:rPr sz="1700" b="1">
                <a:solidFill>
                  <a:srgbClr val="000000"/>
                </a:solidFill>
                <a:latin typeface="Arial"/>
              </a:rPr>
              <a:t>▸  </a:t>
            </a:r>
            <a:r>
              <a:rPr sz="1700" b="1">
                <a:solidFill>
                  <a:srgbClr val="242A33"/>
                </a:solidFill>
                <a:latin typeface="Arial"/>
              </a:rPr>
              <a:t>Sarah </a:t>
            </a:r>
            <a:r>
              <a:rPr sz="1700">
                <a:solidFill>
                  <a:srgbClr val="242A33"/>
                </a:solidFill>
                <a:latin typeface="Arial"/>
              </a:rPr>
              <a:t>— your shop ships motion controllers. The I_AlarmHandler swap is the most useful Stage 3 pattern for your test rigs. Try it on your next customer build.</a:t>
            </a:r>
          </a:p>
          <a:p>
            <a:pPr algn="l">
              <a:lnSpc>
                <a:spcPct val="130000"/>
              </a:lnSpc>
              <a:spcBef>
                <a:spcPts val="400"/>
              </a:spcBef>
            </a:pPr>
            <a:r>
              <a:rPr sz="1700" b="1">
                <a:solidFill>
                  <a:srgbClr val="000000"/>
                </a:solidFill>
                <a:latin typeface="Arial"/>
              </a:rPr>
              <a:t>▸  </a:t>
            </a:r>
            <a:r>
              <a:rPr sz="1700" b="1">
                <a:solidFill>
                  <a:srgbClr val="242A33"/>
                </a:solidFill>
                <a:latin typeface="Arial"/>
              </a:rPr>
              <a:t>Bob </a:t>
            </a:r>
            <a:r>
              <a:rPr sz="1700">
                <a:solidFill>
                  <a:srgbClr val="242A33"/>
                </a:solidFill>
                <a:latin typeface="Arial"/>
              </a:rPr>
              <a:t>— you're maintaining a single-machine codebase. Stage 1 is fine for you. Add the Stage 3 CR-2 swap exercise to your toolkit for the next motion vendor swap — that's where you'll feel the testability win.</a:t>
            </a:r>
          </a:p>
          <a:p>
            <a:pPr algn="l">
              <a:lnSpc>
                <a:spcPct val="130000"/>
              </a:lnSpc>
              <a:spcBef>
                <a:spcPts val="400"/>
              </a:spcBef>
            </a:pPr>
            <a:r>
              <a:rPr sz="1700" b="1">
                <a:solidFill>
                  <a:srgbClr val="000000"/>
                </a:solidFill>
                <a:latin typeface="Arial"/>
              </a:rPr>
              <a:t>▸  </a:t>
            </a:r>
            <a:r>
              <a:rPr sz="1700" b="1">
                <a:solidFill>
                  <a:srgbClr val="242A33"/>
                </a:solidFill>
                <a:latin typeface="Arial"/>
              </a:rPr>
              <a:t>Maria </a:t>
            </a:r>
            <a:r>
              <a:rPr sz="1700">
                <a:solidFill>
                  <a:srgbClr val="242A33"/>
                </a:solidFill>
                <a:latin typeface="Arial"/>
              </a:rPr>
              <a:t>— you do customer training. Run a 1-hour version of just Stage 1 → Stage 3 CR-2 (skip CR-1 and CR-3) for your next class. It's the most impactful single demo in the workshop.</a:t>
            </a:r>
          </a:p>
          <a:p>
            <a:pPr algn="l">
              <a:lnSpc>
                <a:spcPct val="130000"/>
              </a:lnSpc>
              <a:spcBef>
                <a:spcPts val="400"/>
              </a:spcBef>
            </a:pPr>
            <a:r>
              <a:rPr sz="1700" b="1">
                <a:solidFill>
                  <a:srgbClr val="000000"/>
                </a:solidFill>
                <a:latin typeface="Arial"/>
              </a:rPr>
              <a:t>▸  </a:t>
            </a:r>
            <a:r>
              <a:rPr sz="17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the workshop stick</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371600"/>
            <a:ext cx="10012680" cy="457200"/>
          </a:xfrm>
          <a:prstGeom prst="rect">
            <a:avLst/>
          </a:prstGeom>
          <a:noFill/>
        </p:spPr>
        <p:txBody>
          <a:bodyPr wrap="square" lIns="0" rIns="0" t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rIns="0" t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rIns="0" tIns="0" bIns="0" anchor="t">
            <a:spAutoFit/>
          </a:bodyPr>
          <a:lstStyle/>
          <a:p>
            <a:pPr algn="l">
              <a:lnSpc>
                <a:spcPct val="140000"/>
              </a:lnSpc>
            </a:pPr>
            <a:r>
              <a:rPr sz="1600" b="0" i="1">
                <a:solidFill>
                  <a:srgbClr val="E5E8EC"/>
                </a:solidFill>
                <a:latin typeface="Arial"/>
              </a:rPr>
              <a:t>The bar for the FAE audience is to become believers and teachers.</a:t>
            </a:r>
          </a:p>
          <a:p>
            <a:pPr algn="l">
              <a:lnSpc>
                <a:spcPct val="140000"/>
              </a:lnSpc>
            </a:pPr>
            <a:r>
              <a:rPr sz="1600" b="0" i="1">
                <a:solidFill>
                  <a:srgbClr val="E5E8EC"/>
                </a:solidFill>
                <a:latin typeface="Arial"/>
              </a:rPr>
              <a:t/>
            </a:r>
          </a:p>
          <a:p>
            <a:pPr algn="l">
              <a:lnSpc>
                <a:spcPct val="140000"/>
              </a:lnSpc>
            </a:pPr>
            <a:r>
              <a:rPr sz="1600" b="0" i="1">
                <a:solidFill>
                  <a:srgbClr val="E5E8EC"/>
                </a:solidFill>
                <a:latin typeface="Arial"/>
              </a:rPr>
              <a:t>The believer part comes from doing the workshop. You did that today.</a:t>
            </a:r>
          </a:p>
          <a:p>
            <a:pPr algn="l">
              <a:lnSpc>
                <a:spcPct val="140000"/>
              </a:lnSpc>
            </a:pPr>
            <a:r>
              <a:rPr sz="1600" b="0" i="1">
                <a:solidFill>
                  <a:srgbClr val="E5E8EC"/>
                </a:solidFill>
                <a:latin typeface="Arial"/>
              </a:rPr>
              <a:t/>
            </a:r>
          </a:p>
          <a:p>
            <a:pPr algn="l">
              <a:lnSpc>
                <a:spcPct val="140000"/>
              </a:lnSpc>
            </a:pPr>
            <a:r>
              <a:rPr sz="1600" b="0" i="1">
                <a:solidFill>
                  <a:srgbClr val="E5E8EC"/>
                </a:solidFill>
                <a:latin typeface="Arial"/>
              </a:rPr>
              <a:t>The teacher part requires three more things: run a shorter version yourself within a month; adapt the script to your audience; track customer pushback you hear that isn't in this material — send it back so the next version is better.</a:t>
            </a:r>
          </a:p>
          <a:p>
            <a:pPr algn="l">
              <a:lnSpc>
                <a:spcPct val="140000"/>
              </a:lnSpc>
            </a:pPr>
            <a:r>
              <a:rPr sz="1600" b="0" i="1">
                <a:solidFill>
                  <a:srgbClr val="E5E8EC"/>
                </a:solidFill>
                <a:latin typeface="Arial"/>
              </a:rPr>
              <a:t/>
            </a:r>
          </a:p>
          <a:p>
            <a:pPr algn="l">
              <a:lnSpc>
                <a:spcPct val="140000"/>
              </a:lnSpc>
            </a:pPr>
            <a:r>
              <a:rPr sz="16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rIns="0" tIns="0" bIns="0" anchor="t">
            <a:spAutoFit/>
          </a:bodyPr>
          <a:lstStyle/>
          <a:p>
            <a:pPr algn="l">
              <a:lnSpc>
                <a:spcPct val="115000"/>
              </a:lnSpc>
            </a:pPr>
            <a:r>
              <a:rPr sz="1200" b="0" i="0">
                <a:solidFill>
                  <a:srgbClr val="B3BCC8"/>
                </a:solidFill>
                <a:latin typeface="Arial"/>
              </a:rPr>
              <a:t>Repo: github.com/Mark-Code-Cowboys/NEM_Workshop  ·  Docs: ./serve-docs.sh  ·  Questions welcome.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280160"/>
            <a:ext cx="9601200" cy="1554480"/>
          </a:xfrm>
          <a:prstGeom prst="rect">
            <a:avLst/>
          </a:prstGeom>
          <a:noFill/>
        </p:spPr>
        <p:txBody>
          <a:bodyPr wrap="square" lIns="0" rIns="0" tIns="0" bIns="0" anchor="t">
            <a:spAutoFit/>
          </a:bodyPr>
          <a:lstStyle/>
          <a:p>
            <a:pPr algn="l">
              <a:lnSpc>
                <a:spcPct val="105000"/>
              </a:lnSpc>
            </a:pPr>
            <a:r>
              <a:rPr sz="4400" b="1" i="0">
                <a:solidFill>
                  <a:srgbClr val="414D5C"/>
                </a:solidFill>
                <a:latin typeface="Arial"/>
              </a:rPr>
              <a:t>Pacing levers, materials, bonus content</a:t>
            </a:r>
          </a:p>
        </p:txBody>
      </p:sp>
      <p:sp>
        <p:nvSpPr>
          <p:cNvPr id="6" name="TextBox 5"/>
          <p:cNvSpPr txBox="1"/>
          <p:nvPr/>
        </p:nvSpPr>
        <p:spPr>
          <a:xfrm>
            <a:off x="411480" y="2926080"/>
            <a:ext cx="9601200" cy="457200"/>
          </a:xfrm>
          <a:prstGeom prst="rect">
            <a:avLst/>
          </a:prstGeom>
          <a:noFill/>
        </p:spPr>
        <p:txBody>
          <a:bodyPr wrap="square" lIns="0" rIns="0" tIns="0" bIns="0" anchor="t">
            <a:spAutoFit/>
          </a:bodyPr>
          <a:lstStyle/>
          <a:p>
            <a:pPr algn="l">
              <a:lnSpc>
                <a:spcPct val="115000"/>
              </a:lnSpc>
            </a:pPr>
            <a:r>
              <a:rPr sz="1600" b="1" i="0">
                <a:solidFill>
                  <a:srgbClr val="000000"/>
                </a:solidFill>
                <a:latin typeface="Arial"/>
              </a:rPr>
              <a:t>reference  ·  not part of the live flow</a:t>
            </a:r>
          </a:p>
        </p:txBody>
      </p:sp>
      <p:sp>
        <p:nvSpPr>
          <p:cNvPr id="7" name="TextBox 6"/>
          <p:cNvSpPr txBox="1"/>
          <p:nvPr/>
        </p:nvSpPr>
        <p:spPr>
          <a:xfrm>
            <a:off x="411480" y="3611880"/>
            <a:ext cx="9601200" cy="2286000"/>
          </a:xfrm>
          <a:prstGeom prst="rect">
            <a:avLst/>
          </a:prstGeom>
          <a:noFill/>
        </p:spPr>
        <p:txBody>
          <a:bodyPr wrap="square" lIns="0" rIns="0" tIns="0" bIns="0" anchor="t">
            <a:spAutoFit/>
          </a:bodyPr>
          <a:lstStyle/>
          <a:p>
            <a:pPr algn="l">
              <a:lnSpc>
                <a:spcPct val="140000"/>
              </a:lnSpc>
            </a:pPr>
            <a:r>
              <a:rPr sz="1600" b="0" i="1">
                <a:solidFill>
                  <a:srgbClr val="242A33"/>
                </a:solidFill>
                <a:latin typeface="Arial"/>
              </a:rPr>
              <a:t>What to cut if you're behind. What to add if you're ahead.</a:t>
            </a:r>
          </a:p>
          <a:p>
            <a:pPr algn="l">
              <a:lnSpc>
                <a:spcPct val="140000"/>
              </a:lnSpc>
            </a:pPr>
            <a:r>
              <a:rPr sz="1600" b="0" i="1">
                <a:solidFill>
                  <a:srgbClr val="242A33"/>
                </a:solidFill>
                <a:latin typeface="Arial"/>
              </a:rPr>
              <a:t>The materials checklist for the day.</a:t>
            </a:r>
          </a:p>
          <a:p>
            <a:pPr algn="l">
              <a:lnSpc>
                <a:spcPct val="140000"/>
              </a:lnSpc>
            </a:pPr>
            <a:r>
              <a:rPr sz="1600" b="0" i="1">
                <a:solidFill>
                  <a:srgbClr val="242A33"/>
                </a:solidFill>
                <a:latin typeface="Arial"/>
              </a:rPr>
              <a:t>The TcUnit demo if the room earns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400" b="1">
                <a:solidFill>
                  <a:srgbClr val="EF0000"/>
                </a:solidFill>
                <a:latin typeface="Arial"/>
              </a:rPr>
              <a:t>▸  </a:t>
            </a:r>
            <a:r>
              <a:rPr sz="1400" b="1">
                <a:solidFill>
                  <a:srgbClr val="242A33"/>
                </a:solidFill>
                <a:latin typeface="Arial"/>
              </a:rPr>
              <a:t>Block 2 CR-3 </a:t>
            </a:r>
            <a:r>
              <a:rPr sz="1400">
                <a:solidFill>
                  <a:srgbClr val="242A33"/>
                </a:solidFill>
                <a:latin typeface="Arial"/>
              </a:rPr>
              <a:t>— cut hands-on entirely. Just show the diff. The Stage 2 lesson is CR-1 (pollution) and CR-2 (breaking point); CR-3's dead-weight problem is academic by comparison.</a:t>
            </a:r>
          </a:p>
          <a:p>
            <a:pPr algn="l">
              <a:lnSpc>
                <a:spcPct val="130000"/>
              </a:lnSpc>
              <a:spcBef>
                <a:spcPts val="400"/>
              </a:spcBef>
            </a:pPr>
            <a:r>
              <a:rPr sz="1400" b="1">
                <a:solidFill>
                  <a:srgbClr val="EF0000"/>
                </a:solidFill>
                <a:latin typeface="Arial"/>
              </a:rPr>
              <a:t>▸  </a:t>
            </a:r>
            <a:r>
              <a:rPr sz="1400" b="1">
                <a:solidFill>
                  <a:srgbClr val="242A33"/>
                </a:solidFill>
                <a:latin typeface="Arial"/>
              </a:rPr>
              <a:t>Block 1 debrief </a:t>
            </a:r>
            <a:r>
              <a:rPr sz="1400">
                <a:solidFill>
                  <a:srgbClr val="242A33"/>
                </a:solidFill>
                <a:latin typeface="Arial"/>
              </a:rPr>
              <a:t>— tighten. Don't walk every diff in detail; show the matrix on the scoreboard page and let the audience scan.</a:t>
            </a:r>
          </a:p>
          <a:p>
            <a:pPr algn="l">
              <a:lnSpc>
                <a:spcPct val="130000"/>
              </a:lnSpc>
              <a:spcBef>
                <a:spcPts val="400"/>
              </a:spcBef>
            </a:pPr>
            <a:r>
              <a:rPr sz="1400" b="1">
                <a:solidFill>
                  <a:srgbClr val="EF0000"/>
                </a:solidFill>
                <a:latin typeface="Arial"/>
              </a:rPr>
              <a:t>▸  </a:t>
            </a:r>
            <a:r>
              <a:rPr sz="1400" b="1">
                <a:solidFill>
                  <a:srgbClr val="242A33"/>
                </a:solidFill>
                <a:latin typeface="Arial"/>
              </a:rPr>
              <a:t>Block 3 CR-2 </a:t>
            </a:r>
            <a:r>
              <a:rPr sz="1400">
                <a:solidFill>
                  <a:srgbClr val="242A33"/>
                </a:solidFill>
                <a:latin typeface="Arial"/>
              </a:rPr>
              <a:t>— demo the swap, skip the parallel-sequencer hands-on. The reveal moment IS the swap.</a:t>
            </a:r>
          </a:p>
          <a:p>
            <a:pPr algn="l">
              <a:lnSpc>
                <a:spcPct val="130000"/>
              </a:lnSpc>
              <a:spcBef>
                <a:spcPts val="400"/>
              </a:spcBef>
            </a:pPr>
            <a:r>
              <a:rPr sz="1400" b="1">
                <a:solidFill>
                  <a:srgbClr val="EF0000"/>
                </a:solidFill>
                <a:latin typeface="Arial"/>
              </a:rPr>
              <a:t>▸  </a:t>
            </a:r>
            <a:r>
              <a:rPr sz="1400" b="1">
                <a:solidFill>
                  <a:srgbClr val="242A33"/>
                </a:solidFill>
                <a:latin typeface="Arial"/>
              </a:rPr>
              <a:t>Block 4 4A </a:t>
            </a:r>
            <a:r>
              <a:rPr sz="1400">
                <a:solidFill>
                  <a:srgbClr val="242A33"/>
                </a:solidFill>
                <a:latin typeface="Arial"/>
              </a:rPr>
              <a:t>— compress to a 2-minute walk-through of the scoreboard rather than per-cell discussion.</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400" b="1">
                <a:solidFill>
                  <a:srgbClr val="000000"/>
                </a:solidFill>
                <a:latin typeface="Arial"/>
              </a:rPr>
              <a:t>▸  </a:t>
            </a:r>
            <a:r>
              <a:rPr sz="1400" b="1">
                <a:solidFill>
                  <a:srgbClr val="242A33"/>
                </a:solidFill>
                <a:latin typeface="Arial"/>
              </a:rPr>
              <a:t>Block 4 4B </a:t>
            </a:r>
            <a:r>
              <a:rPr sz="1400">
                <a:solidFill>
                  <a:srgbClr val="242A33"/>
                </a:solidFill>
                <a:latin typeface="Arial"/>
              </a:rPr>
              <a:t>— extend customer-conversation rehearsal. 15+ minutes if the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Patterns reference </a:t>
            </a:r>
            <a:r>
              <a:rPr sz="1400">
                <a:solidFill>
                  <a:srgbClr val="242A33"/>
                </a:solidFill>
                <a:latin typeface="Arial"/>
              </a:rPr>
              <a:t>— show patterns.md and walk Strategy / Template Method / DI by name. Connect to the workshop they just did.</a:t>
            </a:r>
          </a:p>
          <a:p>
            <a:pPr algn="l">
              <a:lnSpc>
                <a:spcPct val="130000"/>
              </a:lnSpc>
              <a:spcBef>
                <a:spcPts val="400"/>
              </a:spcBef>
            </a:pPr>
            <a:r>
              <a:rPr sz="1400" b="1">
                <a:solidFill>
                  <a:srgbClr val="000000"/>
                </a:solidFill>
                <a:latin typeface="Arial"/>
              </a:rPr>
              <a:t>▸  </a:t>
            </a:r>
            <a:r>
              <a:rPr sz="1400" b="1">
                <a:solidFill>
                  <a:srgbClr val="242A33"/>
                </a:solidFill>
                <a:latin typeface="Arial"/>
              </a:rPr>
              <a:t>Wrong-way branch </a:t>
            </a:r>
            <a:r>
              <a:rPr sz="1400">
                <a:solidFill>
                  <a:srgbClr val="242A33"/>
                </a:solidFill>
                <a:latin typeface="Arial"/>
              </a:rPr>
              <a:t>— demo stage-3-broken and walk through WHY it's wrong even though it compiles.</a:t>
            </a:r>
          </a:p>
          <a:p>
            <a:pPr algn="l">
              <a:lnSpc>
                <a:spcPct val="130000"/>
              </a:lnSpc>
              <a:spcBef>
                <a:spcPts val="400"/>
              </a:spcBef>
            </a:pPr>
            <a:r>
              <a:rPr sz="1400" b="1">
                <a:solidFill>
                  <a:srgbClr val="000000"/>
                </a:solidFill>
                <a:latin typeface="Arial"/>
              </a:rPr>
              <a:t>▸  </a:t>
            </a:r>
            <a:r>
              <a:rPr sz="1400" b="1">
                <a:solidFill>
                  <a:srgbClr val="242A33"/>
                </a:solidFill>
                <a:latin typeface="Arial"/>
              </a:rPr>
              <a:t>TcUnit demo </a:t>
            </a:r>
            <a:r>
              <a:rPr sz="1400">
                <a:solidFill>
                  <a:srgbClr val="242A33"/>
                </a:solidFill>
                <a:latin typeface="Arial"/>
              </a:rPr>
              <a:t>— most powerful extension if the room is technically engaged. 15-25 min. See the next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300" b="1">
                <a:solidFill>
                  <a:srgbClr val="000000"/>
                </a:solidFill>
                <a:latin typeface="Arial"/>
              </a:rPr>
              <a:t>▸  </a:t>
            </a:r>
            <a:r>
              <a:rPr sz="1300" b="1">
                <a:solidFill>
                  <a:srgbClr val="242A33"/>
                </a:solidFill>
                <a:latin typeface="Arial"/>
              </a:rPr>
              <a:t>When to run it </a:t>
            </a:r>
            <a:r>
              <a:rPr sz="1300">
                <a:solidFill>
                  <a:srgbClr val="242A33"/>
                </a:solidFill>
                <a:latin typeface="Arial"/>
              </a:rPr>
              <a:t>— at least 20 min ahead at Block 4, most attendees have a runtime, room is leaning toward 'what would I actually do with this back at my shop?'</a:t>
            </a:r>
          </a:p>
          <a:p>
            <a:pPr algn="l">
              <a:lnSpc>
                <a:spcPct val="130000"/>
              </a:lnSpc>
              <a:spcBef>
                <a:spcPts val="400"/>
              </a:spcBef>
            </a:pPr>
            <a:r>
              <a:rPr sz="1300" b="1">
                <a:solidFill>
                  <a:srgbClr val="000000"/>
                </a:solidFill>
                <a:latin typeface="Arial"/>
              </a:rPr>
              <a:t>▸  </a:t>
            </a:r>
            <a:r>
              <a:rPr sz="1300" b="1">
                <a:solidFill>
                  <a:srgbClr val="242A33"/>
                </a:solidFill>
                <a:latin typeface="Arial"/>
              </a:rPr>
              <a:t>Branch </a:t>
            </a:r>
            <a:r>
              <a:rPr sz="1300">
                <a:solidFill>
                  <a:srgbClr val="242A33"/>
                </a:solidFill>
                <a:latin typeface="Arial"/>
              </a:rPr>
              <a:t>— stage-3-complete-tests. Library — PlcTestSuite (separate .library install; eats 5+ min if attendees don't have it).</a:t>
            </a:r>
          </a:p>
          <a:p>
            <a:pPr algn="l">
              <a:lnSpc>
                <a:spcPct val="130000"/>
              </a:lnSpc>
              <a:spcBef>
                <a:spcPts val="400"/>
              </a:spcBef>
            </a:pPr>
            <a:r>
              <a:rPr sz="1300" b="1">
                <a:solidFill>
                  <a:srgbClr val="000000"/>
                </a:solidFill>
                <a:latin typeface="Arial"/>
              </a:rPr>
              <a:t>▸  </a:t>
            </a:r>
            <a:r>
              <a:rPr sz="1300" b="1">
                <a:solidFill>
                  <a:srgbClr val="242A33"/>
                </a:solidFill>
                <a:latin typeface="Arial"/>
              </a:rPr>
              <a:t>2 min </a:t>
            </a:r>
            <a:r>
              <a:rPr sz="1300">
                <a:solidFill>
                  <a:srgbClr val="242A33"/>
                </a:solidFill>
                <a:latin typeface="Arial"/>
              </a:rPr>
              <a:t>— pull up the testing.md page. Read the 'Why composition is testable' section aloud. The architectural argument that hasn't been made explicit yet.</a:t>
            </a:r>
          </a:p>
          <a:p>
            <a:pPr algn="l">
              <a:lnSpc>
                <a:spcPct val="130000"/>
              </a:lnSpc>
              <a:spcBef>
                <a:spcPts val="400"/>
              </a:spcBef>
            </a:pPr>
            <a:r>
              <a:rPr sz="1300" b="1">
                <a:solidFill>
                  <a:srgbClr val="000000"/>
                </a:solidFill>
                <a:latin typeface="Arial"/>
              </a:rPr>
              <a:t>▸  </a:t>
            </a:r>
            <a:r>
              <a:rPr sz="1300" b="1">
                <a:solidFill>
                  <a:srgbClr val="242A33"/>
                </a:solidFill>
                <a:latin typeface="Arial"/>
              </a:rPr>
              <a:t>3 min </a:t>
            </a:r>
            <a:r>
              <a:rPr sz="1300">
                <a:solidFill>
                  <a:srgbClr val="242A33"/>
                </a:solidFill>
                <a:latin typeface="Arial"/>
              </a:rPr>
              <a:t>— open POUs/Tests/FB_TestRunner.TcPOU. Walk the file structure: 16 test methods organized into building-block tests + station integration tests.</a:t>
            </a:r>
          </a:p>
          <a:p>
            <a:pPr algn="l">
              <a:lnSpc>
                <a:spcPct val="130000"/>
              </a:lnSpc>
              <a:spcBef>
                <a:spcPts val="400"/>
              </a:spcBef>
            </a:pPr>
            <a:r>
              <a:rPr sz="1300" b="1">
                <a:solidFill>
                  <a:srgbClr val="000000"/>
                </a:solidFill>
                <a:latin typeface="Arial"/>
              </a:rPr>
              <a:t>▸  </a:t>
            </a:r>
            <a:r>
              <a:rPr sz="1300" b="1">
                <a:solidFill>
                  <a:srgbClr val="242A33"/>
                </a:solidFill>
                <a:latin typeface="Arial"/>
              </a:rPr>
              <a:t>5 min </a:t>
            </a:r>
            <a:r>
              <a:rPr sz="1300">
                <a:solidFill>
                  <a:srgbClr val="242A33"/>
                </a:solidFill>
                <a:latin typeface="Arial"/>
              </a:rPr>
              <a:t>— show one building-block test in detail. Test_QualityFlag_StopsLineIsFalse is the best one. Six lines, the entire Liskov substitution principle.</a:t>
            </a:r>
          </a:p>
          <a:p>
            <a:pPr algn="l">
              <a:lnSpc>
                <a:spcPct val="130000"/>
              </a:lnSpc>
              <a:spcBef>
                <a:spcPts val="400"/>
              </a:spcBef>
            </a:pPr>
            <a:r>
              <a:rPr sz="1300" b="1">
                <a:solidFill>
                  <a:srgbClr val="000000"/>
                </a:solidFill>
                <a:latin typeface="Arial"/>
              </a:rPr>
              <a:t>▸  </a:t>
            </a:r>
            <a:r>
              <a:rPr sz="1300" b="1">
                <a:solidFill>
                  <a:srgbClr val="242A33"/>
                </a:solidFill>
                <a:latin typeface="Arial"/>
              </a:rPr>
              <a:t>5 min </a:t>
            </a:r>
            <a:r>
              <a:rPr sz="1300">
                <a:solidFill>
                  <a:srgbClr val="242A33"/>
                </a:solidFill>
                <a:latin typeface="Arial"/>
              </a:rPr>
              <a:t>— show one station integration test. Test_FillStation_HappyPath_CompletesCycle. Highlight the VAR_INST block: local FB_ModeManager, FB_AlarmHandler_LineFault, FB_CycleDataLogger constructed and injected. THAT'S the testing seam.</a:t>
            </a:r>
          </a:p>
          <a:p>
            <a:pPr algn="l">
              <a:lnSpc>
                <a:spcPct val="130000"/>
              </a:lnSpc>
              <a:spcBef>
                <a:spcPts val="400"/>
              </a:spcBef>
            </a:pPr>
            <a:r>
              <a:rPr sz="1300" b="1">
                <a:solidFill>
                  <a:srgbClr val="000000"/>
                </a:solidFill>
                <a:latin typeface="Arial"/>
              </a:rPr>
              <a:t>▸  </a:t>
            </a:r>
            <a:r>
              <a:rPr sz="1300" b="1">
                <a:solidFill>
                  <a:srgbClr val="242A33"/>
                </a:solidFill>
                <a:latin typeface="Arial"/>
              </a:rPr>
              <a:t>5 min </a:t>
            </a:r>
            <a:r>
              <a:rPr sz="1300">
                <a:solidFill>
                  <a:srgbClr val="242A33"/>
                </a:solidFill>
                <a:latin typeface="Arial"/>
              </a:rPr>
              <a:t>— if you have a runtime: build, activate, login, start. Set RunTests := TRUE in MAIN. Show TEST_Result.xml.</a:t>
            </a:r>
          </a:p>
          <a:p>
            <a:pPr algn="l">
              <a:lnSpc>
                <a:spcPct val="130000"/>
              </a:lnSpc>
              <a:spcBef>
                <a:spcPts val="400"/>
              </a:spcBef>
            </a:pPr>
            <a:r>
              <a:rPr sz="1300" b="1">
                <a:solidFill>
                  <a:srgbClr val="000000"/>
                </a:solidFill>
                <a:latin typeface="Arial"/>
              </a:rPr>
              <a:t>▸  </a:t>
            </a:r>
            <a:r>
              <a:rPr sz="1300" b="1">
                <a:solidFill>
                  <a:srgbClr val="242A33"/>
                </a:solidFill>
                <a:latin typeface="Arial"/>
              </a:rPr>
              <a:t>Frame as </a:t>
            </a:r>
            <a:r>
              <a:rPr sz="1300">
                <a:solidFill>
                  <a:srgbClr val="242A33"/>
                </a:solidFill>
                <a:latin typeface="Arial"/>
              </a:rPr>
              <a:t>— 'this is what the rest of software engineering takes for granted. Stage 3 makes it available to control code. Composition isn't optional architecture if your shop wants CI for PLC — it's the prerequisite.'</a:t>
            </a:r>
          </a:p>
        </p:txBody>
      </p:sp>
      <p:sp>
        <p:nvSpPr>
          <p:cNvPr id="3" name="Title 2"/>
          <p:cNvSpPr>
            <a:spLocks noGrp="1"/>
          </p:cNvSpPr>
          <p:nvPr>
            <p:ph type="title"/>
          </p:nvPr>
        </p:nvSpPr>
        <p:spPr/>
        <p:txBody>
          <a:bodyPr/>
          <a:lstStyle/>
          <a:p>
            <a:r>
              <a:t>Bonus — TcUnit demo (only if class finishes early)</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rIns="0" tIns="0" bIns="0">
            <a:spAutoFit/>
          </a:bodyPr>
          <a:lstStyle/>
          <a:p>
            <a:pPr algn="l">
              <a:lnSpc>
                <a:spcPct val="130000"/>
              </a:lnSpc>
            </a:pPr>
            <a:r>
              <a:rPr sz="1400" b="1">
                <a:solidFill>
                  <a:srgbClr val="000000"/>
                </a:solidFill>
                <a:latin typeface="Arial"/>
              </a:rPr>
              <a:t>▸  </a:t>
            </a:r>
            <a:r>
              <a:rPr sz="1400">
                <a:solidFill>
                  <a:srgbClr val="242A33"/>
                </a:solidFill>
                <a:latin typeface="Arial"/>
              </a:rPr>
              <a:t>Presenter laptop, repo cloned, all branches fetched (git fetch --all).</a:t>
            </a:r>
          </a:p>
          <a:p>
            <a:pPr algn="l">
              <a:lnSpc>
                <a:spcPct val="130000"/>
              </a:lnSpc>
              <a:spcBef>
                <a:spcPts val="400"/>
              </a:spcBef>
            </a:pPr>
            <a:r>
              <a:rPr sz="1400" b="1">
                <a:solidFill>
                  <a:srgbClr val="000000"/>
                </a:solidFill>
                <a:latin typeface="Arial"/>
              </a:rPr>
              <a:t>▸  </a:t>
            </a:r>
            <a:r>
              <a:rPr sz="1400">
                <a:solidFill>
                  <a:srgbClr val="242A33"/>
                </a:solidFill>
                <a:latin typeface="Arial"/>
              </a:rPr>
              <a:t>Working TwinCAT XAE 3.1.4026+.</a:t>
            </a:r>
          </a:p>
          <a:p>
            <a:pPr algn="l">
              <a:lnSpc>
                <a:spcPct val="130000"/>
              </a:lnSpc>
              <a:spcBef>
                <a:spcPts val="400"/>
              </a:spcBef>
            </a:pPr>
            <a:r>
              <a:rPr sz="1400" b="1">
                <a:solidFill>
                  <a:srgbClr val="000000"/>
                </a:solidFill>
                <a:latin typeface="Arial"/>
              </a:rPr>
              <a:t>▸  </a:t>
            </a:r>
            <a:r>
              <a:rPr sz="1400">
                <a:solidFill>
                  <a:srgbClr val="242A33"/>
                </a:solidFill>
                <a:latin typeface="Arial"/>
              </a:rPr>
              <a:t>Two XAE instances open: stage-1-procedural and stage-3-composition.</a:t>
            </a:r>
          </a:p>
          <a:p>
            <a:pPr algn="l">
              <a:lnSpc>
                <a:spcPct val="130000"/>
              </a:lnSpc>
              <a:spcBef>
                <a:spcPts val="400"/>
              </a:spcBef>
            </a:pPr>
            <a:r>
              <a:rPr sz="1400" b="1">
                <a:solidFill>
                  <a:srgbClr val="000000"/>
                </a:solidFill>
                <a:latin typeface="Arial"/>
              </a:rPr>
              <a:t>▸  </a:t>
            </a:r>
            <a:r>
              <a:rPr sz="1400">
                <a:solidFill>
                  <a:srgbClr val="242A33"/>
                </a:solidFill>
                <a:latin typeface="Arial"/>
              </a:rPr>
              <a:t>Browser with the scoreboard bookmarked.</a:t>
            </a:r>
          </a:p>
          <a:p>
            <a:pPr algn="l">
              <a:lnSpc>
                <a:spcPct val="130000"/>
              </a:lnSpc>
              <a:spcBef>
                <a:spcPts val="400"/>
              </a:spcBef>
            </a:pPr>
            <a:r>
              <a:rPr sz="1400" b="1">
                <a:solidFill>
                  <a:srgbClr val="000000"/>
                </a:solidFill>
                <a:latin typeface="Arial"/>
              </a:rPr>
              <a:t>▸  </a:t>
            </a:r>
            <a:r>
              <a:rPr sz="1400" b="1">
                <a:solidFill>
                  <a:srgbClr val="242A33"/>
                </a:solidFill>
                <a:latin typeface="Arial"/>
              </a:rPr>
              <a:t>Local docs site running (./serve-docs.sh) </a:t>
            </a:r>
            <a:r>
              <a:rPr sz="1400">
                <a:solidFill>
                  <a:srgbClr val="242A33"/>
                </a:solidFill>
                <a:latin typeface="Arial"/>
              </a:rPr>
              <a:t>— backup if wifi fails.</a:t>
            </a:r>
          </a:p>
          <a:p>
            <a:pPr algn="l">
              <a:lnSpc>
                <a:spcPct val="130000"/>
              </a:lnSpc>
              <a:spcBef>
                <a:spcPts val="400"/>
              </a:spcBef>
            </a:pPr>
            <a:r>
              <a:rPr sz="1400" b="1">
                <a:solidFill>
                  <a:srgbClr val="000000"/>
                </a:solidFill>
                <a:latin typeface="Arial"/>
              </a:rPr>
              <a:t>▸  </a:t>
            </a:r>
            <a:r>
              <a:rPr sz="1400" b="1">
                <a:solidFill>
                  <a:srgbClr val="242A33"/>
                </a:solidFill>
                <a:latin typeface="Arial"/>
              </a:rPr>
              <a:t>Whiteboard or large sticky notes </a:t>
            </a:r>
            <a:r>
              <a:rPr sz="1400">
                <a:solidFill>
                  <a:srgbClr val="242A33"/>
                </a:solidFill>
                <a:latin typeface="Arial"/>
              </a:rPr>
              <a:t>— physical scoreboard is more engaging than digital.</a:t>
            </a:r>
          </a:p>
          <a:p>
            <a:pPr algn="l">
              <a:lnSpc>
                <a:spcPct val="130000"/>
              </a:lnSpc>
              <a:spcBef>
                <a:spcPts val="400"/>
              </a:spcBef>
            </a:pPr>
            <a:r>
              <a:rPr sz="1400" b="1">
                <a:solidFill>
                  <a:srgbClr val="000000"/>
                </a:solidFill>
                <a:latin typeface="Arial"/>
              </a:rPr>
              <a:t>▸  </a:t>
            </a:r>
            <a:r>
              <a:rPr sz="1400">
                <a:solidFill>
                  <a:srgbClr val="242A33"/>
                </a:solidFill>
                <a:latin typeface="Arial"/>
              </a:rPr>
              <a:t>Sticky notes for attendees to track files-touched and lines-changed.</a:t>
            </a:r>
          </a:p>
          <a:p>
            <a:pPr algn="l">
              <a:lnSpc>
                <a:spcPct val="130000"/>
              </a:lnSpc>
              <a:spcBef>
                <a:spcPts val="400"/>
              </a:spcBef>
            </a:pPr>
            <a:r>
              <a:rPr sz="1400" b="1">
                <a:solidFill>
                  <a:srgbClr val="000000"/>
                </a:solidFill>
                <a:latin typeface="Arial"/>
              </a:rPr>
              <a:t>▸  </a:t>
            </a:r>
            <a:r>
              <a:rPr sz="14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rIns="0" t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rIns="0" tIns="0" bIns="0">
            <a:spAutoFit/>
          </a:bodyPr>
          <a:lstStyle/>
          <a:p>
            <a:pPr algn="l">
              <a:lnSpc>
                <a:spcPct val="130000"/>
              </a:lnSpc>
            </a:pPr>
            <a:r>
              <a:rPr sz="1400" b="1">
                <a:solidFill>
                  <a:srgbClr val="000000"/>
                </a:solidFill>
                <a:latin typeface="Arial"/>
              </a:rPr>
              <a:t>▸  </a:t>
            </a:r>
            <a:r>
              <a:rPr sz="1400">
                <a:solidFill>
                  <a:srgbClr val="242A33"/>
                </a:solidFill>
                <a:latin typeface="Arial"/>
              </a:rPr>
              <a:t>Send each attendee the personal recommendation (see Block 4C).</a:t>
            </a:r>
          </a:p>
          <a:p>
            <a:pPr algn="l">
              <a:lnSpc>
                <a:spcPct val="130000"/>
              </a:lnSpc>
              <a:spcBef>
                <a:spcPts val="400"/>
              </a:spcBef>
            </a:pPr>
            <a:r>
              <a:rPr sz="1400" b="1">
                <a:solidFill>
                  <a:srgbClr val="000000"/>
                </a:solidFill>
                <a:latin typeface="Arial"/>
              </a:rPr>
              <a:t>▸  </a:t>
            </a:r>
            <a:r>
              <a:rPr sz="1400" b="1">
                <a:solidFill>
                  <a:srgbClr val="242A33"/>
                </a:solidFill>
                <a:latin typeface="Arial"/>
              </a:rPr>
              <a:t>Send the repo URL and the scoreboard compare links </a:t>
            </a:r>
            <a:r>
              <a:rPr sz="1400">
                <a:solidFill>
                  <a:srgbClr val="242A33"/>
                </a:solidFill>
                <a:latin typeface="Arial"/>
              </a:rPr>
              <a:t>— they'll forget where to find them.</a:t>
            </a:r>
          </a:p>
          <a:p>
            <a:pPr algn="l">
              <a:lnSpc>
                <a:spcPct val="130000"/>
              </a:lnSpc>
              <a:spcBef>
                <a:spcPts val="400"/>
              </a:spcBef>
            </a:pPr>
            <a:r>
              <a:rPr sz="1400" b="1">
                <a:solidFill>
                  <a:srgbClr val="000000"/>
                </a:solidFill>
                <a:latin typeface="Arial"/>
              </a:rPr>
              <a:t>▸  </a:t>
            </a:r>
            <a:r>
              <a:rPr sz="1400">
                <a:solidFill>
                  <a:srgbClr val="242A33"/>
                </a:solidFill>
                <a:latin typeface="Arial"/>
              </a:rPr>
              <a:t>Solicit feedback in the workshop's chat / dedicated channel.</a:t>
            </a:r>
          </a:p>
          <a:p>
            <a:pPr algn="l">
              <a:lnSpc>
                <a:spcPct val="130000"/>
              </a:lnSpc>
              <a:spcBef>
                <a:spcPts val="400"/>
              </a:spcBef>
            </a:pPr>
            <a:r>
              <a:rPr sz="1400" b="1">
                <a:solidFill>
                  <a:srgbClr val="000000"/>
                </a:solidFill>
                <a:latin typeface="Arial"/>
              </a:rPr>
              <a:t>▸  </a:t>
            </a:r>
            <a:r>
              <a:rPr sz="1400" b="1">
                <a:solidFill>
                  <a:srgbClr val="242A33"/>
                </a:solidFill>
                <a:latin typeface="Arial"/>
              </a:rPr>
              <a:t>Optional bonus material </a:t>
            </a:r>
            <a:r>
              <a:rPr sz="1400">
                <a:solidFill>
                  <a:srgbClr val="242A33"/>
                </a:solidFill>
                <a:latin typeface="Arial"/>
              </a:rPr>
              <a:t>— only if you ran the testing demo: PlcTestSuite link, stage-3-complete-tests branch link, testing.md.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wrap="square"/>
          <a:lstStyle/>
          <a:p>
            <a:pPr algn="l">
              <a:lnSpc>
                <a:spcPct val="130000"/>
              </a:lnSpc>
            </a:pPr>
            <a:r>
              <a:rPr sz="1700" b="1">
                <a:solidFill>
                  <a:srgbClr val="000000"/>
                </a:solidFill>
                <a:latin typeface="Arial"/>
              </a:rPr>
              <a:t>▸  </a:t>
            </a:r>
            <a:r>
              <a:rPr sz="1700" b="1">
                <a:solidFill>
                  <a:srgbClr val="242A33"/>
                </a:solidFill>
                <a:latin typeface="Arial"/>
              </a:rPr>
              <a:t>30 min </a:t>
            </a:r>
            <a:r>
              <a:rPr sz="1700">
                <a:solidFill>
                  <a:srgbClr val="242A33"/>
                </a:solidFill>
                <a:latin typeface="Arial"/>
              </a:rPr>
              <a:t>— 'the one demo.' Show only the Stage 3 CR-2 swap demo. Three steps. Plant a single seed: runtime-swappable strategies are real and useful in TwinCAT.</a:t>
            </a:r>
          </a:p>
          <a:p>
            <a:pPr algn="l">
              <a:lnSpc>
                <a:spcPct val="130000"/>
              </a:lnSpc>
              <a:spcBef>
                <a:spcPts val="400"/>
              </a:spcBef>
            </a:pPr>
            <a:r>
              <a:rPr sz="1700" b="1">
                <a:solidFill>
                  <a:srgbClr val="000000"/>
                </a:solidFill>
                <a:latin typeface="Arial"/>
              </a:rPr>
              <a:t>▸  </a:t>
            </a:r>
            <a:r>
              <a:rPr sz="1700" b="1">
                <a:solidFill>
                  <a:srgbClr val="242A33"/>
                </a:solidFill>
                <a:latin typeface="Arial"/>
              </a:rPr>
              <a:t>1 hr </a:t>
            </a:r>
            <a:r>
              <a:rPr sz="1700">
                <a:solidFill>
                  <a:srgbClr val="242A33"/>
                </a:solidFill>
                <a:latin typeface="Arial"/>
              </a:rPr>
              <a:t>— 'the methodology compare.' Skip Stage 2. Run Stage 1 walkthrough + CR-1 hands-on, then Stage 3 walkthrough + CR-1 demonstration. Show only the CR-1 cells of the scoreboard. Lesson: same requirement, three different costs.</a:t>
            </a:r>
          </a:p>
          <a:p>
            <a:pPr algn="l">
              <a:lnSpc>
                <a:spcPct val="130000"/>
              </a:lnSpc>
              <a:spcBef>
                <a:spcPts val="400"/>
              </a:spcBef>
            </a:pPr>
            <a:r>
              <a:rPr sz="1700" b="1">
                <a:solidFill>
                  <a:srgbClr val="000000"/>
                </a:solidFill>
                <a:latin typeface="Arial"/>
              </a:rPr>
              <a:t>▸  </a:t>
            </a:r>
            <a:r>
              <a:rPr sz="1700" b="1">
                <a:solidFill>
                  <a:srgbClr val="242A33"/>
                </a:solidFill>
                <a:latin typeface="Arial"/>
              </a:rPr>
              <a:t>2 hr </a:t>
            </a:r>
            <a:r>
              <a:rPr sz="1700">
                <a:solidFill>
                  <a:srgbClr val="242A33"/>
                </a:solidFill>
                <a:latin typeface="Arial"/>
              </a:rPr>
              <a:t>— 'the workshop, compressed.' Run the full workshop's structure but cut CR-3 in every stage. CR-1 + CR-2 cover the key lessons; CR-3 is a pacing extender for the 4-hour version.</a:t>
            </a:r>
          </a:p>
          <a:p>
            <a:pPr algn="l">
              <a:lnSpc>
                <a:spcPct val="130000"/>
              </a:lnSpc>
              <a:spcBef>
                <a:spcPts val="400"/>
              </a:spcBef>
            </a:pPr>
            <a:r>
              <a:rPr sz="1700" b="1">
                <a:solidFill>
                  <a:srgbClr val="000000"/>
                </a:solidFill>
                <a:latin typeface="Arial"/>
              </a:rPr>
              <a:t>▸  </a:t>
            </a:r>
            <a:r>
              <a:rPr sz="1700" b="1">
                <a:solidFill>
                  <a:srgbClr val="242A33"/>
                </a:solidFill>
                <a:latin typeface="Arial"/>
              </a:rPr>
              <a:t>4 hr </a:t>
            </a:r>
            <a:r>
              <a:rPr sz="1700">
                <a:solidFill>
                  <a:srgbClr val="242A33"/>
                </a:solidFill>
                <a:latin typeface="Arial"/>
              </a:rPr>
              <a:t>— 'the full workshop.' This deck.</a:t>
            </a:r>
          </a:p>
          <a:p>
            <a:pPr algn="l">
              <a:lnSpc>
                <a:spcPct val="130000"/>
              </a:lnSpc>
              <a:spcBef>
                <a:spcPts val="400"/>
              </a:spcBef>
            </a:pPr>
            <a:r>
              <a:rPr sz="1700" b="1">
                <a:solidFill>
                  <a:srgbClr val="000000"/>
                </a:solidFill>
                <a:latin typeface="Arial"/>
              </a:rPr>
              <a:t>▸  </a:t>
            </a:r>
            <a:r>
              <a:rPr sz="1700">
                <a:solidFill>
                  <a:srgbClr val="242A33"/>
                </a:solidFill>
                <a:latin typeface="Arial"/>
              </a:rPr>
              <a:t>None of the shortened versions include the testing demo. It's reserved for the 4-hour version, only when ahead of schedule.</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rIns="0" t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815</TotalTime>
  <Words>731</Words>
  <Application>Microsoft Office PowerPoint</Application>
  <PresentationFormat>Widescreen</PresentationFormat>
  <Paragraphs>124</Paragraphs>
  <Slides>20</Slides>
  <Notes>3</Notes>
  <HiddenSlides>3</HiddenSlides>
  <MMClips>0</MMClips>
  <ScaleCrop>false</ScaleCrop>
  <HeadingPairs>
    <vt:vector size="4" baseType="variant">
      <vt:variant>
        <vt:lpstr>Theme</vt:lpstr>
      </vt:variant>
      <vt:variant>
        <vt:i4>2</vt:i4>
      </vt:variant>
      <vt:variant>
        <vt:lpstr>Slide Titles</vt:lpstr>
      </vt:variant>
      <vt:variant>
        <vt:i4>20</vt:i4>
      </vt:variant>
    </vt:vector>
  </HeadingPairs>
  <TitlesOfParts>
    <vt:vector size="22" baseType="lpstr">
      <vt:lpstr>Beckhoff Standard Slide Master</vt:lpstr>
      <vt:lpstr>Studio Set – For film studio use only!</vt:lpstr>
      <vt:lpstr>Special Projects Team</vt:lpstr>
      <vt:lpstr>Overview</vt:lpstr>
      <vt:lpstr>SPT Team Background</vt:lpstr>
      <vt:lpstr>SPT Group</vt:lpstr>
      <vt:lpstr>PackML - OMAC</vt:lpstr>
      <vt:lpstr>PackML – Our View</vt:lpstr>
      <vt:lpstr>PackML State Engine</vt:lpstr>
      <vt:lpstr>PackML PackTags</vt:lpstr>
      <vt:lpstr>PackML Machine Module / Equipment Module / Component</vt:lpstr>
      <vt:lpstr>PackML Implementations</vt:lpstr>
      <vt:lpstr>SPT Framework - Overview</vt:lpstr>
      <vt:lpstr>SPT Framework – Base Types </vt:lpstr>
      <vt:lpstr>SPT Framework – PackML Base</vt:lpstr>
      <vt:lpstr>SPT Framework - Components</vt:lpstr>
      <vt:lpstr>Alarms with TwinCAT Event Logger</vt:lpstr>
      <vt:lpstr>GIT Hub</vt:lpstr>
      <vt:lpstr>Questions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Keith Baker</cp:lastModifiedBy>
  <cp:revision>15</cp:revision>
  <cp:lastPrinted>2016-06-28T12:26:43Z</cp:lastPrinted>
  <dcterms:created xsi:type="dcterms:W3CDTF">2023-02-27T12:44:26Z</dcterms:created>
  <dcterms:modified xsi:type="dcterms:W3CDTF">2026-05-13T00:47:20Z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