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88"/>
  </p:notesMasterIdLst>
  <p:handoutMasterIdLst>
    <p:handoutMasterId r:id="rId89"/>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289" r:id="rId51"/>
    <p:sldId id="288" r:id="rId52"/>
    <p:sldId id="290" r:id="rId53"/>
    <p:sldId id="341"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Lst>
  <p:sldSz cx="12192000" cy="6858000"/>
  <p:notesSz cx="6797675" cy="9926638"/>
  <p:custDataLst>
    <p:tags r:id="rId9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8758" autoAdjust="0"/>
  </p:normalViewPr>
  <p:slideViewPr>
    <p:cSldViewPr snapToObjects="1" showGuides="1">
      <p:cViewPr varScale="1">
        <p:scale>
          <a:sx n="56" d="100"/>
          <a:sy n="56" d="100"/>
        </p:scale>
        <p:origin x="974"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handoutMaster" Target="handoutMasters/handoutMaster1.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tags" Target="tags/tag1.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notesMaster" Target="notesMasters/notesMaster1.xml"/><Relationship Id="rId9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viewProps" Target="view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21.05.2026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21.05.2026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"Both work. Neither is wrong. They diverge for no reason."</a:t>
            </a:r>
          </a:p>
          <a:p>
            <a:r>
              <a:rPr sz="1200" dirty="0">
                <a:latin typeface="Arial"/>
              </a:rPr>
              <a:t>[CONTEXT] Someone clearly copied Label from a different project where 100/200/300 was the convention, and never normalized it.</a:t>
            </a:r>
          </a:p>
          <a:p>
            <a:r>
              <a:rPr sz="1200" dirty="0">
                <a:latin typeface="Arial"/>
              </a:rPr>
              <a:t>[LESSON] The architecture has no opinion on naming. Conventions are tribal — they live in your head, not the compiler.</a:t>
            </a:r>
          </a:p>
          <a:p>
            <a:r>
              <a:rPr sz="1200" dirty="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Don't dwell — show it and move on.</a:t>
            </a:r>
          </a:p>
          <a:p>
            <a:r>
              <a:rPr sz="1200" dirty="0">
                <a:latin typeface="Arial"/>
              </a:rPr>
              <a:t>[LESSON] In procedural code, dead state lingers because removing it requires reading every reference everywhere. Nobody owns the cleanup.</a:t>
            </a:r>
          </a:p>
          <a:p>
            <a:r>
              <a:rPr sz="1200" dirty="0">
                <a:latin typeface="Arial"/>
              </a:rPr>
              <a:t>[FORESHADOW] In Stage 2 the base class won't carry </a:t>
            </a:r>
            <a:r>
              <a:rPr sz="1200" dirty="0" err="1">
                <a:latin typeface="Arial"/>
              </a:rPr>
              <a:t>ManualStep</a:t>
            </a:r>
            <a:r>
              <a:rPr sz="1200" dirty="0">
                <a:latin typeface="Arial"/>
              </a:rPr>
              <a:t>,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After attendees finish (or you call time): `git switch stage-1-cr1-applied` and `git diff stage-1-procedural --stat` on screen.</a:t>
            </a:r>
          </a:p>
          <a:p>
            <a:r>
              <a:rPr sz="1200" dirty="0">
                <a:latin typeface="Arial"/>
              </a:rPr>
              <a:t>[DO] Write the 5 / +50 / −13 number on the physical scoreboard whiteboard.</a:t>
            </a:r>
          </a:p>
          <a:p>
            <a:r>
              <a:rPr sz="1200" dirty="0">
                <a:latin typeface="Arial"/>
              </a:rPr>
              <a:t>[SAY] "This is what your codebase looks like after one CR."</a:t>
            </a:r>
          </a:p>
          <a:p>
            <a:r>
              <a:rPr sz="1200" dirty="0">
                <a:latin typeface="Arial"/>
              </a:rPr>
              <a:t>[ASK] "Show of hands — who got Fill's mid-cycle exception right on the first try?" Most won't.</a:t>
            </a:r>
          </a:p>
          <a:p>
            <a:r>
              <a:rPr sz="1200" dirty="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"This isn't just duplication of the base — it's duplication of NEW patterns each time they appear. Stage 2 will help with this. Stage 3 will help even more."</a:t>
            </a:r>
          </a:p>
          <a:p>
            <a:r>
              <a:rPr sz="1200" dirty="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"That looked small. Anyone want to defend it as 'fine'?" Some attendees will defend it. Let them — then sharpen.</a:t>
            </a:r>
          </a:p>
          <a:p>
            <a:r>
              <a:rPr sz="1200" dirty="0">
                <a:latin typeface="Arial"/>
              </a:rPr>
              <a:t>[FOLLOW-UP] "Now imagine the logging requirements change in six months — say we want to write to a file instead of an in-memory buffer. Where do you change the code?" (Two places.) "And if you forget one of them?" (Drift.)</a:t>
            </a:r>
          </a:p>
          <a:p>
            <a:r>
              <a:rPr sz="1200" dirty="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2143E-2E61-C3AB-C91A-07C2EEBDEAB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92402A-21A2-4462-0510-C433BD9CD3B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AE0A10A-B8AE-F4AF-175C-551FFF4ABA9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AC17935-A388-C745-3ED5-A3647ECE5EB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136778200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Read the requirement. 5-minute timer. The attempt: </a:t>
            </a:r>
            <a:r>
              <a:rPr sz="1200" dirty="0" err="1">
                <a:latin typeface="Arial"/>
              </a:rPr>
              <a:t>LogBuffer</a:t>
            </a:r>
            <a:r>
              <a:rPr sz="1200" dirty="0">
                <a:latin typeface="Arial"/>
              </a:rPr>
              <a:t> + </a:t>
            </a:r>
            <a:r>
              <a:rPr sz="1200" dirty="0" err="1">
                <a:latin typeface="Arial"/>
              </a:rPr>
              <a:t>LoggingEnabled</a:t>
            </a:r>
            <a:r>
              <a:rPr sz="1200" dirty="0">
                <a:latin typeface="Arial"/>
              </a:rPr>
              <a:t> virtual on the base; Fill and Inspect override to TRUE.</a:t>
            </a:r>
          </a:p>
          <a:p>
            <a:r>
              <a:rPr sz="1200" dirty="0">
                <a:latin typeface="Arial"/>
              </a:rPr>
              <a:t>[ASK] "Where does Cap's </a:t>
            </a:r>
            <a:r>
              <a:rPr sz="1200" dirty="0" err="1">
                <a:latin typeface="Arial"/>
              </a:rPr>
              <a:t>LogBuffer</a:t>
            </a:r>
            <a:r>
              <a:rPr sz="1200" dirty="0">
                <a:latin typeface="Arial"/>
              </a:rPr>
              <a:t> storage live in memory?" → in every Cap and Label instance, even though they never write to it. "Is that a problem?" → in 4 stations, no. In a 50-station factory, yes.</a:t>
            </a:r>
          </a:p>
          <a:p>
            <a:r>
              <a:rPr sz="1200" dirty="0">
                <a:latin typeface="Arial"/>
              </a:rPr>
              <a:t>[PUSHBACK if asked] "100 strings × 120 chars × 2 unused stations = 24KB. Why are we obsessing about this?" → "You're right — for this scale, the memory cost is academic. The bigger problem is COGNITIVE. Every reader of </a:t>
            </a:r>
            <a:r>
              <a:rPr sz="1200" dirty="0" err="1">
                <a:latin typeface="Arial"/>
              </a:rPr>
              <a:t>FB_StationBase</a:t>
            </a:r>
            <a:r>
              <a:rPr sz="1200" dirty="0">
                <a:latin typeface="Arial"/>
              </a:rPr>
              <a:t> has to understand why </a:t>
            </a:r>
            <a:r>
              <a:rPr sz="1200" dirty="0" err="1">
                <a:latin typeface="Arial"/>
              </a:rPr>
              <a:t>LogBuffer</a:t>
            </a:r>
            <a:r>
              <a:rPr sz="1200" dirty="0">
                <a:latin typeface="Arial"/>
              </a:rPr>
              <a:t> exists when half the children don't use it. As your codebase grows, that noise compounds."</a:t>
            </a:r>
          </a:p>
          <a:p>
            <a:r>
              <a:rPr sz="1200" dirty="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31" Type="http://schemas.openxmlformats.org/officeDocument/2006/relationships/image" Target="../media/image1.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75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10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dirty="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770000"/>
                </a:solidFill>
                <a:latin typeface="Arial"/>
              </a:rPr>
              <a:t>60</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FillingLine_Procedural</a:t>
            </a:r>
            <a:r>
              <a:rPr lang="en-US" dirty="0"/>
              <a:t> Project</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release project </a:t>
            </a:r>
            <a:r>
              <a:rPr lang="en-US" dirty="0" err="1">
                <a:solidFill>
                  <a:srgbClr val="242A33"/>
                </a:solidFill>
                <a:latin typeface="Arial"/>
              </a:rPr>
              <a:t>FillingLine_Inheritance</a:t>
            </a:r>
            <a:endParaRPr lang="en-US" dirty="0">
              <a:solidFill>
                <a:srgbClr val="242A33"/>
              </a:solidFill>
              <a:latin typeface="Arial"/>
            </a:endParaRP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5 files  ·  +</a:t>
            </a:r>
            <a:r>
              <a:rPr lang="en-US" sz="6400" b="1" i="0" dirty="0">
                <a:solidFill>
                  <a:srgbClr val="770000"/>
                </a:solidFill>
                <a:latin typeface="Arial"/>
              </a:rPr>
              <a:t>54</a:t>
            </a:r>
            <a:r>
              <a:rPr sz="6400" b="1" i="0" dirty="0">
                <a:solidFill>
                  <a:srgbClr val="770000"/>
                </a:solidFill>
                <a:latin typeface="Arial"/>
              </a:rPr>
              <a:t>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branch</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stage-1-procedural...stage-1-cr2-applied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i="0" dirty="0">
                <a:solidFill>
                  <a:srgbClr val="770000"/>
                </a:solidFill>
                <a:latin typeface="Arial"/>
              </a:rPr>
              <a:t>48</a:t>
            </a:r>
            <a:r>
              <a:rPr sz="6400" b="1" i="0" dirty="0">
                <a:solidFill>
                  <a:srgbClr val="770000"/>
                </a:solidFill>
                <a:latin typeface="Arial"/>
              </a:rPr>
              <a:t>  −</a:t>
            </a:r>
            <a:r>
              <a:rPr lang="en-US" sz="6400" b="1" dirty="0">
                <a:solidFill>
                  <a:srgbClr val="770000"/>
                </a:solidFill>
                <a:latin typeface="Arial"/>
              </a:rPr>
              <a:t>12</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a:t>
            </a:r>
            <a:r>
              <a:rPr lang="en-US" sz="2000" b="1" dirty="0" err="1">
                <a:solidFill>
                  <a:srgbClr val="242A33"/>
                </a:solidFill>
                <a:latin typeface="Arial"/>
              </a:rPr>
              <a:t>repetiveness</a:t>
            </a:r>
            <a:r>
              <a:rPr lang="en-US" sz="2000" b="1" dirty="0">
                <a:solidFill>
                  <a:srgbClr val="242A33"/>
                </a:solidFill>
                <a:latin typeface="Arial"/>
              </a:rPr>
              <a:t>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stage-1-procedural...stage-1-cr3-applied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dirty="0">
                <a:solidFill>
                  <a:srgbClr val="770000"/>
                </a:solidFill>
                <a:latin typeface="Arial"/>
              </a:rPr>
              <a:t>9</a:t>
            </a:r>
            <a:r>
              <a:rPr sz="6400" b="1" i="0" dirty="0">
                <a:solidFill>
                  <a:srgbClr val="770000"/>
                </a:solidFill>
                <a:latin typeface="Arial"/>
              </a:rPr>
              <a:t>  −</a:t>
            </a:r>
            <a:r>
              <a:rPr lang="en-US" sz="6400" b="1" dirty="0">
                <a:solidFill>
                  <a:srgbClr val="770000"/>
                </a:solidFill>
                <a:latin typeface="Arial"/>
              </a:rPr>
              <a:t>1</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1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graphicFrame>
        <p:nvGraphicFramePr>
          <p:cNvPr id="5" name="Table 4">
            <a:extLst>
              <a:ext uri="{FF2B5EF4-FFF2-40B4-BE49-F238E27FC236}">
                <a16:creationId xmlns:a16="http://schemas.microsoft.com/office/drawing/2014/main" id="{EDD6627A-8765-3D93-B45D-AA15DF280B2A}"/>
              </a:ext>
            </a:extLst>
          </p:cNvPr>
          <p:cNvGraphicFramePr>
            <a:graphicFrameLocks noGrp="1"/>
          </p:cNvGraphicFramePr>
          <p:nvPr>
            <p:extLst>
              <p:ext uri="{D42A27DB-BD31-4B8C-83A1-F6EECF244321}">
                <p14:modId xmlns:p14="http://schemas.microsoft.com/office/powerpoint/2010/main" val="4432416"/>
              </p:ext>
            </p:extLst>
          </p:nvPr>
        </p:nvGraphicFramePr>
        <p:xfrm>
          <a:off x="533400" y="1523999"/>
          <a:ext cx="10253980" cy="5084276"/>
        </p:xfrm>
        <a:graphic>
          <a:graphicData uri="http://schemas.openxmlformats.org/drawingml/2006/table">
            <a:tbl>
              <a:tblPr firstRow="1" bandRow="1">
                <a:tableStyleId>{0817EA92-75D0-4044-A80A-286907CE0DDC}</a:tableStyleId>
              </a:tblPr>
              <a:tblGrid>
                <a:gridCol w="4729480">
                  <a:extLst>
                    <a:ext uri="{9D8B030D-6E8A-4147-A177-3AD203B41FA5}">
                      <a16:colId xmlns:a16="http://schemas.microsoft.com/office/drawing/2014/main" val="656841972"/>
                    </a:ext>
                  </a:extLst>
                </a:gridCol>
                <a:gridCol w="5524500">
                  <a:extLst>
                    <a:ext uri="{9D8B030D-6E8A-4147-A177-3AD203B41FA5}">
                      <a16:colId xmlns:a16="http://schemas.microsoft.com/office/drawing/2014/main" val="2497394446"/>
                    </a:ext>
                  </a:extLst>
                </a:gridCol>
              </a:tblGrid>
              <a:tr h="813869">
                <a:tc>
                  <a:txBody>
                    <a:bodyPr/>
                    <a:lstStyle/>
                    <a:p>
                      <a:pPr algn="ctr"/>
                      <a:r>
                        <a:rPr lang="en-US" sz="2800" dirty="0"/>
                        <a:t>Pros</a:t>
                      </a:r>
                    </a:p>
                  </a:txBody>
                  <a:tcPr anchor="ctr"/>
                </a:tc>
                <a:tc>
                  <a:txBody>
                    <a:bodyPr/>
                    <a:lstStyle/>
                    <a:p>
                      <a:pPr algn="ctr"/>
                      <a:r>
                        <a:rPr lang="en-US" sz="2800" dirty="0"/>
                        <a:t>Cons</a:t>
                      </a:r>
                      <a:endParaRPr lang="en-US" dirty="0"/>
                    </a:p>
                  </a:txBody>
                  <a:tcPr anchor="ctr"/>
                </a:tc>
                <a:extLst>
                  <a:ext uri="{0D108BD9-81ED-4DB2-BD59-A6C34878D82A}">
                    <a16:rowId xmlns:a16="http://schemas.microsoft.com/office/drawing/2014/main" val="3668914003"/>
                  </a:ext>
                </a:extLst>
              </a:tr>
              <a:tr h="813869">
                <a:tc>
                  <a:txBody>
                    <a:bodyPr/>
                    <a:lstStyle/>
                    <a:p>
                      <a:r>
                        <a:rPr lang="en-US" b="1" dirty="0"/>
                        <a:t>Simple and familiar</a:t>
                      </a:r>
                    </a:p>
                    <a:p>
                      <a:r>
                        <a:rPr lang="en-US" dirty="0"/>
                        <a:t>Every controls engineer knows this structure</a:t>
                      </a:r>
                    </a:p>
                  </a:txBody>
                  <a:tcPr/>
                </a:tc>
                <a:tc>
                  <a:txBody>
                    <a:bodyPr/>
                    <a:lstStyle/>
                    <a:p>
                      <a:r>
                        <a:rPr lang="en-US" b="1" dirty="0"/>
                        <a:t>Same change made in every station file</a:t>
                      </a:r>
                    </a:p>
                    <a:p>
                      <a:r>
                        <a:rPr lang="en-US" dirty="0"/>
                        <a:t>No mechanism to enforce consistency</a:t>
                      </a:r>
                    </a:p>
                    <a:p>
                      <a:endParaRPr lang="en-US" dirty="0"/>
                    </a:p>
                  </a:txBody>
                  <a:tcPr/>
                </a:tc>
                <a:extLst>
                  <a:ext uri="{0D108BD9-81ED-4DB2-BD59-A6C34878D82A}">
                    <a16:rowId xmlns:a16="http://schemas.microsoft.com/office/drawing/2014/main" val="2220351396"/>
                  </a:ext>
                </a:extLst>
              </a:tr>
              <a:tr h="813869">
                <a:tc>
                  <a:txBody>
                    <a:bodyPr/>
                    <a:lstStyle/>
                    <a:p>
                      <a:r>
                        <a:rPr lang="en-US" b="1" dirty="0"/>
                        <a:t>Easy to read</a:t>
                      </a:r>
                    </a:p>
                    <a:p>
                      <a:r>
                        <a:rPr lang="en-US" dirty="0"/>
                        <a:t>Entire station behavior is visible in one file</a:t>
                      </a:r>
                    </a:p>
                  </a:txBody>
                  <a:tcPr/>
                </a:tc>
                <a:tc>
                  <a:txBody>
                    <a:bodyPr/>
                    <a:lstStyle/>
                    <a:p>
                      <a:r>
                        <a:rPr lang="en-US" b="1" dirty="0"/>
                        <a:t>Copy-paste is the only tool for sharing logic</a:t>
                      </a:r>
                      <a:r>
                        <a:rPr lang="en-US" dirty="0"/>
                        <a:t> </a:t>
                      </a:r>
                    </a:p>
                    <a:p>
                      <a:r>
                        <a:rPr lang="en-US" dirty="0"/>
                        <a:t>Drift is inevitable</a:t>
                      </a:r>
                    </a:p>
                  </a:txBody>
                  <a:tcPr/>
                </a:tc>
                <a:extLst>
                  <a:ext uri="{0D108BD9-81ED-4DB2-BD59-A6C34878D82A}">
                    <a16:rowId xmlns:a16="http://schemas.microsoft.com/office/drawing/2014/main" val="1916241326"/>
                  </a:ext>
                </a:extLst>
              </a:tr>
              <a:tr h="813869">
                <a:tc>
                  <a:txBody>
                    <a:bodyPr/>
                    <a:lstStyle/>
                    <a:p>
                      <a:r>
                        <a:rPr lang="en-US" b="1" dirty="0"/>
                        <a:t>No framework knowledge required</a:t>
                      </a:r>
                    </a:p>
                  </a:txBody>
                  <a:tcPr/>
                </a:tc>
                <a:tc>
                  <a:txBody>
                    <a:bodyPr/>
                    <a:lstStyle/>
                    <a:p>
                      <a:r>
                        <a:rPr lang="en-US" b="1" dirty="0"/>
                        <a:t>Discipline is the only defense against inconsistency</a:t>
                      </a:r>
                    </a:p>
                    <a:p>
                      <a:r>
                        <a:rPr lang="en-US" dirty="0"/>
                        <a:t>And discipline is bounded</a:t>
                      </a:r>
                    </a:p>
                  </a:txBody>
                  <a:tcPr/>
                </a:tc>
                <a:extLst>
                  <a:ext uri="{0D108BD9-81ED-4DB2-BD59-A6C34878D82A}">
                    <a16:rowId xmlns:a16="http://schemas.microsoft.com/office/drawing/2014/main" val="384516137"/>
                  </a:ext>
                </a:extLst>
              </a:tr>
              <a:tr h="813869">
                <a:tc>
                  <a:txBody>
                    <a:bodyPr/>
                    <a:lstStyle/>
                    <a:p>
                      <a:r>
                        <a:rPr lang="en-US" b="1" dirty="0"/>
                        <a:t>Fast to write for first implementation</a:t>
                      </a:r>
                    </a:p>
                    <a:p>
                      <a:endParaRPr lang="en-US" dirty="0"/>
                    </a:p>
                  </a:txBody>
                  <a:tcPr/>
                </a:tc>
                <a:tc>
                  <a:txBody>
                    <a:bodyPr/>
                    <a:lstStyle/>
                    <a:p>
                      <a:r>
                        <a:rPr lang="en-US" b="1" dirty="0"/>
                        <a:t>Cross-cutting changes ripple across every station file</a:t>
                      </a:r>
                    </a:p>
                  </a:txBody>
                  <a:tcPr/>
                </a:tc>
                <a:extLst>
                  <a:ext uri="{0D108BD9-81ED-4DB2-BD59-A6C34878D82A}">
                    <a16:rowId xmlns:a16="http://schemas.microsoft.com/office/drawing/2014/main" val="3349749003"/>
                  </a:ext>
                </a:extLst>
              </a:tr>
              <a:tr h="813869">
                <a:tc>
                  <a:txBody>
                    <a:bodyPr/>
                    <a:lstStyle/>
                    <a:p>
                      <a:r>
                        <a:rPr lang="en-US" b="1" dirty="0"/>
                        <a:t>Easy to debug</a:t>
                      </a:r>
                      <a:r>
                        <a:rPr lang="en-US" dirty="0"/>
                        <a:t> </a:t>
                      </a:r>
                    </a:p>
                    <a:p>
                      <a:r>
                        <a:rPr lang="en-US" dirty="0"/>
                        <a:t>No inheritance chain to trace</a:t>
                      </a:r>
                    </a:p>
                  </a:txBody>
                  <a:tcPr/>
                </a:tc>
                <a:tc>
                  <a:txBody>
                    <a:bodyPr/>
                    <a:lstStyle/>
                    <a:p>
                      <a:r>
                        <a:rPr lang="en-US" b="1" dirty="0"/>
                        <a:t>One requirement, five files to touch – and counting</a:t>
                      </a:r>
                    </a:p>
                  </a:txBody>
                  <a:tcPr/>
                </a:tc>
                <a:extLst>
                  <a:ext uri="{0D108BD9-81ED-4DB2-BD59-A6C34878D82A}">
                    <a16:rowId xmlns:a16="http://schemas.microsoft.com/office/drawing/2014/main" val="113401309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627186"/>
                </a:solidFill>
                <a:latin typeface="Arial"/>
              </a:rPr>
              <a:t>75</a:t>
            </a:r>
            <a:r>
              <a:rPr sz="1800" b="1" i="0" dirty="0">
                <a:solidFill>
                  <a:srgbClr val="627186"/>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of the solution</a:t>
            </a:r>
          </a:p>
          <a:p>
            <a:r>
              <a:rPr lang="en-US" dirty="0"/>
              <a:t>Go to the </a:t>
            </a:r>
            <a:r>
              <a:rPr lang="en-US" dirty="0" err="1"/>
              <a:t>FillingLine_Inheritance</a:t>
            </a:r>
            <a:r>
              <a:rPr lang="en-US" dirty="0"/>
              <a:t> Project</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 projects</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2" y="1090799"/>
            <a:ext cx="11887197" cy="5331600"/>
          </a:xfrm>
        </p:spPr>
        <p:txBody>
          <a:bodyPr wrap="square"/>
          <a:lstStyle/>
          <a:p>
            <a:pPr algn="l">
              <a:lnSpc>
                <a:spcPct val="130000"/>
              </a:lnSpc>
            </a:pPr>
            <a:r>
              <a:rPr sz="2000" b="1" dirty="0">
                <a:solidFill>
                  <a:srgbClr val="627186"/>
                </a:solidFill>
                <a:latin typeface="Arial"/>
              </a:rPr>
              <a:t>▸  </a:t>
            </a:r>
            <a:r>
              <a:rPr sz="2000" b="1" dirty="0" err="1">
                <a:solidFill>
                  <a:srgbClr val="242A33"/>
                </a:solidFill>
                <a:latin typeface="Arial"/>
              </a:rPr>
              <a:t>FB_StationFill</a:t>
            </a:r>
            <a:r>
              <a:rPr sz="2000" b="1" dirty="0">
                <a:solidFill>
                  <a:srgbClr val="242A33"/>
                </a:solidFill>
                <a:latin typeface="Arial"/>
              </a:rPr>
              <a:t> </a:t>
            </a:r>
            <a:r>
              <a:rPr sz="2000" dirty="0">
                <a:solidFill>
                  <a:srgbClr val="242A33"/>
                </a:solidFill>
                <a:latin typeface="Arial"/>
              </a:rPr>
              <a:t>— 107 lines → 67. </a:t>
            </a:r>
            <a:r>
              <a:rPr sz="2000" b="1" dirty="0">
                <a:solidFill>
                  <a:srgbClr val="242A33"/>
                </a:solidFill>
                <a:latin typeface="Arial"/>
              </a:rPr>
              <a:t>42% smaller</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#1 fixed </a:t>
            </a:r>
            <a:r>
              <a:rPr sz="2000" dirty="0">
                <a:solidFill>
                  <a:srgbClr val="242A33"/>
                </a:solidFill>
                <a:latin typeface="Arial"/>
              </a:rPr>
              <a:t>— base normalizes alarm-ack to R_TRIG.</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#2 fixed </a:t>
            </a:r>
            <a:r>
              <a:rPr sz="2000" dirty="0">
                <a:solidFill>
                  <a:srgbClr val="242A33"/>
                </a:solidFill>
                <a:latin typeface="Arial"/>
              </a:rPr>
              <a:t>— Label normalized to 0/10/20/30.</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#3 fixed </a:t>
            </a:r>
            <a:r>
              <a:rPr sz="2000" dirty="0">
                <a:solidFill>
                  <a:srgbClr val="242A33"/>
                </a:solidFill>
                <a:latin typeface="Arial"/>
              </a:rPr>
              <a:t>— dead </a:t>
            </a:r>
            <a:r>
              <a:rPr sz="2000" dirty="0" err="1">
                <a:solidFill>
                  <a:srgbClr val="242A33"/>
                </a:solidFill>
                <a:latin typeface="Arial"/>
              </a:rPr>
              <a:t>ManualStep</a:t>
            </a:r>
            <a:r>
              <a:rPr sz="2000" dirty="0">
                <a:solidFill>
                  <a:srgbClr val="242A33"/>
                </a:solidFill>
                <a:latin typeface="Arial"/>
              </a:rPr>
              <a:t> doesn't propagate.</a:t>
            </a:r>
          </a:p>
        </p:txBody>
      </p:sp>
      <p:sp>
        <p:nvSpPr>
          <p:cNvPr id="3" name="Title 2"/>
          <p:cNvSpPr>
            <a:spLocks noGrp="1"/>
          </p:cNvSpPr>
          <p:nvPr>
            <p:ph type="title"/>
          </p:nvPr>
        </p:nvSpPr>
        <p:spPr/>
        <p:txBody>
          <a:bodyPr/>
          <a:lstStyle/>
          <a:p>
            <a:r>
              <a:rPr dirty="0"/>
              <a:t>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release branch in </a:t>
            </a:r>
            <a:r>
              <a:rPr lang="en-US" dirty="0" err="1">
                <a:solidFill>
                  <a:srgbClr val="242A33"/>
                </a:solidFill>
                <a:latin typeface="Arial"/>
              </a:rPr>
              <a:t>FillingLine_Inheritance</a:t>
            </a:r>
            <a:r>
              <a:rPr lang="en-US" dirty="0">
                <a:solidFill>
                  <a:srgbClr val="242A33"/>
                </a:solidFill>
                <a:latin typeface="Arial"/>
              </a:rPr>
              <a:t> Project</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r>
              <a:rPr lang="en-US" dirty="0"/>
              <a:t>Spend 5-10 minutes writing code</a:t>
            </a:r>
            <a:endParaRPr lang="en-US" dirty="0">
              <a:solidFill>
                <a:srgbClr val="242A33"/>
              </a:solidFill>
              <a:latin typeface="Arial"/>
            </a:endParaRPr>
          </a:p>
          <a:p>
            <a:pPr marL="0" indent="0">
              <a:lnSpc>
                <a:spcPct val="130000"/>
              </a:lnSpc>
              <a:spcBef>
                <a:spcPts val="400"/>
              </a:spcBef>
              <a:buNone/>
            </a:pPr>
            <a:endParaRPr lang="en-US" dirty="0">
              <a:solidFill>
                <a:srgbClr val="242A33"/>
              </a:solidFill>
              <a:latin typeface="Arial"/>
            </a:endParaRP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lang="en-US" sz="6400" b="1" dirty="0">
                <a:solidFill>
                  <a:srgbClr val="627186"/>
                </a:solidFill>
                <a:latin typeface="Arial"/>
              </a:rPr>
              <a:t>3</a:t>
            </a:r>
            <a:r>
              <a:rPr sz="6400" b="1" i="0" dirty="0">
                <a:solidFill>
                  <a:srgbClr val="627186"/>
                </a:solidFill>
                <a:latin typeface="Arial"/>
              </a:rPr>
              <a:t> files  ·  +</a:t>
            </a:r>
            <a:r>
              <a:rPr lang="en-US" sz="6400" b="1" dirty="0">
                <a:solidFill>
                  <a:srgbClr val="627186"/>
                </a:solidFill>
                <a:latin typeface="Arial"/>
              </a:rPr>
              <a:t>?</a:t>
            </a:r>
            <a:r>
              <a:rPr sz="6400" b="1" i="0" dirty="0">
                <a:solidFill>
                  <a:srgbClr val="627186"/>
                </a:solidFill>
                <a:latin typeface="Arial"/>
              </a:rPr>
              <a:t>  −</a:t>
            </a:r>
            <a:r>
              <a:rPr lang="en-US" sz="6400" b="1" i="0" dirty="0">
                <a:solidFill>
                  <a:srgbClr val="627186"/>
                </a:solidFill>
                <a:latin typeface="Arial"/>
              </a:rPr>
              <a:t>?</a:t>
            </a:r>
            <a:endParaRPr sz="6400" b="1" i="0" dirty="0">
              <a:solidFill>
                <a:srgbClr val="627186"/>
              </a:solidFill>
              <a:latin typeface="Arial"/>
            </a:endParaRP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3202415"/>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a:t>
            </a:r>
            <a:endParaRPr lang="en-US" sz="1800" dirty="0">
              <a:solidFill>
                <a:srgbClr val="242A33"/>
              </a:solidFill>
              <a:latin typeface="Arial"/>
            </a:endParaRP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Majority of code changes reside in base class  </a:t>
            </a: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Cap, Inspect, Label unchanged!</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a:p>
            <a:pPr lvl="1">
              <a:lnSpc>
                <a:spcPct val="130000"/>
              </a:lnSpc>
            </a:pPr>
            <a:r>
              <a:rPr lang="en-US" sz="2000" dirty="0">
                <a:solidFill>
                  <a:srgbClr val="242A33"/>
                </a:solidFill>
              </a:rPr>
              <a:t>Monitoring() overrides the base class – </a:t>
            </a:r>
            <a:r>
              <a:rPr lang="en-US" sz="2000" dirty="0" err="1">
                <a:solidFill>
                  <a:srgbClr val="242A33"/>
                </a:solidFill>
              </a:rPr>
              <a:t>SUPER^.Monitoring</a:t>
            </a:r>
            <a:r>
              <a:rPr lang="en-US" sz="2000" dirty="0">
                <a:solidFill>
                  <a:srgbClr val="242A33"/>
                </a:solidFill>
              </a:rPr>
              <a:t>() is </a:t>
            </a:r>
            <a:r>
              <a:rPr lang="en-US" sz="2000" u="sng" dirty="0">
                <a:solidFill>
                  <a:srgbClr val="242A33"/>
                </a:solidFill>
              </a:rPr>
              <a:t>not</a:t>
            </a:r>
            <a:r>
              <a:rPr lang="en-US" sz="2000" dirty="0">
                <a:solidFill>
                  <a:srgbClr val="242A33"/>
                </a:solidFill>
              </a:rPr>
              <a:t> called, instead programmer copied contents of base method. </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4952997" cy="5331600"/>
          </a:xfrm>
        </p:spPr>
        <p:txBody>
          <a:bodyPr wrap="square"/>
          <a:lstStyle/>
          <a:p>
            <a:pPr algn="l">
              <a:lnSpc>
                <a:spcPct val="130000"/>
              </a:lnSpc>
            </a:pPr>
            <a:r>
              <a:rPr sz="2000" dirty="0">
                <a:latin typeface="Arial"/>
              </a:rPr>
              <a:t>Skipping SUPER^ severs the inheritance chain silently </a:t>
            </a:r>
            <a:r>
              <a:rPr lang="en-US" sz="2000" dirty="0">
                <a:latin typeface="Arial"/>
              </a:rPr>
              <a:t>–</a:t>
            </a:r>
            <a:r>
              <a:rPr sz="2000" dirty="0">
                <a:latin typeface="Arial"/>
              </a:rPr>
              <a:t> no compiler warning</a:t>
            </a:r>
          </a:p>
          <a:p>
            <a:pPr algn="l">
              <a:lnSpc>
                <a:spcPct val="130000"/>
              </a:lnSpc>
            </a:pPr>
            <a:r>
              <a:rPr lang="en-US" sz="2000" dirty="0">
                <a:solidFill>
                  <a:srgbClr val="242A33"/>
                </a:solidFill>
                <a:latin typeface="Arial"/>
              </a:rPr>
              <a:t>Base and root class improvements no longer flow to the derived class </a:t>
            </a:r>
          </a:p>
          <a:p>
            <a:pPr algn="l">
              <a:lnSpc>
                <a:spcPct val="130000"/>
              </a:lnSpc>
            </a:pPr>
            <a:r>
              <a:rPr lang="en-US" sz="2000" dirty="0">
                <a:solidFill>
                  <a:srgbClr val="242A33"/>
                </a:solidFill>
                <a:latin typeface="Arial"/>
              </a:rPr>
              <a:t>Duplicated logic must be maintained in two places indefinitely</a:t>
            </a:r>
          </a:p>
          <a:p>
            <a:pPr algn="l">
              <a:lnSpc>
                <a:spcPct val="130000"/>
              </a:lnSpc>
            </a:pPr>
            <a:r>
              <a:rPr lang="en-US" sz="2000" dirty="0">
                <a:solidFill>
                  <a:srgbClr val="242A33"/>
                </a:solidFill>
                <a:latin typeface="Arial"/>
              </a:rPr>
              <a:t>A single missed update creates subtle, hard-to-find bugs</a:t>
            </a:r>
          </a:p>
          <a:p>
            <a:pPr algn="l">
              <a:lnSpc>
                <a:spcPct val="130000"/>
              </a:lnSpc>
            </a:pPr>
            <a:r>
              <a:rPr lang="en-US" sz="2000" b="1" dirty="0">
                <a:solidFill>
                  <a:srgbClr val="242A33"/>
                </a:solidFill>
                <a:latin typeface="Arial"/>
              </a:rPr>
              <a:t>Inheritance only saves work if the chain stays intact</a:t>
            </a:r>
          </a:p>
        </p:txBody>
      </p:sp>
      <p:sp>
        <p:nvSpPr>
          <p:cNvPr id="3" name="Title 2"/>
          <p:cNvSpPr>
            <a:spLocks noGrp="1"/>
          </p:cNvSpPr>
          <p:nvPr>
            <p:ph type="title"/>
          </p:nvPr>
        </p:nvSpPr>
        <p:spPr/>
        <p:txBody>
          <a:bodyPr/>
          <a:lstStyle/>
          <a:p>
            <a:r>
              <a:rPr lang="en-US" dirty="0"/>
              <a:t>Peril of Breaking the Inheritance Chain </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15" name="Group 14">
            <a:extLst>
              <a:ext uri="{FF2B5EF4-FFF2-40B4-BE49-F238E27FC236}">
                <a16:creationId xmlns:a16="http://schemas.microsoft.com/office/drawing/2014/main" id="{51211A76-EC7D-0127-4507-F21AF996F5F0}"/>
              </a:ext>
            </a:extLst>
          </p:cNvPr>
          <p:cNvGrpSpPr/>
          <p:nvPr/>
        </p:nvGrpSpPr>
        <p:grpSpPr>
          <a:xfrm>
            <a:off x="5068799" y="2005004"/>
            <a:ext cx="6858000" cy="3328996"/>
            <a:chOff x="2362200" y="2778617"/>
            <a:chExt cx="7772400" cy="3914791"/>
          </a:xfrm>
        </p:grpSpPr>
        <p:pic>
          <p:nvPicPr>
            <p:cNvPr id="16" name="Picture 1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7" name="Multiplication Sign 16">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03761-E5E2-FF10-ED25-CD1CF9D27D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33113E-E571-F659-360B-EFAF4E4CA370}"/>
              </a:ext>
            </a:extLst>
          </p:cNvPr>
          <p:cNvSpPr>
            <a:spLocks noGrp="1"/>
          </p:cNvSpPr>
          <p:nvPr>
            <p:ph type="title"/>
          </p:nvPr>
        </p:nvSpPr>
        <p:spPr/>
        <p:txBody>
          <a:bodyPr/>
          <a:lstStyle/>
          <a:p>
            <a:r>
              <a:rPr dirty="0"/>
              <a:t>Lab 2D: CR-3  ·  Selective cycle logging</a:t>
            </a:r>
          </a:p>
        </p:txBody>
      </p:sp>
      <p:sp>
        <p:nvSpPr>
          <p:cNvPr id="4" name="TextBox 3">
            <a:extLst>
              <a:ext uri="{FF2B5EF4-FFF2-40B4-BE49-F238E27FC236}">
                <a16:creationId xmlns:a16="http://schemas.microsoft.com/office/drawing/2014/main" id="{3839243B-250B-0D63-EEE7-E2C54F991DB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7C3F900D-A256-411C-1C86-2CEA372FE60C}"/>
              </a:ext>
            </a:extLst>
          </p:cNvPr>
          <p:cNvSpPr txBox="1">
            <a:spLocks/>
          </p:cNvSpPr>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Instructions:</a:t>
            </a:r>
            <a:endParaRPr lang="en-US" sz="2000" b="1" dirty="0">
              <a:solidFill>
                <a:srgbClr val="770000"/>
              </a:solidFill>
              <a:latin typeface="Arial"/>
            </a:endParaRPr>
          </a:p>
          <a:p>
            <a:pPr>
              <a:lnSpc>
                <a:spcPct val="130000"/>
              </a:lnSpc>
            </a:pPr>
            <a:r>
              <a:rPr lang="en-US" sz="2000" dirty="0">
                <a:solidFill>
                  <a:srgbClr val="242A33"/>
                </a:solidFill>
                <a:latin typeface="Arial"/>
              </a:rPr>
              <a:t>Open CR3-applied branch and go to </a:t>
            </a:r>
            <a:r>
              <a:rPr lang="en-US" sz="2000" dirty="0" err="1">
                <a:solidFill>
                  <a:srgbClr val="242A33"/>
                </a:solidFill>
                <a:latin typeface="Arial"/>
              </a:rPr>
              <a:t>FillingLine_Inheritance</a:t>
            </a:r>
            <a:endParaRPr lang="en-US" sz="2000" dirty="0">
              <a:solidFill>
                <a:srgbClr val="242A33"/>
              </a:solidFill>
              <a:latin typeface="Arial"/>
            </a:endParaRPr>
          </a:p>
          <a:p>
            <a:pPr>
              <a:lnSpc>
                <a:spcPct val="130000"/>
              </a:lnSpc>
              <a:spcBef>
                <a:spcPts val="400"/>
              </a:spcBef>
            </a:pPr>
            <a:r>
              <a:rPr lang="en-US" sz="2000" dirty="0">
                <a:latin typeface="Arial"/>
              </a:rPr>
              <a:t>Find buffer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added methods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overriding methods in derived FBs</a:t>
            </a:r>
          </a:p>
        </p:txBody>
      </p:sp>
      <p:sp>
        <p:nvSpPr>
          <p:cNvPr id="2" name="Text Placeholder 1">
            <a:extLst>
              <a:ext uri="{FF2B5EF4-FFF2-40B4-BE49-F238E27FC236}">
                <a16:creationId xmlns:a16="http://schemas.microsoft.com/office/drawing/2014/main" id="{6EB02E91-B9E1-2CB0-8ECA-1CF46174AD54}"/>
              </a:ext>
            </a:extLst>
          </p:cNvPr>
          <p:cNvSpPr txBox="1">
            <a:spLocks/>
          </p:cNvSpPr>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dirty="0">
                <a:solidFill>
                  <a:srgbClr val="242A33"/>
                </a:solidFill>
                <a:latin typeface="Arial"/>
              </a:rPr>
              <a:t>Log cycle data for Fill and Inspect. Cap and Label don't need it.</a:t>
            </a:r>
          </a:p>
          <a:p>
            <a:pPr>
              <a:lnSpc>
                <a:spcPct val="130000"/>
              </a:lnSpc>
              <a:spcBef>
                <a:spcPts val="400"/>
              </a:spcBef>
            </a:pPr>
            <a:endParaRPr lang="en-US" sz="2000" dirty="0">
              <a:solidFill>
                <a:srgbClr val="242A33"/>
              </a:solidFill>
              <a:latin typeface="Arial"/>
            </a:endParaRPr>
          </a:p>
        </p:txBody>
      </p:sp>
    </p:spTree>
    <p:extLst>
      <p:ext uri="{BB962C8B-B14F-4D97-AF65-F5344CB8AC3E}">
        <p14:creationId xmlns:p14="http://schemas.microsoft.com/office/powerpoint/2010/main" val="2693696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graphicFrame>
        <p:nvGraphicFramePr>
          <p:cNvPr id="7" name="Table 6">
            <a:extLst>
              <a:ext uri="{FF2B5EF4-FFF2-40B4-BE49-F238E27FC236}">
                <a16:creationId xmlns:a16="http://schemas.microsoft.com/office/drawing/2014/main" id="{C21F56CF-1D82-4B94-1AED-9B189D7D323E}"/>
              </a:ext>
            </a:extLst>
          </p:cNvPr>
          <p:cNvGraphicFramePr>
            <a:graphicFrameLocks noGrp="1"/>
          </p:cNvGraphicFramePr>
          <p:nvPr>
            <p:extLst>
              <p:ext uri="{D42A27DB-BD31-4B8C-83A1-F6EECF244321}">
                <p14:modId xmlns:p14="http://schemas.microsoft.com/office/powerpoint/2010/main" val="175209732"/>
              </p:ext>
            </p:extLst>
          </p:nvPr>
        </p:nvGraphicFramePr>
        <p:xfrm>
          <a:off x="533400" y="1447799"/>
          <a:ext cx="11201400" cy="4959415"/>
        </p:xfrm>
        <a:graphic>
          <a:graphicData uri="http://schemas.openxmlformats.org/drawingml/2006/table">
            <a:tbl>
              <a:tblPr firstRow="1" bandRow="1">
                <a:tableStyleId>{0817EA92-75D0-4044-A80A-286907CE0DDC}</a:tableStyleId>
              </a:tblPr>
              <a:tblGrid>
                <a:gridCol w="5600700">
                  <a:extLst>
                    <a:ext uri="{9D8B030D-6E8A-4147-A177-3AD203B41FA5}">
                      <a16:colId xmlns:a16="http://schemas.microsoft.com/office/drawing/2014/main" val="3442526194"/>
                    </a:ext>
                  </a:extLst>
                </a:gridCol>
                <a:gridCol w="5600700">
                  <a:extLst>
                    <a:ext uri="{9D8B030D-6E8A-4147-A177-3AD203B41FA5}">
                      <a16:colId xmlns:a16="http://schemas.microsoft.com/office/drawing/2014/main" val="2220569810"/>
                    </a:ext>
                  </a:extLst>
                </a:gridCol>
              </a:tblGrid>
              <a:tr h="991883">
                <a:tc>
                  <a:txBody>
                    <a:bodyPr/>
                    <a:lstStyle/>
                    <a:p>
                      <a:pPr algn="ctr"/>
                      <a:r>
                        <a:rPr lang="en-US" sz="2800" dirty="0"/>
                        <a:t>Pros</a:t>
                      </a:r>
                    </a:p>
                  </a:txBody>
                  <a:tcPr anchor="ctr"/>
                </a:tc>
                <a:tc>
                  <a:txBody>
                    <a:bodyPr/>
                    <a:lstStyle/>
                    <a:p>
                      <a:pPr algn="ctr"/>
                      <a:r>
                        <a:rPr lang="en-US" sz="2800" dirty="0"/>
                        <a:t>Cons</a:t>
                      </a:r>
                    </a:p>
                  </a:txBody>
                  <a:tcPr anchor="ctr"/>
                </a:tc>
                <a:extLst>
                  <a:ext uri="{0D108BD9-81ED-4DB2-BD59-A6C34878D82A}">
                    <a16:rowId xmlns:a16="http://schemas.microsoft.com/office/drawing/2014/main" val="422948761"/>
                  </a:ext>
                </a:extLst>
              </a:tr>
              <a:tr h="991883">
                <a:tc>
                  <a:txBody>
                    <a:bodyPr/>
                    <a:lstStyle/>
                    <a:p>
                      <a:r>
                        <a:rPr lang="en-US" dirty="0"/>
                        <a:t>Common code written once, inherited by all</a:t>
                      </a:r>
                    </a:p>
                  </a:txBody>
                  <a:tcPr/>
                </a:tc>
                <a:tc>
                  <a:txBody>
                    <a:bodyPr/>
                    <a:lstStyle/>
                    <a:p>
                      <a:r>
                        <a:rPr lang="en-US" dirty="0"/>
                        <a:t>Base accumulates features all children inherit whether they need them or not</a:t>
                      </a:r>
                    </a:p>
                  </a:txBody>
                  <a:tcPr/>
                </a:tc>
                <a:extLst>
                  <a:ext uri="{0D108BD9-81ED-4DB2-BD59-A6C34878D82A}">
                    <a16:rowId xmlns:a16="http://schemas.microsoft.com/office/drawing/2014/main" val="2572328462"/>
                  </a:ext>
                </a:extLst>
              </a:tr>
              <a:tr h="991883">
                <a:tc>
                  <a:txBody>
                    <a:bodyPr/>
                    <a:lstStyle/>
                    <a:p>
                      <a:r>
                        <a:rPr lang="en-US" dirty="0"/>
                        <a:t>Architecture enforces consistency – no discipline required</a:t>
                      </a:r>
                    </a:p>
                  </a:txBody>
                  <a:tcPr/>
                </a:tc>
                <a:tc>
                  <a:txBody>
                    <a:bodyPr/>
                    <a:lstStyle/>
                    <a:p>
                      <a:r>
                        <a:rPr lang="en-US" dirty="0"/>
                        <a:t>No way to modify a part of an inherited method – it’s all or nothing </a:t>
                      </a:r>
                    </a:p>
                  </a:txBody>
                  <a:tcPr/>
                </a:tc>
                <a:extLst>
                  <a:ext uri="{0D108BD9-81ED-4DB2-BD59-A6C34878D82A}">
                    <a16:rowId xmlns:a16="http://schemas.microsoft.com/office/drawing/2014/main" val="1871502459"/>
                  </a:ext>
                </a:extLst>
              </a:tr>
              <a:tr h="991883">
                <a:tc>
                  <a:txBody>
                    <a:bodyPr/>
                    <a:lstStyle/>
                    <a:p>
                      <a:r>
                        <a:rPr lang="en-US" dirty="0"/>
                        <a:t>Cross-cutting changes touch one file instead of four</a:t>
                      </a:r>
                    </a:p>
                  </a:txBody>
                  <a:tcPr/>
                </a:tc>
                <a:tc>
                  <a:txBody>
                    <a:bodyPr/>
                    <a:lstStyle/>
                    <a:p>
                      <a:r>
                        <a:rPr lang="en-US" dirty="0"/>
                        <a:t>Skipping SUPER^ severs the entire framework chain (consequence of above)</a:t>
                      </a:r>
                    </a:p>
                  </a:txBody>
                  <a:tcPr/>
                </a:tc>
                <a:extLst>
                  <a:ext uri="{0D108BD9-81ED-4DB2-BD59-A6C34878D82A}">
                    <a16:rowId xmlns:a16="http://schemas.microsoft.com/office/drawing/2014/main" val="26321134"/>
                  </a:ext>
                </a:extLst>
              </a:tr>
              <a:tr h="991883">
                <a:tc>
                  <a:txBody>
                    <a:bodyPr/>
                    <a:lstStyle/>
                    <a:p>
                      <a:r>
                        <a:rPr lang="en-US" dirty="0"/>
                        <a:t>Stage 1 drift eliminated</a:t>
                      </a:r>
                    </a:p>
                  </a:txBody>
                  <a:tcPr/>
                </a:tc>
                <a:tc>
                  <a:txBody>
                    <a:bodyPr/>
                    <a:lstStyle/>
                    <a:p>
                      <a:r>
                        <a:rPr lang="en-US" dirty="0"/>
                        <a:t>The base that helped in CR-1 becomes the constraint in CR-2</a:t>
                      </a:r>
                    </a:p>
                  </a:txBody>
                  <a:tcPr/>
                </a:tc>
                <a:extLst>
                  <a:ext uri="{0D108BD9-81ED-4DB2-BD59-A6C34878D82A}">
                    <a16:rowId xmlns:a16="http://schemas.microsoft.com/office/drawing/2014/main" val="73060348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13798</Words>
  <Application>Microsoft Office PowerPoint</Application>
  <PresentationFormat>Widescreen</PresentationFormat>
  <Paragraphs>959</Paragraphs>
  <Slides>82</Slides>
  <Notes>77</Notes>
  <HiddenSlides>7</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82</vt:i4>
      </vt:variant>
    </vt:vector>
  </HeadingPairs>
  <TitlesOfParts>
    <vt:vector size="90"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Pros and Cons</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Peril of Breaking the Inheritance Chain </vt:lpstr>
      <vt:lpstr>CR-2 result — the override fight</vt:lpstr>
      <vt:lpstr>Block 2 · CR-2 the breaking-point reveal</vt:lpstr>
      <vt:lpstr>Pre-emptive pushback</vt:lpstr>
      <vt:lpstr>Lab 2D: CR-3  ·  Selective cycle logging</vt:lpstr>
      <vt:lpstr>CR-3 result — dead weight in unrelated children</vt:lpstr>
      <vt:lpstr>Block 2 debrief — Pros and Cons</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50</cp:revision>
  <cp:lastPrinted>2016-06-28T12:26:43Z</cp:lastPrinted>
  <dcterms:created xsi:type="dcterms:W3CDTF">2023-02-27T12:44:26Z</dcterms:created>
  <dcterms:modified xsi:type="dcterms:W3CDTF">2026-05-22T02:32:30Z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