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74"/>
  </p:notesMasterIdLst>
  <p:handoutMasterIdLst>
    <p:handoutMasterId r:id="rId75"/>
  </p:handout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Lst>
  <p:sldSz cx="12192000" cy="6858000"/>
  <p:notesSz cx="6797675" cy="9926638"/>
  <p:custDataLst>
    <p:tags r:id="rId76"/>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44183" autoAdjust="0"/>
  </p:normalViewPr>
  <p:slideViewPr>
    <p:cSldViewPr snapToObjects="1" showGuides="1">
      <p:cViewPr varScale="1">
        <p:scale>
          <a:sx n="36" d="100"/>
          <a:sy n="36" d="100"/>
        </p:scale>
        <p:origin x="2434" y="3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openxmlformats.org/officeDocument/2006/relationships/notesMaster" Target="notesMasters/notesMaster1.xml"/><Relationship Id="rId79" Type="http://schemas.openxmlformats.org/officeDocument/2006/relationships/theme" Target="theme/theme1.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tags" Target="tags/tag1.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customXml" Target="../customXml/item2.xml"/><Relationship Id="rId29"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19.05.2026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19.05.2026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[ASK] The question. Wait for hands. You should see most of the room.</a:t>
            </a:r>
          </a:p>
          <a:p>
            <a:r>
              <a:rPr sz="120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a:latin typeface="Arial"/>
              </a:rPr>
              <a:t>[REPEAT EXPECTATIONS] "We move at FAE pace. But I want lots of discussion. If something feels wrong or you've seen it work differently, say so."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Switch presenter to `stage-1-procedural`. Open all four station FBs side by side: FB_StationFill, FB_StationCap, FB_StationLabel, FB_StationInspect.</a:t>
            </a:r>
          </a:p>
          <a:p>
            <a:r>
              <a:rPr sz="1200">
                <a:latin typeface="Arial"/>
              </a:rPr>
              <a:t>[SAY — when you click forward]
"This is the architecture you've been writing for 20 years. IEC 61131-3 was designed for it. There's nothing wrong with it. Today we feel where it stops scaling."</a:t>
            </a:r>
          </a:p>
          <a:p>
            <a:r>
              <a:rPr sz="120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"Both work. Neither is wrong. They diverge for no reason."</a:t>
            </a:r>
          </a:p>
          <a:p>
            <a:r>
              <a:rPr sz="1200">
                <a:latin typeface="Arial"/>
              </a:rPr>
              <a:t>[CONTEXT] Someone clearly copied Label from a different project where 100/200/300 was the convention, and never normalized it.</a:t>
            </a:r>
          </a:p>
          <a:p>
            <a:r>
              <a:rPr sz="1200">
                <a:latin typeface="Arial"/>
              </a:rPr>
              <a:t>[LESSON] The architecture has no opinion on naming. Conventions are tribal — they live in your head, not the compiler.</a:t>
            </a:r>
          </a:p>
          <a:p>
            <a:r>
              <a:rPr sz="1200">
                <a:latin typeface="Arial"/>
              </a:rPr>
              <a:t>[FORESHADOW] Stage 2's base class will normalize this for free. You'll see it in Block 2.</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Don't dwell — show it and move on.</a:t>
            </a:r>
          </a:p>
          <a:p>
            <a:r>
              <a:rPr sz="1200">
                <a:latin typeface="Arial"/>
              </a:rPr>
              <a:t>[LESSON] In procedural code, dead state lingers because removing it requires reading every reference everywhere. Nobody owns the cleanup.</a:t>
            </a:r>
          </a:p>
          <a:p>
            <a:r>
              <a:rPr sz="1200">
                <a:latin typeface="Arial"/>
              </a:rPr>
              <a:t>[FORESHADOW] In Stage 2 the base class won't carry ManualStep, so it can't propagate. In Stage 3 the FB has explicit dependencies; an unused field is loud.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 read CR-1 verbatim]
"Add a global Pause input. When ModePause is TRUE, every station should hold. Exception: the Fill station must ignore Pause mid-cycle — pausing a half-filled bottle ruins the product."</a:t>
            </a:r>
          </a:p>
          <a:p>
            <a:r>
              <a:rPr sz="1200">
                <a:latin typeface="Arial"/>
              </a:rPr>
              <a:t>[THE TRAP] Most attendees miss the Fill exception on first read and write a uniform Pause guard.</a:t>
            </a:r>
          </a:p>
          <a:p>
            <a:r>
              <a:rPr sz="120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[WHEN] After ~10 minutes, when most attendees are mid-fix. INTERRUPT.</a:t>
            </a:r>
          </a:p>
          <a:p>
            <a:r>
              <a:rPr sz="1200">
                <a:latin typeface="Arial"/>
              </a:rPr>
              <a:t>[ASK — two questions, in sequence]
1. "How many of you copied your Pause logic into Label from Cap? From Fill? From Inspect?" → mixed hands.
2. "Now: who has a level-based AlarmAck and who has an R_TRIG?" → the room goes quiet because some attendees realize they copied from a station with one ack style and pasted into one with the other.</a:t>
            </a:r>
          </a:p>
          <a:p>
            <a:r>
              <a:rPr sz="1200">
                <a:latin typeface="Arial"/>
              </a:rPr>
              <a:t>[DELIVER THE LESSON]
"That's the procedural maintenance trap. Drift you didn't know was there. The system itself failed to enforce consistency. You weren't writing buggy code — the architecture failed to help you."</a:t>
            </a:r>
          </a:p>
          <a:p>
            <a:r>
              <a:rPr sz="1200">
                <a:latin typeface="Arial"/>
              </a:rPr>
              <a:t>[DO] Let the silence sit for 5 seconds before moving on. The realization IS the lesson; don't trample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After attendees finish (or you call time): `git switch stage-1-cr1-applied` and `git diff stage-1-procedural --stat` on screen.</a:t>
            </a:r>
          </a:p>
          <a:p>
            <a:r>
              <a:rPr sz="1200">
                <a:latin typeface="Arial"/>
              </a:rPr>
              <a:t>[DO] Write the 5 / +50 / −13 number on the physical scoreboard whiteboard.</a:t>
            </a:r>
          </a:p>
          <a:p>
            <a:r>
              <a:rPr sz="1200">
                <a:latin typeface="Arial"/>
              </a:rPr>
              <a:t>[SAY] "This is what your codebase looks like after one CR."</a:t>
            </a:r>
          </a:p>
          <a:p>
            <a:r>
              <a:rPr sz="1200">
                <a:latin typeface="Arial"/>
              </a:rPr>
              <a:t>[ASK] "Show of hands — who got Fill's mid-cycle exception right on the first try?" Most won't.</a:t>
            </a:r>
          </a:p>
          <a:p>
            <a:r>
              <a:rPr sz="120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[FRAME] Acknowledge that process catches some drift — then sharpen the point: process catches drift you notice; architecture catches the drift you don't.</a:t>
            </a:r>
          </a:p>
          <a:p>
            <a:r>
              <a:rPr sz="1200">
                <a:latin typeface="Arial"/>
              </a:rPr>
              <a:t>[CALLBACK] Pair this with the line "Discipline is bounded; architecture is unbounded." You'll use it again in Block 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 read CR-2 aloud, emphasize the phrase]
"Two axes of variation at once. Alarm policy AND sequencer topology. Only one station, but the patterns have to coexist with the others."</a:t>
            </a:r>
          </a:p>
          <a:p>
            <a:r>
              <a:rPr sz="1200">
                <a:latin typeface="Arial"/>
              </a:rPr>
              <a:t>[DO] Set 15-minute timer. Walk the room.</a:t>
            </a:r>
          </a:p>
          <a:p>
            <a:r>
              <a:rPr sz="1200">
                <a:latin typeface="Arial"/>
              </a:rPr>
              <a:t>[WATCH FOR] The attempt: rewriting Inspect's CASE machine end-to-end with QualityFlag/QualityCode/QualityText outputs and CameraDone/RejectDone parallel coordination inside step 10.</a:t>
            </a:r>
          </a:p>
          <a:p>
            <a:r>
              <a:rPr sz="120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Inspect's CASE.)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[SAY] "This isn't just duplication of the base — it's duplication of NEW patterns each time they appear. Stage 2 will help with this. Stage 3 will help even more."</a:t>
            </a:r>
          </a:p>
          <a:p>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[ASK] "That looked small. Anyone want to defend it as 'fine'?" Some attendees will defend it. Let them — then sharpen.</a:t>
            </a:r>
          </a:p>
          <a:p>
            <a:r>
              <a:rPr sz="1200">
                <a:latin typeface="Arial"/>
              </a:rPr>
              <a:t>[FOLLOW-UP] "Now imagine the logging requirements change in six months — say we want to write to a file instead of an in-memory buffer. Where do you change the code?" (Two places.) "And if you forget one of them?" (Drift.)</a:t>
            </a:r>
          </a:p>
          <a:p>
            <a:r>
              <a:rPr sz="120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Switch presenter to `stage-1-complete`. Show `git diff stage-1-procedural --stat` live.</a:t>
            </a:r>
          </a:p>
          <a:p>
            <a:r>
              <a:rPr sz="1200">
                <a:latin typeface="Arial"/>
              </a:rPr>
              <a:t>[SAY] "That's what your codebase looks like after a year of cross-cutting CRs. Five files modified, growth concentrated in Inspect, duplication on every cross-cutting concern."</a:t>
            </a:r>
          </a:p>
          <a:p>
            <a:r>
              <a:rPr sz="1200">
                <a:latin typeface="Arial"/>
              </a:rPr>
              <a:t>[ASK — the bridge to Block 2] "Stage 1 isn't broken. It works. So why are we moving on?"</a:t>
            </a:r>
          </a:p>
          <a:p>
            <a:r>
              <a:rPr sz="1200">
                <a:latin typeface="Arial"/>
              </a:rPr>
              <a:t>[ANTICIPATED ANSWERS — capture on whiteboard]
- "Drift between files."
- "Can't enforce consistency."
- "Duplication compounds."</a:t>
            </a:r>
          </a:p>
          <a:p>
            <a:r>
              <a:rPr sz="1200">
                <a:latin typeface="Arial"/>
              </a:rPr>
              <a:t>[CLOSE] "Right. Now we'll see what happens when we try to fix all of that with a base class. Spoiler: we'll fix some of it. We'll create new problems too."</a:t>
            </a:r>
          </a:p>
          <a:p>
            <a:r>
              <a:rPr sz="120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`stage-2-inheritance`. FB_StationBase and FB_StationFill side by side.</a:t>
            </a:r>
          </a:p>
          <a:p>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FB_StationBase tab, move on.</a:t>
            </a:r>
          </a:p>
          <a:p>
            <a:r>
              <a:rPr sz="1200">
                <a:latin typeface="Arial"/>
              </a:rPr>
              <a:t>[SEED] "The common path becomes a constraint when ANY child needs to opt out." Plant it now — water it on the CR-2 slides.</a:t>
            </a:r>
          </a:p>
          <a:p>
            <a:r>
              <a:rPr sz="1200">
                <a:latin typeface="Arial"/>
              </a:rPr>
              <a:t>[CONTEXT — only if asked] FB_init is TwinCAT's constructor: runs once at instantiation, takes parameters that never change. Use it for names, sizes, references the FB will hold for its lifetime.</a:t>
            </a:r>
          </a:p>
          <a:p>
            <a:r>
              <a:rPr sz="1200">
                <a:latin typeface="Arial"/>
              </a:rPr>
              <a:t>[FRAMEWORK] Stage 2 builds on Beckhoff USA's SPT-Libraries (FB_ComponentBase). Production-grade, not academic.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Set 10-minute timer. Walk the room. Most attendees start with Option A — feels more "inheritance-y."</a:t>
            </a:r>
          </a:p>
          <a:p>
            <a:r>
              <a:rPr sz="1200">
                <a:latin typeface="Arial"/>
              </a:rPr>
              <a:t>[ASK MID-EXERCISE] When attendees are stuck, walk and ask: "How are you handling the exception?" Both options will surface.</a:t>
            </a:r>
          </a:p>
          <a:p>
            <a:r>
              <a:rPr sz="1200">
                <a:latin typeface="Arial"/>
              </a:rPr>
              <a:t>[SAY OUT LOUD WHEN BOTH SURFACE]
"Option A — AllowPause exists for ONE child's exception, but Cap, Label, Inspect inherit it forever. Pollution. Option B — duplicates base mode logic in Fill. Drift risk. Pick your poison."</a:t>
            </a:r>
          </a:p>
          <a:p>
            <a:r>
              <a:rPr sz="1200">
                <a:latin typeface="Arial"/>
              </a:rPr>
              <a:t>[REVEAL #2] This is the workshop's second reveal: inheritance trades one cost for another. Stage 1 had per-station pollution; Stage 2 puts the pollution on the base.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[SHOW] Live diff vs Stage 1 (5 files / +50 / −13) → Stage 2 (3 files / +65 / −48).</a:t>
            </a:r>
          </a:p>
          <a:p>
            <a:r>
              <a:rPr sz="1200">
                <a:latin typeface="Arial"/>
              </a:rPr>
              <a:t>[ASK — discussion] "Which is worse — scattered pollution paid by 4 stations, or centralized pollution paid by every reader of the base?"</a:t>
            </a:r>
          </a:p>
          <a:p>
            <a:r>
              <a:rPr sz="1200">
                <a:latin typeface="Arial"/>
              </a:rPr>
              <a:t>[POINT] There's no right answer. That's the point. Inheritance didn't eliminate the cost; it relocated it.</a:t>
            </a:r>
          </a:p>
          <a:p>
            <a:r>
              <a:rPr sz="1200">
                <a:latin typeface="Arial"/>
              </a:rPr>
              <a:t>[BRIDGE] This sets up CR-2, where the relocation becomes a trap.</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room while attendees are stuck. Use these four leading questions IN ORDER. Let them arrive at the realization themselves.</a:t>
            </a:r>
          </a:p>
          <a:p>
            <a:r>
              <a:rPr sz="1200">
                <a:latin typeface="Arial"/>
              </a:rPr>
              <a:t>[ANTICIPATED ANSWERS]
1. "Every time RaiseStationAlarm is called."
2. "Don't latch."
3. "You can't call SUPER."
4. "You have to duplicate them in your override."</a:t>
            </a:r>
          </a:p>
          <a:p>
            <a:r>
              <a:rPr sz="1200">
                <a:latin typeface="Arial"/>
              </a:rPr>
              <a:t>[GATHER ATTENTION AND DELIVER]
"There's no way to say 'inherit everything except the alarm policy.' Inheritance is all-or-nothing. Whatever the base does, every child gets — unless the child reimplements that behavior in an override."</a:t>
            </a:r>
          </a:p>
          <a:p>
            <a:r>
              <a:rPr sz="120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attempt: LogBuffer + LoggingEnabled virtual on the base; Fill and Inspect override to TRUE.</a:t>
            </a:r>
          </a:p>
          <a:p>
            <a:r>
              <a:rPr sz="1200">
                <a:latin typeface="Arial"/>
              </a:rPr>
              <a:t>[ASK] "Where does Cap's LogBuffer storage live in memory?" → in every Cap and Label instance, even though they never write to it. "Is that a problem?" → in 4 stations, no. In a 50-station factory, yes.</a:t>
            </a:r>
          </a:p>
          <a:p>
            <a:r>
              <a:rPr sz="1200">
                <a:latin typeface="Arial"/>
              </a:rPr>
              <a:t>[PUSHBACK if asked] "100 strings × 120 chars × 2 unused stations = 24KB. Why are we obsessing about this?" → "You're right — for this scale, the memory cost is academic. The bigger problem is COGNITIVE. Every reader of FB_StationBase has to understand why LogBuffer exists when half the children don't use it. As your codebase grows, that noise compounds."</a:t>
            </a:r>
          </a:p>
          <a:p>
            <a:r>
              <a:rPr sz="1200">
                <a:latin typeface="Arial"/>
              </a:rPr>
              <a:t>[PACING] If behind, cut this hands-on entirely (just show the diff). The CR-2 breakdown is the lesson; CR-3 is supplementary.</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31" Type="http://schemas.openxmlformats.org/officeDocument/2006/relationships/image" Target="../media/image1.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p>
          <a:p>
            <a:pPr algn="l">
              <a:lnSpc>
                <a:spcPct val="130000"/>
              </a:lnSpc>
              <a:spcBef>
                <a:spcPts val="400"/>
              </a:spcBef>
            </a:pPr>
            <a:r>
              <a:rPr sz="2400" b="1">
                <a:solidFill>
                  <a:srgbClr val="2D76AD"/>
                </a:solidFill>
                <a:latin typeface="Arial"/>
              </a:rPr>
              <a:t>▸  </a:t>
            </a:r>
            <a:r>
              <a:rPr sz="2400">
                <a:solidFill>
                  <a:srgbClr val="242A33"/>
                </a:solidFill>
                <a:latin typeface="Arial"/>
              </a:rPr>
              <a:t>Same three change requests, every stage.</a:t>
            </a:r>
          </a:p>
          <a:p>
            <a:pPr algn="l">
              <a:lnSpc>
                <a:spcPct val="130000"/>
              </a:lnSpc>
              <a:spcBef>
                <a:spcPts val="400"/>
              </a:spcBef>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p>
          <a:p>
            <a:pPr algn="l">
              <a:lnSpc>
                <a:spcPct val="130000"/>
              </a:lnSpc>
              <a:spcBef>
                <a:spcPts val="400"/>
              </a:spcBef>
            </a:pPr>
            <a:r>
              <a:rPr sz="2400" b="1">
                <a:solidFill>
                  <a:srgbClr val="2D76AD"/>
                </a:solidFill>
                <a:latin typeface="Arial"/>
              </a:rPr>
              <a:t>▸  </a:t>
            </a:r>
            <a:r>
              <a:rPr sz="240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2D76AD"/>
                </a:solidFill>
                <a:latin typeface="Arial"/>
              </a:rPr>
              <a:t>▸  </a:t>
            </a:r>
            <a:r>
              <a:rPr sz="1800">
                <a:solidFill>
                  <a:srgbClr val="242A33"/>
                </a:solidFill>
                <a:latin typeface="Arial"/>
              </a:rPr>
              <a:t>Block 0  ·  Welcome  ·  5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85 min</a:t>
            </a:r>
          </a:p>
          <a:p>
            <a:pPr algn="l">
              <a:lnSpc>
                <a:spcPct val="130000"/>
              </a:lnSpc>
              <a:spcBef>
                <a:spcPts val="400"/>
              </a:spcBef>
            </a:pPr>
            <a:r>
              <a:rPr sz="1800" b="1">
                <a:solidFill>
                  <a:srgbClr val="2D76AD"/>
                </a:solidFill>
                <a:latin typeface="Arial"/>
              </a:rPr>
              <a:t>▸  </a:t>
            </a:r>
            <a:r>
              <a:rPr sz="1800">
                <a:solidFill>
                  <a:srgbClr val="242A33"/>
                </a:solidFill>
                <a:latin typeface="Arial"/>
              </a:rPr>
              <a:t>Break  ·  10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70 min</a:t>
            </a:r>
          </a:p>
          <a:p>
            <a:pPr algn="l">
              <a:lnSpc>
                <a:spcPct val="130000"/>
              </a:lnSpc>
              <a:spcBef>
                <a:spcPts val="400"/>
              </a:spcBef>
            </a:pPr>
            <a:r>
              <a:rPr sz="1800" b="1">
                <a:solidFill>
                  <a:srgbClr val="2D76AD"/>
                </a:solidFill>
                <a:latin typeface="Arial"/>
              </a:rPr>
              <a:t>▸  </a:t>
            </a:r>
            <a:r>
              <a:rPr sz="1800">
                <a:solidFill>
                  <a:srgbClr val="242A33"/>
                </a:solidFill>
                <a:latin typeface="Arial"/>
              </a:rPr>
              <a:t>Break  ·  10 min</a:t>
            </a:r>
          </a:p>
          <a:p>
            <a:pPr algn="l">
              <a:lnSpc>
                <a:spcPct val="130000"/>
              </a:lnSpc>
              <a:spcBef>
                <a:spcPts val="400"/>
              </a:spcBef>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70 min</a:t>
            </a:r>
          </a:p>
          <a:p>
            <a:pPr algn="l">
              <a:lnSpc>
                <a:spcPct val="130000"/>
              </a:lnSpc>
              <a:spcBef>
                <a:spcPts val="400"/>
              </a:spcBef>
            </a:pPr>
            <a:r>
              <a:rPr sz="1800" b="1">
                <a:solidFill>
                  <a:srgbClr val="2D76AD"/>
                </a:solidFill>
                <a:latin typeface="Arial"/>
              </a:rPr>
              <a:t>▸  </a:t>
            </a:r>
            <a:r>
              <a:rPr sz="180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1 — Procedural</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770000"/>
                </a:solidFill>
                <a:latin typeface="Arial"/>
              </a:rPr>
              <a:t>85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p>
          <a:p>
            <a:pPr algn="l">
              <a:lnSpc>
                <a:spcPct val="130000"/>
              </a:lnSpc>
              <a:spcBef>
                <a:spcPts val="400"/>
              </a:spcBef>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owns its state, runs once per cycle.</a:t>
            </a:r>
          </a:p>
          <a:p>
            <a:pPr algn="l">
              <a:lnSpc>
                <a:spcPct val="130000"/>
              </a:lnSpc>
              <a:spcBef>
                <a:spcPts val="400"/>
              </a:spcBef>
            </a:pPr>
            <a:r>
              <a:rPr sz="2200" b="1">
                <a:solidFill>
                  <a:srgbClr val="770000"/>
                </a:solidFill>
                <a:latin typeface="Arial"/>
              </a:rPr>
              <a:t>▸  </a:t>
            </a:r>
            <a:r>
              <a:rPr sz="2200" b="1">
                <a:solidFill>
                  <a:srgbClr val="242A33"/>
                </a:solidFill>
                <a:latin typeface="Arial"/>
              </a:rPr>
              <a:t>Good at </a:t>
            </a:r>
            <a:r>
              <a:rPr sz="2200">
                <a:solidFill>
                  <a:srgbClr val="242A33"/>
                </a:solidFill>
                <a:latin typeface="Arial"/>
              </a:rPr>
              <a:t>— small machines, short lifespan.</a:t>
            </a:r>
          </a:p>
          <a:p>
            <a:pPr algn="l">
              <a:lnSpc>
                <a:spcPct val="130000"/>
              </a:lnSpc>
              <a:spcBef>
                <a:spcPts val="400"/>
              </a:spcBef>
            </a:pPr>
            <a:r>
              <a:rPr sz="2200" b="1">
                <a:solidFill>
                  <a:srgbClr val="770000"/>
                </a:solidFill>
                <a:latin typeface="Arial"/>
              </a:rPr>
              <a:t>▸  </a:t>
            </a:r>
            <a:r>
              <a:rPr sz="2200" b="1">
                <a:solidFill>
                  <a:srgbClr val="242A33"/>
                </a:solidFill>
                <a:latin typeface="Arial"/>
              </a:rPr>
              <a:t>Bad at </a:t>
            </a:r>
            <a:r>
              <a:rPr sz="2200">
                <a:solidFill>
                  <a:srgbClr val="242A33"/>
                </a:solidFill>
                <a:latin typeface="Arial"/>
              </a:rPr>
              <a:t>— cross-cutting changes across N stations.</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ModeAuto / ModeManual / ModeStop.</a:t>
            </a:r>
          </a:p>
          <a:p>
            <a:pPr algn="l">
              <a:lnSpc>
                <a:spcPct val="130000"/>
              </a:lnSpc>
              <a:spcBef>
                <a:spcPts val="400"/>
              </a:spcBef>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p>
          <a:p>
            <a:pPr algn="l">
              <a:lnSpc>
                <a:spcPct val="130000"/>
              </a:lnSpc>
              <a:spcBef>
                <a:spcPts val="400"/>
              </a:spcBef>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p>
          <a:p>
            <a:pPr algn="l">
              <a:lnSpc>
                <a:spcPct val="130000"/>
              </a:lnSpc>
              <a:spcBef>
                <a:spcPts val="400"/>
              </a:spcBef>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p>
          <a:p>
            <a:pPr algn="l">
              <a:lnSpc>
                <a:spcPct val="130000"/>
              </a:lnSpc>
              <a:spcBef>
                <a:spcPts val="400"/>
              </a:spcBef>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p>
          <a:p>
            <a:pPr algn="l">
              <a:lnSpc>
                <a:spcPct val="130000"/>
              </a:lnSpc>
              <a:spcBef>
                <a:spcPts val="400"/>
              </a:spcBef>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p>
          <a:p>
            <a:pPr algn="l">
              <a:lnSpc>
                <a:spcPct val="130000"/>
              </a:lnSpc>
              <a:spcBef>
                <a:spcPts val="400"/>
              </a:spcBef>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ManualStep in Inspect, never used.</a:t>
            </a:r>
          </a:p>
        </p:txBody>
      </p:sp>
      <p:sp>
        <p:nvSpPr>
          <p:cNvPr id="3" name="Title 2"/>
          <p:cNvSpPr>
            <a:spLocks noGrp="1"/>
          </p:cNvSpPr>
          <p:nvPr>
            <p:ph type="title"/>
          </p:nvPr>
        </p:nvSpPr>
        <p:spPr/>
        <p:txBody>
          <a:bodyPr/>
          <a:lstStyle/>
          <a:p>
            <a:r>
              <a:t>Three deliberate drifts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770000"/>
                </a:solidFill>
                <a:latin typeface="Arial"/>
              </a:rPr>
              <a:t>▸  </a:t>
            </a:r>
            <a:r>
              <a:rPr sz="2200">
                <a:solidFill>
                  <a:srgbClr val="242A33"/>
                </a:solidFill>
                <a:latin typeface="Arial"/>
              </a:rPr>
              <a:t>Global ModePause input. Every station holds when TRUE.</a:t>
            </a:r>
          </a:p>
          <a:p>
            <a:pPr algn="l">
              <a:lnSpc>
                <a:spcPct val="130000"/>
              </a:lnSpc>
              <a:spcBef>
                <a:spcPts val="400"/>
              </a:spcBef>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p>
          <a:p>
            <a:pPr algn="l">
              <a:lnSpc>
                <a:spcPct val="130000"/>
              </a:lnSpc>
              <a:spcBef>
                <a:spcPts val="400"/>
              </a:spcBef>
            </a:pPr>
            <a:r>
              <a:rPr sz="2200" b="1">
                <a:solidFill>
                  <a:srgbClr val="770000"/>
                </a:solidFill>
                <a:latin typeface="Arial"/>
              </a:rPr>
              <a:t>▸  </a:t>
            </a:r>
            <a:r>
              <a:rPr sz="2200">
                <a:solidFill>
                  <a:srgbClr val="242A33"/>
                </a:solidFill>
                <a:latin typeface="Arial"/>
              </a:rPr>
              <a:t>Cross-cutting + has an exception + feels small.</a:t>
            </a:r>
          </a:p>
        </p:txBody>
      </p:sp>
      <p:sp>
        <p:nvSpPr>
          <p:cNvPr id="3" name="Title 2"/>
          <p:cNvSpPr>
            <a:spLocks noGrp="1"/>
          </p:cNvSpPr>
          <p:nvPr>
            <p:ph type="title"/>
          </p:nvPr>
        </p:nvSpPr>
        <p:spPr/>
        <p:txBody>
          <a:bodyPr/>
          <a:lstStyle/>
          <a:p>
            <a:r>
              <a:t>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CR-1 the reveal moment</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Quick check — how many of you copied Pause logic into Label from Cap? From Fill? From Inspect?  Now: who has level-based AlarmAck and who has R_TRIG?</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770000"/>
                </a:solidFill>
                <a:latin typeface="Arial"/>
              </a:rPr>
              <a:t>5 files  ·  +50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Same 25 lines of guard logic, paid four times.</a:t>
            </a:r>
          </a:p>
          <a:p>
            <a:pPr algn="l">
              <a:lnSpc>
                <a:spcPct val="130000"/>
              </a:lnSpc>
              <a:spcBef>
                <a:spcPts val="400"/>
              </a:spcBef>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p>
          <a:p>
            <a:pPr algn="l">
              <a:lnSpc>
                <a:spcPct val="130000"/>
              </a:lnSpc>
              <a:spcBef>
                <a:spcPts val="400"/>
              </a:spcBef>
            </a:pPr>
            <a:r>
              <a:rPr sz="1800" b="1">
                <a:solidFill>
                  <a:srgbClr val="770000"/>
                </a:solidFill>
                <a:latin typeface="Arial"/>
              </a:rPr>
              <a:t>▸  </a:t>
            </a:r>
            <a:r>
              <a:rPr sz="1800">
                <a:solidFill>
                  <a:srgbClr val="242A33"/>
                </a:solidFill>
                <a:latin typeface="Arial"/>
              </a:rPr>
              <a:t>Tomorrow's CR pays this cost too. And the next.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770000"/>
                </a:solidFill>
                <a:latin typeface="Arial"/>
              </a:rPr>
              <a:t>▸  </a:t>
            </a:r>
            <a:r>
              <a:rPr sz="2000" b="1">
                <a:solidFill>
                  <a:srgbClr val="242A33"/>
                </a:solidFill>
                <a:latin typeface="Arial"/>
              </a:rPr>
              <a:t>Inspect must flag visual defects </a:t>
            </a:r>
            <a:r>
              <a:rPr sz="2000">
                <a:solidFill>
                  <a:srgbClr val="242A33"/>
                </a:solidFill>
                <a:latin typeface="Arial"/>
              </a:rPr>
              <a:t>— without stopping the line.</a:t>
            </a:r>
          </a:p>
          <a:p>
            <a:pPr algn="l">
              <a:lnSpc>
                <a:spcPct val="130000"/>
              </a:lnSpc>
              <a:spcBef>
                <a:spcPts val="400"/>
              </a:spcBef>
            </a:pPr>
            <a:r>
              <a:rPr sz="2000" b="1">
                <a:solidFill>
                  <a:srgbClr val="770000"/>
                </a:solidFill>
                <a:latin typeface="Arial"/>
              </a:rPr>
              <a:t>▸  </a:t>
            </a:r>
            <a:r>
              <a:rPr sz="2000" b="1">
                <a:solidFill>
                  <a:srgbClr val="242A33"/>
                </a:solidFill>
                <a:latin typeface="Arial"/>
              </a:rPr>
              <a:t>Camera and reject pre-arm </a:t>
            </a:r>
            <a:r>
              <a:rPr sz="2000">
                <a:solidFill>
                  <a:srgbClr val="242A33"/>
                </a:solidFill>
                <a:latin typeface="Arial"/>
              </a:rPr>
              <a:t>— at the same time, not sequentially.</a:t>
            </a:r>
          </a:p>
          <a:p>
            <a:pPr algn="l">
              <a:lnSpc>
                <a:spcPct val="130000"/>
              </a:lnSpc>
              <a:spcBef>
                <a:spcPts val="400"/>
              </a:spcBef>
            </a:pPr>
            <a:r>
              <a:rPr sz="2000" b="1">
                <a:solidFill>
                  <a:srgbClr val="770000"/>
                </a:solidFill>
                <a:latin typeface="Arial"/>
              </a:rPr>
              <a:t>▸  </a:t>
            </a:r>
            <a:r>
              <a:rPr sz="2000">
                <a:solidFill>
                  <a:srgbClr val="242A33"/>
                </a:solidFill>
                <a:latin typeface="Arial"/>
              </a:rPr>
              <a:t>Only Inspect changes. The other three stations stay as-is.</a:t>
            </a:r>
          </a:p>
        </p:txBody>
      </p:sp>
      <p:sp>
        <p:nvSpPr>
          <p:cNvPr id="3" name="Title 2"/>
          <p:cNvSpPr>
            <a:spLocks noGrp="1"/>
          </p:cNvSpPr>
          <p:nvPr>
            <p:ph type="title"/>
          </p:nvPr>
        </p:nvSpPr>
        <p:spPr/>
        <p:txBody>
          <a:bodyPr/>
          <a:lstStyle/>
          <a:p>
            <a:r>
              <a:t>CR-2  ·  Inspect: non-faulting alarm + parallel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770000"/>
                </a:solidFill>
                <a:latin typeface="Arial"/>
              </a:rPr>
              <a:t>2 files  ·  +92  −55</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770000"/>
                </a:solidFill>
                <a:latin typeface="Arial"/>
              </a:rPr>
              <a:t>▸  </a:t>
            </a:r>
            <a:r>
              <a:rPr sz="2000">
                <a:solidFill>
                  <a:srgbClr val="242A33"/>
                </a:solidFill>
                <a:latin typeface="Arial"/>
              </a:rPr>
              <a:t>Log cycle data for Fill and Inspect. Cap and Label don't need it.</a:t>
            </a:r>
          </a:p>
          <a:p>
            <a:pPr algn="l">
              <a:lnSpc>
                <a:spcPct val="130000"/>
              </a:lnSpc>
              <a:spcBef>
                <a:spcPts val="400"/>
              </a:spcBef>
            </a:pPr>
            <a:r>
              <a:rPr sz="2000" b="1">
                <a:solidFill>
                  <a:srgbClr val="770000"/>
                </a:solidFill>
                <a:latin typeface="Arial"/>
              </a:rPr>
              <a:t>▸  </a:t>
            </a:r>
            <a:r>
              <a:rPr sz="2000">
                <a:solidFill>
                  <a:srgbClr val="242A33"/>
                </a:solidFill>
                <a:latin typeface="Arial"/>
              </a:rPr>
              <a:t>Looks trivial. The temptation: paste 13 lines into both.</a:t>
            </a:r>
          </a:p>
          <a:p>
            <a:pPr algn="l">
              <a:lnSpc>
                <a:spcPct val="130000"/>
              </a:lnSpc>
              <a:spcBef>
                <a:spcPts val="400"/>
              </a:spcBef>
            </a:pPr>
            <a:r>
              <a:rPr sz="2000" b="1">
                <a:solidFill>
                  <a:srgbClr val="770000"/>
                </a:solidFill>
                <a:latin typeface="Arial"/>
              </a:rPr>
              <a:t>▸  </a:t>
            </a:r>
            <a:r>
              <a:rPr sz="2000">
                <a:solidFill>
                  <a:srgbClr val="242A33"/>
                </a:solidFill>
                <a:latin typeface="Arial"/>
              </a:rPr>
              <a:t>Logger implementation will probably change later.</a:t>
            </a:r>
          </a:p>
        </p:txBody>
      </p:sp>
      <p:sp>
        <p:nvSpPr>
          <p:cNvPr id="3" name="Title 2"/>
          <p:cNvSpPr>
            <a:spLocks noGrp="1"/>
          </p:cNvSpPr>
          <p:nvPr>
            <p:ph type="title"/>
          </p:nvPr>
        </p:nvSpPr>
        <p:spPr/>
        <p:txBody>
          <a:bodyPr/>
          <a:lstStyle/>
          <a:p>
            <a:r>
              <a:t>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770000"/>
                </a:solidFill>
                <a:latin typeface="Arial"/>
              </a:rPr>
              <a:t>2 files  ·  +13  −3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770000"/>
                </a:solidFill>
                <a:latin typeface="Arial"/>
              </a:rPr>
              <a:t>▸  </a:t>
            </a:r>
            <a:r>
              <a:rPr sz="2200" b="1">
                <a:solidFill>
                  <a:srgbClr val="242A33"/>
                </a:solidFill>
                <a:latin typeface="Arial"/>
              </a:rPr>
              <a:t>Total Stage 1 diff </a:t>
            </a:r>
            <a:r>
              <a:rPr sz="2200">
                <a:solidFill>
                  <a:srgbClr val="242A33"/>
                </a:solidFill>
                <a:latin typeface="Arial"/>
              </a:rPr>
              <a:t>— 5 files, +152, −66.</a:t>
            </a:r>
          </a:p>
          <a:p>
            <a:pPr algn="l">
              <a:lnSpc>
                <a:spcPct val="130000"/>
              </a:lnSpc>
              <a:spcBef>
                <a:spcPts val="400"/>
              </a:spcBef>
            </a:pPr>
            <a:r>
              <a:rPr sz="2200" b="1">
                <a:solidFill>
                  <a:srgbClr val="770000"/>
                </a:solidFill>
                <a:latin typeface="Arial"/>
              </a:rPr>
              <a:t>▸  </a:t>
            </a:r>
            <a:r>
              <a:rPr sz="2200">
                <a:solidFill>
                  <a:srgbClr val="242A33"/>
                </a:solidFill>
                <a:latin typeface="Arial"/>
              </a:rPr>
              <a:t>Drift between files.</a:t>
            </a:r>
          </a:p>
          <a:p>
            <a:pPr algn="l">
              <a:lnSpc>
                <a:spcPct val="130000"/>
              </a:lnSpc>
              <a:spcBef>
                <a:spcPts val="400"/>
              </a:spcBef>
            </a:pPr>
            <a:r>
              <a:rPr sz="2200" b="1">
                <a:solidFill>
                  <a:srgbClr val="770000"/>
                </a:solidFill>
                <a:latin typeface="Arial"/>
              </a:rPr>
              <a:t>▸  </a:t>
            </a:r>
            <a:r>
              <a:rPr sz="2200">
                <a:solidFill>
                  <a:srgbClr val="242A33"/>
                </a:solidFill>
                <a:latin typeface="Arial"/>
              </a:rPr>
              <a:t>Can't enforce consistency.</a:t>
            </a:r>
          </a:p>
          <a:p>
            <a:pPr algn="l">
              <a:lnSpc>
                <a:spcPct val="130000"/>
              </a:lnSpc>
              <a:spcBef>
                <a:spcPts val="400"/>
              </a:spcBef>
            </a:pPr>
            <a:r>
              <a:rPr sz="2200" b="1">
                <a:solidFill>
                  <a:srgbClr val="770000"/>
                </a:solidFill>
                <a:latin typeface="Arial"/>
              </a:rPr>
              <a:t>▸  </a:t>
            </a:r>
            <a:r>
              <a:rPr sz="2200">
                <a:solidFill>
                  <a:srgbClr val="242A33"/>
                </a:solidFill>
                <a:latin typeface="Arial"/>
              </a:rPr>
              <a:t>Duplication compounds.</a:t>
            </a:r>
          </a:p>
        </p:txBody>
      </p:sp>
      <p:sp>
        <p:nvSpPr>
          <p:cNvPr id="3" name="Title 2"/>
          <p:cNvSpPr>
            <a:spLocks noGrp="1"/>
          </p:cNvSpPr>
          <p:nvPr>
            <p:ph type="title"/>
          </p:nvPr>
        </p:nvSpPr>
        <p:spPr/>
        <p:txBody>
          <a:bodyPr/>
          <a:lstStyle/>
          <a:p>
            <a:r>
              <a:t>Block 1 debrief — why are we moving on?</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duplication evaporates.</a:t>
            </a:r>
          </a:p>
          <a:p>
            <a:pPr algn="l">
              <a:lnSpc>
                <a:spcPct val="140000"/>
              </a:lnSpc>
            </a:pPr>
            <a:r>
              <a:rPr sz="2000" b="0" i="1">
                <a:solidFill>
                  <a:srgbClr val="242A33"/>
                </a:solidFill>
                <a:latin typeface="Arial"/>
              </a:rPr>
              <a:t>Then the base class becomes the constraint.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p>
          <a:p>
            <a:pPr algn="l">
              <a:lnSpc>
                <a:spcPct val="130000"/>
              </a:lnSpc>
              <a:spcBef>
                <a:spcPts val="400"/>
              </a:spcBef>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p>
          <a:p>
            <a:pPr algn="l">
              <a:lnSpc>
                <a:spcPct val="130000"/>
              </a:lnSpc>
              <a:spcBef>
                <a:spcPts val="400"/>
              </a:spcBef>
            </a:pPr>
            <a:r>
              <a:rPr sz="2000" b="1">
                <a:solidFill>
                  <a:srgbClr val="627186"/>
                </a:solidFill>
                <a:latin typeface="Arial"/>
              </a:rPr>
              <a:t>▸  </a:t>
            </a:r>
            <a:r>
              <a:rPr sz="2000" b="1">
                <a:solidFill>
                  <a:srgbClr val="242A33"/>
                </a:solidFill>
                <a:latin typeface="Arial"/>
              </a:rPr>
              <a:t>TwinCAT </a:t>
            </a:r>
            <a:r>
              <a:rPr sz="2000">
                <a:solidFill>
                  <a:srgbClr val="242A33"/>
                </a:solidFill>
                <a:latin typeface="Arial"/>
              </a:rPr>
              <a:t>— EXTENDS, virtual METHOD, THIS^ / SUPER^, FB_init.</a:t>
            </a:r>
          </a:p>
          <a:p>
            <a:pPr algn="l">
              <a:lnSpc>
                <a:spcPct val="130000"/>
              </a:lnSpc>
              <a:spcBef>
                <a:spcPts val="400"/>
              </a:spcBef>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p>
          <a:p>
            <a:pPr algn="l">
              <a:lnSpc>
                <a:spcPct val="130000"/>
              </a:lnSpc>
              <a:spcBef>
                <a:spcPts val="400"/>
              </a:spcBef>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constraint.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627186"/>
                </a:solidFill>
                <a:latin typeface="Arial"/>
              </a:rPr>
              <a:t>▸  </a:t>
            </a:r>
            <a:r>
              <a:rPr sz="2000" b="1">
                <a:solidFill>
                  <a:srgbClr val="242A33"/>
                </a:solidFill>
                <a:latin typeface="Arial"/>
              </a:rPr>
              <a:t>FB_StationFill </a:t>
            </a:r>
            <a:r>
              <a:rPr sz="2000">
                <a:solidFill>
                  <a:srgbClr val="242A33"/>
                </a:solidFill>
                <a:latin typeface="Arial"/>
              </a:rPr>
              <a:t>— ~110 lines → ~65. Shrinkage moved into the base.</a:t>
            </a:r>
          </a:p>
          <a:p>
            <a:pPr algn="l">
              <a:lnSpc>
                <a:spcPct val="130000"/>
              </a:lnSpc>
              <a:spcBef>
                <a:spcPts val="400"/>
              </a:spcBef>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p>
          <a:p>
            <a:pPr algn="l">
              <a:lnSpc>
                <a:spcPct val="130000"/>
              </a:lnSpc>
              <a:spcBef>
                <a:spcPts val="400"/>
              </a:spcBef>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p>
          <a:p>
            <a:pPr algn="l">
              <a:lnSpc>
                <a:spcPct val="130000"/>
              </a:lnSpc>
              <a:spcBef>
                <a:spcPts val="400"/>
              </a:spcBef>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ManualStep doesn't propagate.</a:t>
            </a:r>
          </a:p>
        </p:txBody>
      </p:sp>
      <p:sp>
        <p:nvSpPr>
          <p:cNvPr id="3" name="Title 2"/>
          <p:cNvSpPr>
            <a:spLocks noGrp="1"/>
          </p:cNvSpPr>
          <p:nvPr>
            <p:ph type="title"/>
          </p:nvPr>
        </p:nvSpPr>
        <p:spPr/>
        <p:txBody>
          <a:bodyPr/>
          <a:lstStyle/>
          <a:p>
            <a:r>
              <a:t>Same code, 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junior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627186"/>
                </a:solidFill>
                <a:latin typeface="Arial"/>
              </a:rPr>
              <a:t>▸  </a:t>
            </a:r>
            <a:r>
              <a:rPr sz="2000">
                <a:solidFill>
                  <a:srgbClr val="242A33"/>
                </a:solidFill>
                <a:latin typeface="Arial"/>
              </a:rPr>
              <a:t>Same Pause requirement.</a:t>
            </a:r>
          </a:p>
          <a:p>
            <a:pPr algn="l">
              <a:lnSpc>
                <a:spcPct val="130000"/>
              </a:lnSpc>
              <a:spcBef>
                <a:spcPts val="400"/>
              </a:spcBef>
            </a:pPr>
            <a:r>
              <a:rPr sz="2000" b="1">
                <a:solidFill>
                  <a:srgbClr val="627186"/>
                </a:solidFill>
                <a:latin typeface="Arial"/>
              </a:rPr>
              <a:t>▸  </a:t>
            </a:r>
            <a:r>
              <a:rPr sz="2000" b="1">
                <a:solidFill>
                  <a:srgbClr val="242A33"/>
                </a:solidFill>
                <a:latin typeface="Arial"/>
              </a:rPr>
              <a:t>Option A </a:t>
            </a:r>
            <a:r>
              <a:rPr sz="2000">
                <a:solidFill>
                  <a:srgbClr val="242A33"/>
                </a:solidFill>
                <a:latin typeface="Arial"/>
              </a:rPr>
              <a:t>— virtual AllowPause() on the base; Fill overrides.</a:t>
            </a:r>
          </a:p>
          <a:p>
            <a:pPr algn="l">
              <a:lnSpc>
                <a:spcPct val="130000"/>
              </a:lnSpc>
              <a:spcBef>
                <a:spcPts val="400"/>
              </a:spcBef>
            </a:pPr>
            <a:r>
              <a:rPr sz="2000" b="1">
                <a:solidFill>
                  <a:srgbClr val="627186"/>
                </a:solidFill>
                <a:latin typeface="Arial"/>
              </a:rPr>
              <a:t>▸  </a:t>
            </a:r>
            <a:r>
              <a:rPr sz="2000" b="1">
                <a:solidFill>
                  <a:srgbClr val="242A33"/>
                </a:solidFill>
                <a:latin typeface="Arial"/>
              </a:rPr>
              <a:t>Option B </a:t>
            </a:r>
            <a:r>
              <a:rPr sz="2000">
                <a:solidFill>
                  <a:srgbClr val="242A33"/>
                </a:solidFill>
                <a:latin typeface="Arial"/>
              </a:rPr>
              <a:t>— Fill overrides Monitoring entirely.</a:t>
            </a:r>
          </a:p>
          <a:p>
            <a:pPr algn="l">
              <a:lnSpc>
                <a:spcPct val="130000"/>
              </a:lnSpc>
              <a:spcBef>
                <a:spcPts val="400"/>
              </a:spcBef>
            </a:pPr>
            <a:r>
              <a:rPr sz="2000" b="1">
                <a:solidFill>
                  <a:srgbClr val="627186"/>
                </a:solidFill>
                <a:latin typeface="Arial"/>
              </a:rPr>
              <a:t>▸  </a:t>
            </a:r>
            <a:r>
              <a:rPr sz="2000">
                <a:solidFill>
                  <a:srgbClr val="242A33"/>
                </a:solidFill>
                <a:latin typeface="Arial"/>
              </a:rPr>
              <a:t>Both legitimate. Both ugly in the same way.</a:t>
            </a:r>
          </a:p>
        </p:txBody>
      </p:sp>
      <p:sp>
        <p:nvSpPr>
          <p:cNvPr id="3" name="Title 2"/>
          <p:cNvSpPr>
            <a:spLocks noGrp="1"/>
          </p:cNvSpPr>
          <p:nvPr>
            <p:ph type="title"/>
          </p:nvPr>
        </p:nvSpPr>
        <p:spPr/>
        <p:txBody>
          <a:bodyPr/>
          <a:lstStyle/>
          <a:p>
            <a:r>
              <a:t>CR-1 — the inheritance way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2B  ·  CR-1 HANDS-ON (15 MIN)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+65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b="1">
                <a:solidFill>
                  <a:srgbClr val="242A33"/>
                </a:solidFill>
                <a:latin typeface="Arial"/>
              </a:rPr>
              <a:t>Pollution lives on the base </a:t>
            </a:r>
            <a:r>
              <a:rPr sz="1800">
                <a:solidFill>
                  <a:srgbClr val="242A33"/>
                </a:solidFill>
                <a:latin typeface="Arial"/>
              </a:rPr>
              <a:t>— every reader, every child pays.</a:t>
            </a:r>
          </a:p>
          <a:p>
            <a:pPr algn="l">
              <a:lnSpc>
                <a:spcPct val="130000"/>
              </a:lnSpc>
              <a:spcBef>
                <a:spcPts val="400"/>
              </a:spcBef>
            </a:pPr>
            <a:r>
              <a:rPr sz="1800" b="1">
                <a:solidFill>
                  <a:srgbClr val="627186"/>
                </a:solidFill>
                <a:latin typeface="Arial"/>
              </a:rPr>
              <a:t>▸  </a:t>
            </a:r>
            <a:r>
              <a:rPr sz="1800">
                <a:solidFill>
                  <a:srgbClr val="242A33"/>
                </a:solidFill>
                <a:latin typeface="Arial"/>
              </a:rPr>
              <a:t>vs Stage 1: fewer files, more lines.</a:t>
            </a:r>
          </a:p>
          <a:p>
            <a:pPr algn="l">
              <a:lnSpc>
                <a:spcPct val="130000"/>
              </a:lnSpc>
              <a:spcBef>
                <a:spcPts val="400"/>
              </a:spcBef>
            </a:pPr>
            <a:r>
              <a:rPr sz="1800" b="1">
                <a:solidFill>
                  <a:srgbClr val="627186"/>
                </a:solidFill>
                <a:latin typeface="Arial"/>
              </a:rPr>
              <a:t>▸  </a:t>
            </a:r>
            <a:r>
              <a:rPr sz="1800">
                <a:solidFill>
                  <a:srgbClr val="242A33"/>
                </a:solidFill>
                <a:latin typeface="Arial"/>
              </a:rPr>
              <a:t>Inheritance didn't eliminate the cost. It relocated it.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627186"/>
                </a:solidFill>
                <a:latin typeface="Arial"/>
              </a:rPr>
              <a:t>▸  </a:t>
            </a:r>
            <a:r>
              <a:rPr sz="2000">
                <a:solidFill>
                  <a:srgbClr val="242A33"/>
                </a:solidFill>
                <a:latin typeface="Arial"/>
              </a:rPr>
              <a:t>When does SUPER^.Monitoring() latch the alarm?</a:t>
            </a:r>
          </a:p>
          <a:p>
            <a:pPr algn="l">
              <a:lnSpc>
                <a:spcPct val="130000"/>
              </a:lnSpc>
              <a:spcBef>
                <a:spcPts val="400"/>
              </a:spcBef>
            </a:pPr>
            <a:r>
              <a:rPr sz="2000" b="1">
                <a:solidFill>
                  <a:srgbClr val="627186"/>
                </a:solidFill>
                <a:latin typeface="Arial"/>
              </a:rPr>
              <a:t>▸  </a:t>
            </a:r>
            <a:r>
              <a:rPr sz="2000">
                <a:solidFill>
                  <a:srgbClr val="242A33"/>
                </a:solidFill>
                <a:latin typeface="Arial"/>
              </a:rPr>
              <a:t>What does the quality-flag policy say should happen?</a:t>
            </a:r>
          </a:p>
          <a:p>
            <a:pPr algn="l">
              <a:lnSpc>
                <a:spcPct val="130000"/>
              </a:lnSpc>
              <a:spcBef>
                <a:spcPts val="400"/>
              </a:spcBef>
            </a:pPr>
            <a:r>
              <a:rPr sz="2000" b="1">
                <a:solidFill>
                  <a:srgbClr val="627186"/>
                </a:solidFill>
                <a:latin typeface="Arial"/>
              </a:rPr>
              <a:t>▸  </a:t>
            </a:r>
            <a:r>
              <a:rPr sz="2000">
                <a:solidFill>
                  <a:srgbClr val="242A33"/>
                </a:solidFill>
                <a:latin typeface="Arial"/>
              </a:rPr>
              <a:t>So what does that imply about calling SUPER?</a:t>
            </a:r>
          </a:p>
          <a:p>
            <a:pPr algn="l">
              <a:lnSpc>
                <a:spcPct val="130000"/>
              </a:lnSpc>
              <a:spcBef>
                <a:spcPts val="400"/>
              </a:spcBef>
            </a:pPr>
            <a:r>
              <a:rPr sz="2000" b="1">
                <a:solidFill>
                  <a:srgbClr val="627186"/>
                </a:solidFill>
                <a:latin typeface="Arial"/>
              </a:rPr>
              <a:t>▸  </a:t>
            </a:r>
            <a:r>
              <a:rPr sz="2000">
                <a:solidFill>
                  <a:srgbClr val="242A33"/>
                </a:solidFill>
                <a:latin typeface="Arial"/>
              </a:rPr>
              <a:t>But if you don't call SUPER, you lose the base's mode + ack.</a:t>
            </a:r>
          </a:p>
        </p:txBody>
      </p:sp>
      <p:sp>
        <p:nvSpPr>
          <p:cNvPr id="3" name="Title 2"/>
          <p:cNvSpPr>
            <a:spLocks noGrp="1"/>
          </p:cNvSpPr>
          <p:nvPr>
            <p:ph type="title"/>
          </p:nvPr>
        </p:nvSpPr>
        <p:spPr/>
        <p:txBody>
          <a:bodyPr/>
          <a:lstStyle/>
          <a:p>
            <a:r>
              <a:t>The realization — you can't call SUPER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627186"/>
                </a:solidFill>
                <a:latin typeface="Arial"/>
              </a:rPr>
              <a:t>▸  </a:t>
            </a:r>
            <a:r>
              <a:rPr sz="2200" b="1">
                <a:solidFill>
                  <a:srgbClr val="242A33"/>
                </a:solidFill>
                <a:latin typeface="Arial"/>
              </a:rPr>
              <a:t>Total Stage 2 diff </a:t>
            </a:r>
            <a:r>
              <a:rPr sz="2200">
                <a:solidFill>
                  <a:srgbClr val="242A33"/>
                </a:solidFill>
                <a:latin typeface="Arial"/>
              </a:rPr>
              <a:t>— 4 files, +224, −65.</a:t>
            </a:r>
          </a:p>
          <a:p>
            <a:pPr algn="l">
              <a:lnSpc>
                <a:spcPct val="130000"/>
              </a:lnSpc>
              <a:spcBef>
                <a:spcPts val="400"/>
              </a:spcBef>
            </a:pPr>
            <a:r>
              <a:rPr sz="2200" b="1">
                <a:solidFill>
                  <a:srgbClr val="627186"/>
                </a:solidFill>
                <a:latin typeface="Arial"/>
              </a:rPr>
              <a:t>▸  </a:t>
            </a:r>
            <a:r>
              <a:rPr sz="2200" b="1">
                <a:solidFill>
                  <a:srgbClr val="242A33"/>
                </a:solidFill>
                <a:latin typeface="Arial"/>
              </a:rPr>
              <a:t>Wins </a:t>
            </a:r>
            <a:r>
              <a:rPr sz="2200">
                <a:solidFill>
                  <a:srgbClr val="242A33"/>
                </a:solidFill>
                <a:latin typeface="Arial"/>
              </a:rPr>
              <a:t>— drift fixed, consistency enforced.</a:t>
            </a:r>
          </a:p>
          <a:p>
            <a:pPr algn="l">
              <a:lnSpc>
                <a:spcPct val="130000"/>
              </a:lnSpc>
              <a:spcBef>
                <a:spcPts val="400"/>
              </a:spcBef>
            </a:pPr>
            <a:r>
              <a:rPr sz="2200" b="1">
                <a:solidFill>
                  <a:srgbClr val="627186"/>
                </a:solidFill>
                <a:latin typeface="Arial"/>
              </a:rPr>
              <a:t>▸  </a:t>
            </a:r>
            <a:r>
              <a:rPr sz="2200" b="1">
                <a:solidFill>
                  <a:srgbClr val="242A33"/>
                </a:solidFill>
                <a:latin typeface="Arial"/>
              </a:rPr>
              <a:t>New problems </a:t>
            </a:r>
            <a:r>
              <a:rPr sz="2200">
                <a:solidFill>
                  <a:srgbClr val="242A33"/>
                </a:solidFill>
                <a:latin typeface="Arial"/>
              </a:rPr>
              <a:t>— base pollution, SUPER fragility, dead weight.</a:t>
            </a:r>
          </a:p>
        </p:txBody>
      </p:sp>
      <p:sp>
        <p:nvSpPr>
          <p:cNvPr id="3" name="Title 2"/>
          <p:cNvSpPr>
            <a:spLocks noGrp="1"/>
          </p:cNvSpPr>
          <p:nvPr>
            <p:ph type="title"/>
          </p:nvPr>
        </p:nvSpPr>
        <p:spPr/>
        <p:txBody>
          <a:bodyPr/>
          <a:lstStyle/>
          <a:p>
            <a:r>
              <a:t>Block 2 debrief — the base became a junk drawer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INTERFACE I_AlarmHandler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3.xml><?xml version="1.0" encoding="utf-8"?>
<ds:datastoreItem xmlns:ds="http://schemas.openxmlformats.org/officeDocument/2006/customXml" ds:itemID="{AAC35E82-ADCC-45D0-AF16-1A6166EE508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12256</Words>
  <Application>Microsoft Office PowerPoint</Application>
  <PresentationFormat>Widescreen</PresentationFormat>
  <Paragraphs>809</Paragraphs>
  <Slides>68</Slides>
  <Notes>68</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68</vt:i4>
      </vt:variant>
    </vt:vector>
  </HeadingPairs>
  <TitlesOfParts>
    <vt:vector size="76"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Every station has the same five sections</vt:lpstr>
      <vt:lpstr>Three deliberate drifts</vt:lpstr>
      <vt:lpstr>Drift #1 — alarm-ack: edge vs level</vt:lpstr>
      <vt:lpstr>Drift #2 — step numbering</vt:lpstr>
      <vt:lpstr>Drift #3 — dead variable</vt:lpstr>
      <vt:lpstr>Block 1 · 1A discussion</vt:lpstr>
      <vt:lpstr>Pre-emptive pushback</vt:lpstr>
      <vt:lpstr>CR-1  ·  Add a Pause mode</vt:lpstr>
      <vt:lpstr>Block 1 · CR-1 the reveal moment</vt:lpstr>
      <vt:lpstr>CR-1 result</vt:lpstr>
      <vt:lpstr>Pre-emptive pushback</vt:lpstr>
      <vt:lpstr>CR-2  ·  Inspect: non-faulting alarm + parallel</vt:lpstr>
      <vt:lpstr>CR-2 result</vt:lpstr>
      <vt:lpstr>CR-3  ·  Selective cycle logging</vt:lpstr>
      <vt:lpstr>CR-3 result — small, but defend it as fine?</vt:lpstr>
      <vt:lpstr>Block 1 debrief — why are we moving on?</vt:lpstr>
      <vt:lpstr>Block 1 → Block 2 break</vt:lpstr>
      <vt:lpstr>Block 2</vt:lpstr>
      <vt:lpstr>The inheritance paradigm</vt:lpstr>
      <vt:lpstr>Same code, same behavior, different architecture</vt:lpstr>
      <vt:lpstr>Inheritance mechanics — four things to recognize</vt:lpstr>
      <vt:lpstr>Pre-emptive pushback</vt:lpstr>
      <vt:lpstr>CR-1 — the inheritance way</vt:lpstr>
      <vt:lpstr>CR-1 result — base-class pollution</vt:lpstr>
      <vt:lpstr>Block 2 · 2C</vt:lpstr>
      <vt:lpstr>The realization — you can't call SUPER</vt:lpstr>
      <vt:lpstr>Block 2 · CR-2 the breaking-point reveal</vt:lpstr>
      <vt:lpstr>CR-2 result — the override fight</vt:lpstr>
      <vt:lpstr>Pre-emptive pushback</vt:lpstr>
      <vt:lpstr>CR-3 result — dead weight in unrelated children</vt:lpstr>
      <vt:lpstr>Block 2 debrief — the base became a junk drawer</vt:lpstr>
      <vt:lpstr>Block 2 → Block 3 break</vt:lpstr>
      <vt:lpstr>Block 3</vt:lpstr>
      <vt:lpstr>The composition paradigm</vt:lpstr>
      <vt:lpstr>The file tree — 18 files. Hold the judgment.</vt:lpstr>
      <vt:lpstr>The contract — I_AlarmHandler</vt:lpstr>
      <vt:lpstr>Two implementations — same shape, opposite policy</vt:lpstr>
      <vt:lpstr>A composed station — FB_StationFill</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17</cp:revision>
  <cp:lastPrinted>2016-06-28T12:26:43Z</cp:lastPrinted>
  <dcterms:created xsi:type="dcterms:W3CDTF">2023-02-27T12:44:26Z</dcterms:created>
  <dcterms:modified xsi:type="dcterms:W3CDTF">2026-05-19T22:10:41Z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